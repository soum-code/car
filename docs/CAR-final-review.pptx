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Review. The deck follows the fifteen checklist items in the guidelines, in order. I will flag the three that are not yet complete rather than leave the panel to find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is the propagation property: one bad step poisons every step after it, so where you spend the budget matters. Every component of the obvious design is published and works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pivot. The scoop was found by us, in week one, and is cited rather than hidden — a reviewer who finds it independently discounts everything else. Every refutation here has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thesis in one line. Both halves are separately observable on GSM8K: the inline calculator annotations give local validity deterministically, and Math-Shepherd's Monte-Carlo labels give global correctness. Having both on the same steps is what makes the measurement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generator, Llama, was licence-gated on Kaggle until late and was added on 28 September. Settings were fixed by the Qwen run: 500 problems, K=4, temperature 0.7, 4-shot.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mechanism: the stronger model halves its arithmetic slips without halving its inherited corruption, so a larger share of what remains is the kind no calculator can see. Global error is NOT monotone — Llama's is highest — so C1 rises because the denominator shrinks, not because the numerator grows. A deterministic verifier gets LESS useful as generators improve.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sizes differ by arm and this matters: the PRM was run on 1,500 arithmetic-blind steps plus 750 controls; both judge arms on 600 plus 300. So the judges' scopes rest on 600 positives, not the PRM's larger sample. Three tokenizer faults produced the opposite result before a validation gate caught them — see the methodology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separate tests, two of which were confounded and had to be discarded. The first ran on linear chains, where descendant count is exactly T−t — so the influence schedule IS the front schedule, correlation −1.000. The test could not distinguish the two hypotheses. Catching that is the single most useful methodological correction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is guaranteed by construction, which is precisely the point: the guarantee holds, is reported as holding, and tells you nothing about the quantity you care about. The synthetic and noise controls are what license reading 0.5589 as a property of the signal rather than of the harness.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experiment in the thesis. It collapses what an earlier draft treated as three independent failure points into two. The figure of merit is not scope minus false alarm — it is conditioned on what the gate selects, and the score sets that conditioning. All accuracy figures here are PROJECTED under a stated repair model; they cannot be measured on a fixed corpus.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 score quality holds a binding alpha: the best any row manages at alpha = 0.05 is 0.0956, at AUROC 0.99 — still 1.9 times the target. That rules out reading the oracle's failure as an artifact of its degenerate binary score distribution. The budget is confirmed as the separate bottleneck across the whole range.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refutes the metric the chapter itself is built on, which is why it is reported. The honest limit: only 40 of 182 test trajectories contain a globally-wrong step, so first-bad recall has a denominator near 39. The claim rests on the monotone trend across 13 grid points times 64 seeds, not on this single pair of rows.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two rows are the same effect against two reasonable comparators, and they disagree on significance. The thesis reports both rather than the flattering one. That is the discipline the panel should probe: ask me for any number and I can name its interval and the script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validation gate this project would have published a confident negative result produced entirely by a tokenizer mismatch. The same-model critic's failure is the one case where a gate failure is the FINDING rather than a bug — it genuinely cannot separate its own errors, which is what Huang et al. predict.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refuted-versus-unsupported distinction is worth defending if asked. C9c's supporting learning curve had been scored on the selection split — the same data the layer and regularisation were chosen on. A clean test gives +0.0105 with an interval spanning zero. Invalid evidence is not the same as a false claim, and the thesis marks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contributions, each with a measured number and a regression test. The fifth is the one I would lead with at a conference: a negative result with a mechanism transfers, where a working gate on GSM8K would be one more entry in a crowded area.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state these than have the panel find them. The one I would flag hardest is the corpus size: section 8.6 varies three levers and every effect sits inside its own interval, which is why the conclusion is that the corpus, not the probe, is the binding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repository, dual-licensed MIT or Apache 2.0. pip install -e '.[dev]' then pytest reproduces every CPU result from a fresh clone. GPU results are committed as artifacts rather than regenerated, because they cost Kaggle sessions.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is the one I would actually pursue. It also reframes chapter 7: allocation would stop being about catching errors and become about building a trustworthy prefix to condition later checks on — and ancestor count is a far more natural signal for that objective than for the one tested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straight about the three gaps costs nothing and buys credibility for the ten that are done. The plagiarism report needs the institute's tool; the paper needs the guide's review before it goes anywhere; the feedback tracker I can assemble from the review records.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framing, not on a summary. If there is one question I expect, it is why a negative result is a thesis — and the answer is the attribution: we can say WHICH component fails and by how much, which is what makes it transfer to anyone else building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B3A42"/>
        </a:solidFill>
        <a:effectLst/>
      </p:bgPr>
    </p:bg>
    <p:spTree>
      <p:nvGrpSpPr>
        <p:cNvPr id="1" name=""/>
        <p:cNvGrpSpPr/>
        <p:nvPr/>
      </p:nvGrpSpPr>
      <p:grpSpPr/>
      <p:sp>
        <p:nvSpPr>
          <p:cNvPr id="2" name="TextBox 1"/>
          <p:cNvSpPr txBox="1"/>
          <p:nvPr/>
        </p:nvSpPr>
        <p:spPr>
          <a:xfrm>
            <a:off x="822960" y="1828800"/>
            <a:ext cx="10515600" cy="1645920"/>
          </a:xfrm>
          <a:prstGeom prst="rect">
            <a:avLst/>
          </a:prstGeom>
          <a:noFill/>
        </p:spPr>
        <p:txBody>
          <a:bodyPr wrap="square" lIns="0" rIns="0" tIns="0" bIns="0">
            <a:spAutoFit/>
          </a:bodyPr>
          <a:lstStyle/>
          <a:p>
            <a:pPr algn="l">
              <a:spcAft>
                <a:spcPts val="200"/>
              </a:spcAft>
            </a:pPr>
            <a:r>
              <a:rPr sz="4000" b="1" i="0">
                <a:solidFill>
                  <a:srgbClr val="FFFFFF"/>
                </a:solidFill>
                <a:latin typeface="Cambria"/>
              </a:rPr>
              <a:t>What Step-Level Verification Certifies,</a:t>
            </a:r>
          </a:p>
          <a:p>
            <a:pPr algn="l">
              <a:spcAft>
                <a:spcPts val="200"/>
              </a:spcAft>
            </a:pPr>
            <a:r>
              <a:rPr sz="4000" b="1" i="0">
                <a:solidFill>
                  <a:srgbClr val="FFFFFF"/>
                </a:solidFill>
                <a:latin typeface="Cambria"/>
              </a:rPr>
              <a:t>and What It Misses</a:t>
            </a:r>
          </a:p>
        </p:txBody>
      </p:sp>
      <p:sp>
        <p:nvSpPr>
          <p:cNvPr id="3" name="TextBox 2"/>
          <p:cNvSpPr txBox="1"/>
          <p:nvPr/>
        </p:nvSpPr>
        <p:spPr>
          <a:xfrm>
            <a:off x="822960" y="3429000"/>
            <a:ext cx="10515600" cy="457200"/>
          </a:xfrm>
          <a:prstGeom prst="rect">
            <a:avLst/>
          </a:prstGeom>
          <a:noFill/>
        </p:spPr>
        <p:txBody>
          <a:bodyPr wrap="square" lIns="0" rIns="0" tIns="0" bIns="0">
            <a:spAutoFit/>
          </a:bodyPr>
          <a:lstStyle/>
          <a:p>
            <a:pPr algn="l">
              <a:spcAft>
                <a:spcPts val="600"/>
              </a:spcAft>
            </a:pPr>
            <a:r>
              <a:rPr sz="1700" b="0" i="1">
                <a:solidFill>
                  <a:srgbClr val="C8D2D6"/>
                </a:solidFill>
                <a:latin typeface="Calibri"/>
              </a:rPr>
              <a:t>A measurement study of selective verification in multi-step LLM reasoning</a:t>
            </a:r>
          </a:p>
        </p:txBody>
      </p:sp>
      <p:sp>
        <p:nvSpPr>
          <p:cNvPr id="4" name="TextBox 3"/>
          <p:cNvSpPr txBox="1"/>
          <p:nvPr/>
        </p:nvSpPr>
        <p:spPr>
          <a:xfrm>
            <a:off x="822960" y="4434840"/>
            <a:ext cx="5486400" cy="365760"/>
          </a:xfrm>
          <a:prstGeom prst="rect">
            <a:avLst/>
          </a:prstGeom>
          <a:noFill/>
        </p:spPr>
        <p:txBody>
          <a:bodyPr wrap="square" lIns="0" rIns="0" tIns="0" bIns="0">
            <a:spAutoFit/>
          </a:bodyPr>
          <a:lstStyle/>
          <a:p>
            <a:pPr algn="l">
              <a:spcAft>
                <a:spcPts val="600"/>
              </a:spcAft>
            </a:pPr>
            <a:r>
              <a:rPr sz="1500" b="0" i="0">
                <a:solidFill>
                  <a:srgbClr val="FFFFFF"/>
                </a:solidFill>
                <a:latin typeface="Calibri"/>
              </a:rPr>
              <a:t>P. Somnath Reddy   ·   25167023</a:t>
            </a:r>
          </a:p>
        </p:txBody>
      </p:sp>
      <p:sp>
        <p:nvSpPr>
          <p:cNvPr id="5" name="TextBox 4"/>
          <p:cNvSpPr txBox="1"/>
          <p:nvPr/>
        </p:nvSpPr>
        <p:spPr>
          <a:xfrm>
            <a:off x="822960" y="4892040"/>
            <a:ext cx="5486400" cy="731520"/>
          </a:xfrm>
          <a:prstGeom prst="rect">
            <a:avLst/>
          </a:prstGeom>
          <a:noFill/>
        </p:spPr>
        <p:txBody>
          <a:bodyPr wrap="square" lIns="0" rIns="0" tIns="0" bIns="0">
            <a:spAutoFit/>
          </a:bodyPr>
          <a:lstStyle/>
          <a:p>
            <a:pPr algn="l">
              <a:spcAft>
                <a:spcPts val="600"/>
              </a:spcAft>
            </a:pPr>
            <a:r>
              <a:rPr sz="1300" b="0" i="0">
                <a:solidFill>
                  <a:srgbClr val="A8B6BC"/>
                </a:solidFill>
                <a:latin typeface="Calibri"/>
              </a:rPr>
              <a:t>M.Tech, Computer Engineering</a:t>
            </a:r>
          </a:p>
          <a:p>
            <a:pPr algn="l">
              <a:spcAft>
                <a:spcPts val="600"/>
              </a:spcAft>
            </a:pPr>
            <a:r>
              <a:rPr sz="1300" b="0" i="0">
                <a:solidFill>
                  <a:srgbClr val="A8B6BC"/>
                </a:solidFill>
                <a:latin typeface="Calibri"/>
              </a:rPr>
              <a:t>School of Computer Engineering, KIIT</a:t>
            </a:r>
          </a:p>
        </p:txBody>
      </p:sp>
      <p:sp>
        <p:nvSpPr>
          <p:cNvPr id="6" name="TextBox 5"/>
          <p:cNvSpPr txBox="1"/>
          <p:nvPr/>
        </p:nvSpPr>
        <p:spPr>
          <a:xfrm>
            <a:off x="6949440" y="4892040"/>
            <a:ext cx="4572000" cy="731520"/>
          </a:xfrm>
          <a:prstGeom prst="rect">
            <a:avLst/>
          </a:prstGeom>
          <a:noFill/>
        </p:spPr>
        <p:txBody>
          <a:bodyPr wrap="square" lIns="0" rIns="0" tIns="0" bIns="0">
            <a:spAutoFit/>
          </a:bodyPr>
          <a:lstStyle/>
          <a:p>
            <a:pPr algn="l">
              <a:spcAft>
                <a:spcPts val="600"/>
              </a:spcAft>
            </a:pPr>
            <a:r>
              <a:rPr sz="1300" b="0" i="0">
                <a:solidFill>
                  <a:srgbClr val="A8B6BC"/>
                </a:solidFill>
                <a:latin typeface="Calibri"/>
              </a:rPr>
              <a:t>Guide: Ponsuresh Manoharan</a:t>
            </a:r>
          </a:p>
          <a:p>
            <a:pPr algn="l">
              <a:spcAft>
                <a:spcPts val="600"/>
              </a:spcAft>
            </a:pPr>
            <a:r>
              <a:rPr sz="1300" b="0" i="0">
                <a:solidFill>
                  <a:srgbClr val="A8B6BC"/>
                </a:solidFill>
                <a:latin typeface="Calibri"/>
              </a:rPr>
              <a:t>Subject Matter Expert — Cyber Security, L&amp;T EduTech</a:t>
            </a:r>
          </a:p>
        </p:txBody>
      </p:sp>
      <p:sp>
        <p:nvSpPr>
          <p:cNvPr id="7" name="TextBox 6"/>
          <p:cNvSpPr txBox="1"/>
          <p:nvPr/>
        </p:nvSpPr>
        <p:spPr>
          <a:xfrm>
            <a:off x="822960" y="1143000"/>
            <a:ext cx="1920240" cy="365760"/>
          </a:xfrm>
          <a:prstGeom prst="rect">
            <a:avLst/>
          </a:prstGeom>
          <a:solidFill>
            <a:srgbClr val="B85042"/>
          </a:solidFill>
          <a:ln>
            <a:noFill/>
          </a:ln>
        </p:spPr>
        <p:txBody>
          <a:bodyPr wrap="square" tIns="0" bIns="0">
            <a:spAutoFit/>
          </a:bodyPr>
          <a:lstStyle/>
          <a:p>
            <a:pPr algn="ctr"/>
            <a:r>
              <a:rPr sz="1200" b="1">
                <a:solidFill>
                  <a:srgbClr val="FFFFFF"/>
                </a:solidFill>
                <a:latin typeface="Calibri"/>
              </a:rPr>
              <a:t>FINAL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The problem</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problem statement, motivation</a:t>
            </a:r>
          </a:p>
        </p:txBody>
      </p:sp>
      <p:sp>
        <p:nvSpPr>
          <p:cNvPr id="4" name="TextBox 3"/>
          <p:cNvSpPr txBox="1"/>
          <p:nvPr/>
        </p:nvSpPr>
        <p:spPr>
          <a:xfrm>
            <a:off x="640080" y="1783080"/>
            <a:ext cx="10881360" cy="914400"/>
          </a:xfrm>
          <a:prstGeom prst="rect">
            <a:avLst/>
          </a:prstGeom>
          <a:noFill/>
        </p:spPr>
        <p:txBody>
          <a:bodyPr wrap="square" lIns="0" rIns="0" tIns="0" bIns="0">
            <a:spAutoFit/>
          </a:bodyPr>
          <a:lstStyle/>
          <a:p>
            <a:pPr algn="l">
              <a:spcAft>
                <a:spcPts val="600"/>
              </a:spcAft>
            </a:pPr>
            <a:r>
              <a:rPr sz="1800" b="0" i="0">
                <a:solidFill>
                  <a:srgbClr val="1A2228"/>
                </a:solidFill>
                <a:latin typeface="Calibri"/>
              </a:rPr>
              <a:t>A language model answering a multi-step question writes a chain of intermediate claims. A wrong claim early is not a local defect — everything after it is generated conditioned on it.</a:t>
            </a:r>
          </a:p>
        </p:txBody>
      </p:sp>
      <p:sp>
        <p:nvSpPr>
          <p:cNvPr id="5" name="TextBox 4"/>
          <p:cNvSpPr txBox="1"/>
          <p:nvPr/>
        </p:nvSpPr>
        <p:spPr>
          <a:xfrm>
            <a:off x="640080" y="2743200"/>
            <a:ext cx="10881360" cy="457200"/>
          </a:xfrm>
          <a:prstGeom prst="rect">
            <a:avLst/>
          </a:prstGeom>
          <a:noFill/>
        </p:spPr>
        <p:txBody>
          <a:bodyPr wrap="square" lIns="0" rIns="0" tIns="0" bIns="0">
            <a:spAutoFit/>
          </a:bodyPr>
          <a:lstStyle/>
          <a:p>
            <a:pPr algn="l">
              <a:spcAft>
                <a:spcPts val="600"/>
              </a:spcAft>
            </a:pPr>
            <a:r>
              <a:rPr sz="2000" b="1" i="0">
                <a:solidFill>
                  <a:srgbClr val="B85042"/>
                </a:solidFill>
                <a:latin typeface="Cambria"/>
              </a:rPr>
              <a:t>Where should a limited verification budget go?</a:t>
            </a:r>
          </a:p>
        </p:txBody>
      </p:sp>
      <p:sp>
        <p:nvSpPr>
          <p:cNvPr id="6" name="TextBox 5"/>
          <p:cNvSpPr txBox="1"/>
          <p:nvPr/>
        </p:nvSpPr>
        <p:spPr>
          <a:xfrm>
            <a:off x="640080" y="3520440"/>
            <a:ext cx="10881360" cy="365760"/>
          </a:xfrm>
          <a:prstGeom prst="rect">
            <a:avLst/>
          </a:prstGeom>
          <a:noFill/>
        </p:spPr>
        <p:txBody>
          <a:bodyPr wrap="square" lIns="0" rIns="0" tIns="0" bIns="0">
            <a:spAutoFit/>
          </a:bodyPr>
          <a:lstStyle/>
          <a:p>
            <a:pPr algn="l">
              <a:spcAft>
                <a:spcPts val="600"/>
              </a:spcAft>
            </a:pPr>
            <a:r>
              <a:rPr sz="1500" b="0" i="0">
                <a:solidFill>
                  <a:srgbClr val="6E7B82"/>
                </a:solidFill>
                <a:latin typeface="Calibri"/>
              </a:rPr>
              <a:t>The obvious design, and the one this project set out to build:</a:t>
            </a:r>
          </a:p>
        </p:txBody>
      </p:sp>
      <p:sp>
        <p:nvSpPr>
          <p:cNvPr id="7" name="TextBox 6"/>
          <p:cNvSpPr txBox="1"/>
          <p:nvPr/>
        </p:nvSpPr>
        <p:spPr>
          <a:xfrm>
            <a:off x="640080" y="4023360"/>
            <a:ext cx="3383280" cy="402336"/>
          </a:xfrm>
          <a:prstGeom prst="rect">
            <a:avLst/>
          </a:prstGeom>
          <a:solidFill>
            <a:srgbClr val="2B3A42"/>
          </a:solidFill>
          <a:ln>
            <a:noFill/>
          </a:ln>
        </p:spPr>
        <p:txBody>
          <a:bodyPr wrap="square" tIns="0" bIns="0">
            <a:spAutoFit/>
          </a:bodyPr>
          <a:lstStyle/>
          <a:p>
            <a:pPr algn="ctr"/>
            <a:r>
              <a:rPr sz="1200" b="1">
                <a:solidFill>
                  <a:srgbClr val="FFFFFF"/>
                </a:solidFill>
                <a:latin typeface="Calibri"/>
              </a:rPr>
              <a:t>1.  A score</a:t>
            </a:r>
          </a:p>
        </p:txBody>
      </p:sp>
      <p:sp>
        <p:nvSpPr>
          <p:cNvPr id="8" name="TextBox 7"/>
          <p:cNvSpPr txBox="1"/>
          <p:nvPr/>
        </p:nvSpPr>
        <p:spPr>
          <a:xfrm>
            <a:off x="640080" y="4572000"/>
            <a:ext cx="3383280" cy="822960"/>
          </a:xfrm>
          <a:prstGeom prst="rect">
            <a:avLst/>
          </a:prstGeom>
          <a:noFill/>
        </p:spPr>
        <p:txBody>
          <a:bodyPr wrap="square" lIns="0" rIns="0" tIns="0" bIns="0">
            <a:spAutoFit/>
          </a:bodyPr>
          <a:lstStyle/>
          <a:p>
            <a:pPr algn="l">
              <a:spcAft>
                <a:spcPts val="600"/>
              </a:spcAft>
            </a:pPr>
            <a:r>
              <a:rPr sz="1300" b="0" i="0">
                <a:solidFill>
                  <a:srgbClr val="1A2228"/>
                </a:solidFill>
                <a:latin typeface="Calibri"/>
              </a:rPr>
              <a:t>token entropy, surprisal,</a:t>
            </a:r>
          </a:p>
          <a:p>
            <a:pPr algn="l">
              <a:spcAft>
                <a:spcPts val="600"/>
              </a:spcAft>
            </a:pPr>
            <a:r>
              <a:rPr sz="1300" b="0" i="0">
                <a:solidFill>
                  <a:srgbClr val="1A2228"/>
                </a:solidFill>
                <a:latin typeface="Calibri"/>
              </a:rPr>
              <a:t>sampling disagreement</a:t>
            </a:r>
          </a:p>
        </p:txBody>
      </p:sp>
      <p:sp>
        <p:nvSpPr>
          <p:cNvPr id="9" name="TextBox 8"/>
          <p:cNvSpPr txBox="1"/>
          <p:nvPr/>
        </p:nvSpPr>
        <p:spPr>
          <a:xfrm>
            <a:off x="4389120" y="4023360"/>
            <a:ext cx="3383280" cy="402336"/>
          </a:xfrm>
          <a:prstGeom prst="rect">
            <a:avLst/>
          </a:prstGeom>
          <a:solidFill>
            <a:srgbClr val="2B3A42"/>
          </a:solidFill>
          <a:ln>
            <a:noFill/>
          </a:ln>
        </p:spPr>
        <p:txBody>
          <a:bodyPr wrap="square" tIns="0" bIns="0">
            <a:spAutoFit/>
          </a:bodyPr>
          <a:lstStyle/>
          <a:p>
            <a:pPr algn="ctr"/>
            <a:r>
              <a:rPr sz="1200" b="1">
                <a:solidFill>
                  <a:srgbClr val="FFFFFF"/>
                </a:solidFill>
                <a:latin typeface="Calibri"/>
              </a:rPr>
              <a:t>2.  A calibration</a:t>
            </a:r>
          </a:p>
        </p:txBody>
      </p:sp>
      <p:sp>
        <p:nvSpPr>
          <p:cNvPr id="10" name="TextBox 9"/>
          <p:cNvSpPr txBox="1"/>
          <p:nvPr/>
        </p:nvSpPr>
        <p:spPr>
          <a:xfrm>
            <a:off x="4389120" y="4572000"/>
            <a:ext cx="3383280" cy="822960"/>
          </a:xfrm>
          <a:prstGeom prst="rect">
            <a:avLst/>
          </a:prstGeom>
          <a:noFill/>
        </p:spPr>
        <p:txBody>
          <a:bodyPr wrap="square" lIns="0" rIns="0" tIns="0" bIns="0">
            <a:spAutoFit/>
          </a:bodyPr>
          <a:lstStyle/>
          <a:p>
            <a:pPr algn="l">
              <a:spcAft>
                <a:spcPts val="600"/>
              </a:spcAft>
            </a:pPr>
            <a:r>
              <a:rPr sz="1300" b="0" i="0">
                <a:solidFill>
                  <a:srgbClr val="1A2228"/>
                </a:solidFill>
                <a:latin typeface="Calibri"/>
              </a:rPr>
              <a:t>conformal prediction turns it</a:t>
            </a:r>
          </a:p>
          <a:p>
            <a:pPr algn="l">
              <a:spcAft>
                <a:spcPts val="600"/>
              </a:spcAft>
            </a:pPr>
            <a:r>
              <a:rPr sz="1300" b="0" i="0">
                <a:solidFill>
                  <a:srgbClr val="1A2228"/>
                </a:solidFill>
                <a:latin typeface="Calibri"/>
              </a:rPr>
              <a:t>into a threshold with a guarantee</a:t>
            </a:r>
          </a:p>
        </p:txBody>
      </p:sp>
      <p:sp>
        <p:nvSpPr>
          <p:cNvPr id="11" name="TextBox 10"/>
          <p:cNvSpPr txBox="1"/>
          <p:nvPr/>
        </p:nvSpPr>
        <p:spPr>
          <a:xfrm>
            <a:off x="8138159" y="4023360"/>
            <a:ext cx="3383280" cy="402336"/>
          </a:xfrm>
          <a:prstGeom prst="rect">
            <a:avLst/>
          </a:prstGeom>
          <a:solidFill>
            <a:srgbClr val="2B3A42"/>
          </a:solidFill>
          <a:ln>
            <a:noFill/>
          </a:ln>
        </p:spPr>
        <p:txBody>
          <a:bodyPr wrap="square" tIns="0" bIns="0">
            <a:spAutoFit/>
          </a:bodyPr>
          <a:lstStyle/>
          <a:p>
            <a:pPr algn="ctr"/>
            <a:r>
              <a:rPr sz="1200" b="1">
                <a:solidFill>
                  <a:srgbClr val="FFFFFF"/>
                </a:solidFill>
                <a:latin typeface="Calibri"/>
              </a:rPr>
              <a:t>3.  A gate</a:t>
            </a:r>
          </a:p>
        </p:txBody>
      </p:sp>
      <p:sp>
        <p:nvSpPr>
          <p:cNvPr id="12" name="TextBox 11"/>
          <p:cNvSpPr txBox="1"/>
          <p:nvPr/>
        </p:nvSpPr>
        <p:spPr>
          <a:xfrm>
            <a:off x="8138159" y="4572000"/>
            <a:ext cx="3383280" cy="822960"/>
          </a:xfrm>
          <a:prstGeom prst="rect">
            <a:avLst/>
          </a:prstGeom>
          <a:noFill/>
        </p:spPr>
        <p:txBody>
          <a:bodyPr wrap="square" lIns="0" rIns="0" tIns="0" bIns="0">
            <a:spAutoFit/>
          </a:bodyPr>
          <a:lstStyle/>
          <a:p>
            <a:pPr algn="l">
              <a:spcAft>
                <a:spcPts val="600"/>
              </a:spcAft>
            </a:pPr>
            <a:r>
              <a:rPr sz="1300" b="0" i="0">
                <a:solidFill>
                  <a:srgbClr val="1A2228"/>
                </a:solidFill>
                <a:latin typeface="Calibri"/>
              </a:rPr>
              <a:t>verify the steps above it,</a:t>
            </a:r>
          </a:p>
          <a:p>
            <a:pPr algn="l">
              <a:spcAft>
                <a:spcPts val="600"/>
              </a:spcAft>
            </a:pPr>
            <a:r>
              <a:rPr sz="1300" b="0" i="0">
                <a:solidFill>
                  <a:srgbClr val="1A2228"/>
                </a:solidFill>
                <a:latin typeface="Calibri"/>
              </a:rPr>
              <a:t>subject to a budget</a:t>
            </a:r>
          </a:p>
        </p:txBody>
      </p:sp>
      <p:sp>
        <p:nvSpPr>
          <p:cNvPr id="13" name="TextBox 12"/>
          <p:cNvSpPr txBox="1"/>
          <p:nvPr/>
        </p:nvSpPr>
        <p:spPr>
          <a:xfrm>
            <a:off x="640080" y="5715000"/>
            <a:ext cx="10881360" cy="548640"/>
          </a:xfrm>
          <a:prstGeom prst="rect">
            <a:avLst/>
          </a:prstGeom>
          <a:noFill/>
        </p:spPr>
        <p:txBody>
          <a:bodyPr wrap="square" lIns="0" rIns="0" tIns="0" bIns="0">
            <a:spAutoFit/>
          </a:bodyPr>
          <a:lstStyle/>
          <a:p>
            <a:pPr algn="l">
              <a:spcAft>
                <a:spcPts val="600"/>
              </a:spcAft>
            </a:pPr>
            <a:r>
              <a:rPr sz="1600" b="1" i="0">
                <a:solidFill>
                  <a:srgbClr val="2B3A42"/>
                </a:solidFill>
                <a:latin typeface="Calibri"/>
              </a:rPr>
              <a:t>Each part has substantial literature behind it. Assembled, it does not work. This thesis measures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What was proposed, and what happened to it</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scope changes flagged and justified · contribution distinguishable</a:t>
            </a:r>
          </a:p>
        </p:txBody>
      </p:sp>
      <p:graphicFrame>
        <p:nvGraphicFramePr>
          <p:cNvPr id="4" name="Table 3"/>
          <p:cNvGraphicFramePr>
            <a:graphicFrameLocks noGrp="1"/>
          </p:cNvGraphicFramePr>
          <p:nvPr/>
        </p:nvGraphicFramePr>
        <p:xfrm>
          <a:off x="640080" y="1828800"/>
          <a:ext cx="10881359" cy="3072384"/>
        </p:xfrm>
        <a:graphic>
          <a:graphicData uri="http://schemas.openxmlformats.org/drawingml/2006/table">
            <a:tbl>
              <a:tblPr firstRow="1" bandRow="1">
                <a:tableStyleId>{5C22544A-7EE6-4342-B048-85BDC9FD1C3A}</a:tableStyleId>
              </a:tblPr>
              <a:tblGrid>
                <a:gridCol w="4946072"/>
                <a:gridCol w="5935287"/>
              </a:tblGrid>
              <a:tr h="384048">
                <a:tc>
                  <a:txBody>
                    <a:bodyPr/>
                    <a:lstStyle/>
                    <a:p>
                      <a:pPr algn="l"/>
                      <a:r>
                        <a:rPr sz="1200" b="1">
                          <a:solidFill>
                            <a:srgbClr val="FFFFFF"/>
                          </a:solidFill>
                          <a:latin typeface="Calibri"/>
                        </a:rPr>
                        <a:t>Original claim</a:t>
                      </a:r>
                    </a:p>
                  </a:txBody>
                  <a:tcPr anchor="ctr" marL="73152" marR="73152" marT="0" marB="0">
                    <a:solidFill>
                      <a:srgbClr val="2B3A42"/>
                    </a:solidFill>
                  </a:tcPr>
                </a:tc>
                <a:tc>
                  <a:txBody>
                    <a:bodyPr/>
                    <a:lstStyle/>
                    <a:p>
                      <a:pPr algn="ctr"/>
                      <a:r>
                        <a:rPr sz="1200" b="1">
                          <a:solidFill>
                            <a:srgbClr val="FFFFFF"/>
                          </a:solidFill>
                          <a:latin typeface="Calibri"/>
                        </a:rPr>
                        <a:t>Outcome</a:t>
                      </a:r>
                    </a:p>
                  </a:txBody>
                  <a:tcPr anchor="ctr" marL="73152" marR="73152" marT="0" marB="0">
                    <a:solidFill>
                      <a:srgbClr val="2B3A42"/>
                    </a:solidFill>
                  </a:tcPr>
                </a:tc>
              </a:tr>
              <a:tr h="384048">
                <a:tc>
                  <a:txBody>
                    <a:bodyPr/>
                    <a:lstStyle/>
                    <a:p>
                      <a:pPr algn="l"/>
                      <a:r>
                        <a:rPr sz="1250" b="0">
                          <a:solidFill>
                            <a:srgbClr val="1A2228"/>
                          </a:solidFill>
                          <a:latin typeface="Calibri"/>
                        </a:rPr>
                        <a:t>Adaptive conformal under censored feedback is novel</a:t>
                      </a:r>
                    </a:p>
                  </a:txBody>
                  <a:tcPr anchor="ctr" marL="73152" marR="73152" marT="0" marB="0">
                    <a:solidFill>
                      <a:srgbClr val="FFFFFF"/>
                    </a:solidFill>
                  </a:tcPr>
                </a:tc>
                <a:tc>
                  <a:txBody>
                    <a:bodyPr/>
                    <a:lstStyle/>
                    <a:p>
                      <a:pPr algn="ctr"/>
                      <a:r>
                        <a:rPr sz="1250" b="0">
                          <a:solidFill>
                            <a:srgbClr val="B85042"/>
                          </a:solidFill>
                          <a:latin typeface="Calibri"/>
                        </a:rPr>
                        <a:t>SCOOPED — CSA Thm E.1, stronger guarantee</a:t>
                      </a:r>
                    </a:p>
                  </a:txBody>
                  <a:tcPr anchor="ctr" marL="73152" marR="73152" marT="0" marB="0">
                    <a:solidFill>
                      <a:srgbClr val="FFFFFF"/>
                    </a:solidFill>
                  </a:tcPr>
                </a:tc>
              </a:tr>
              <a:tr h="384048">
                <a:tc>
                  <a:txBody>
                    <a:bodyPr/>
                    <a:lstStyle/>
                    <a:p>
                      <a:pPr algn="l"/>
                      <a:r>
                        <a:rPr sz="1250" b="0">
                          <a:solidFill>
                            <a:srgbClr val="1A2228"/>
                          </a:solidFill>
                          <a:latin typeface="Calibri"/>
                        </a:rPr>
                        <a:t>Composite token-level uncertainty is the key signal</a:t>
                      </a:r>
                    </a:p>
                  </a:txBody>
                  <a:tcPr anchor="ctr" marL="73152" marR="73152" marT="0" marB="0">
                    <a:solidFill>
                      <a:srgbClr val="FAFAF8"/>
                    </a:solidFill>
                  </a:tcPr>
                </a:tc>
                <a:tc>
                  <a:txBody>
                    <a:bodyPr/>
                    <a:lstStyle/>
                    <a:p>
                      <a:pPr algn="ctr"/>
                      <a:r>
                        <a:rPr sz="1250" b="0">
                          <a:solidFill>
                            <a:srgbClr val="B85042"/>
                          </a:solidFill>
                          <a:latin typeface="Calibri"/>
                        </a:rPr>
                        <a:t>REFUTED — AUROC 0.5589</a:t>
                      </a:r>
                    </a:p>
                  </a:txBody>
                  <a:tcPr anchor="ctr" marL="73152" marR="73152" marT="0" marB="0">
                    <a:solidFill>
                      <a:srgbClr val="FAFAF8"/>
                    </a:solidFill>
                  </a:tcPr>
                </a:tc>
              </a:tr>
              <a:tr h="384048">
                <a:tc>
                  <a:txBody>
                    <a:bodyPr/>
                    <a:lstStyle/>
                    <a:p>
                      <a:pPr algn="l"/>
                      <a:r>
                        <a:rPr sz="1250" b="0">
                          <a:solidFill>
                            <a:srgbClr val="1A2228"/>
                          </a:solidFill>
                          <a:latin typeface="Calibri"/>
                        </a:rPr>
                        <a:t>Semantic entropy at step level is the key signal</a:t>
                      </a:r>
                    </a:p>
                  </a:txBody>
                  <a:tcPr anchor="ctr" marL="73152" marR="73152" marT="0" marB="0">
                    <a:solidFill>
                      <a:srgbClr val="FFFFFF"/>
                    </a:solidFill>
                  </a:tcPr>
                </a:tc>
                <a:tc>
                  <a:txBody>
                    <a:bodyPr/>
                    <a:lstStyle/>
                    <a:p>
                      <a:pPr algn="ctr"/>
                      <a:r>
                        <a:rPr sz="1250" b="0">
                          <a:solidFill>
                            <a:srgbClr val="B85042"/>
                          </a:solidFill>
                          <a:latin typeface="Calibri"/>
                        </a:rPr>
                        <a:t>REFUTED — 0.5740; combining buys 0.0002</a:t>
                      </a:r>
                    </a:p>
                  </a:txBody>
                  <a:tcPr anchor="ctr" marL="73152" marR="73152" marT="0" marB="0">
                    <a:solidFill>
                      <a:srgbClr val="FFFFFF"/>
                    </a:solidFill>
                  </a:tcPr>
                </a:tc>
              </a:tr>
              <a:tr h="384048">
                <a:tc>
                  <a:txBody>
                    <a:bodyPr/>
                    <a:lstStyle/>
                    <a:p>
                      <a:pPr algn="l"/>
                      <a:r>
                        <a:rPr sz="1250" b="0">
                          <a:solidFill>
                            <a:srgbClr val="1A2228"/>
                          </a:solidFill>
                          <a:latin typeface="Calibri"/>
                        </a:rPr>
                        <a:t>Influence-weighted allocation beats uniform</a:t>
                      </a:r>
                    </a:p>
                  </a:txBody>
                  <a:tcPr anchor="ctr" marL="73152" marR="73152" marT="0" marB="0">
                    <a:solidFill>
                      <a:srgbClr val="FAFAF8"/>
                    </a:solidFill>
                  </a:tcPr>
                </a:tc>
                <a:tc>
                  <a:txBody>
                    <a:bodyPr/>
                    <a:lstStyle/>
                    <a:p>
                      <a:pPr algn="ctr"/>
                      <a:r>
                        <a:rPr sz="1250" b="0">
                          <a:solidFill>
                            <a:srgbClr val="B85042"/>
                          </a:solidFill>
                          <a:latin typeface="Calibri"/>
                        </a:rPr>
                        <a:t>REFUTED — loses on 5 DAG families, 2 corpora</a:t>
                      </a:r>
                    </a:p>
                  </a:txBody>
                  <a:tcPr anchor="ctr" marL="73152" marR="73152" marT="0" marB="0">
                    <a:solidFill>
                      <a:srgbClr val="FAFAF8"/>
                    </a:solidFill>
                  </a:tcPr>
                </a:tc>
              </a:tr>
              <a:tr h="384048">
                <a:tc>
                  <a:txBody>
                    <a:bodyPr/>
                    <a:lstStyle/>
                    <a:p>
                      <a:pPr algn="l"/>
                      <a:r>
                        <a:rPr sz="1250" b="0">
                          <a:solidFill>
                            <a:srgbClr val="1A2228"/>
                          </a:solidFill>
                          <a:latin typeface="Calibri"/>
                        </a:rPr>
                        <a:t>"Verify early beats verify late"</a:t>
                      </a:r>
                    </a:p>
                  </a:txBody>
                  <a:tcPr anchor="ctr" marL="73152" marR="73152" marT="0" marB="0">
                    <a:solidFill>
                      <a:srgbClr val="FFFFFF"/>
                    </a:solidFill>
                  </a:tcPr>
                </a:tc>
                <a:tc>
                  <a:txBody>
                    <a:bodyPr/>
                    <a:lstStyle/>
                    <a:p>
                      <a:pPr algn="ctr"/>
                      <a:r>
                        <a:rPr sz="1250" b="0">
                          <a:solidFill>
                            <a:srgbClr val="B85042"/>
                          </a:solidFill>
                          <a:latin typeface="Calibri"/>
                        </a:rPr>
                        <a:t>REFUTED — worst shape at every scope &gt; 0</a:t>
                      </a:r>
                    </a:p>
                  </a:txBody>
                  <a:tcPr anchor="ctr" marL="73152" marR="73152" marT="0" marB="0">
                    <a:solidFill>
                      <a:srgbClr val="FFFFFF"/>
                    </a:solidFill>
                  </a:tcPr>
                </a:tc>
              </a:tr>
              <a:tr h="384048">
                <a:tc>
                  <a:txBody>
                    <a:bodyPr/>
                    <a:lstStyle/>
                    <a:p>
                      <a:pPr algn="l"/>
                      <a:r>
                        <a:rPr sz="1250" b="0">
                          <a:solidFill>
                            <a:srgbClr val="1A2228"/>
                          </a:solidFill>
                          <a:latin typeface="Calibri"/>
                        </a:rPr>
                        <a:t>StrategyQA as the primary benchmark</a:t>
                      </a:r>
                    </a:p>
                  </a:txBody>
                  <a:tcPr anchor="ctr" marL="73152" marR="73152" marT="0" marB="0">
                    <a:solidFill>
                      <a:srgbClr val="FAFAF8"/>
                    </a:solidFill>
                  </a:tcPr>
                </a:tc>
                <a:tc>
                  <a:txBody>
                    <a:bodyPr/>
                    <a:lstStyle/>
                    <a:p>
                      <a:pPr algn="ctr"/>
                      <a:r>
                        <a:rPr sz="1250" b="0">
                          <a:solidFill>
                            <a:srgbClr val="B85042"/>
                          </a:solidFill>
                          <a:latin typeface="Calibri"/>
                        </a:rPr>
                        <a:t>WRONG CHOICE — 72.9% of graphs one hop deep</a:t>
                      </a:r>
                    </a:p>
                  </a:txBody>
                  <a:tcPr anchor="ctr" marL="73152" marR="73152" marT="0" marB="0">
                    <a:solidFill>
                      <a:srgbClr val="FAFAF8"/>
                    </a:solidFill>
                  </a:tcPr>
                </a:tc>
              </a:tr>
              <a:tr h="384048">
                <a:tc>
                  <a:txBody>
                    <a:bodyPr/>
                    <a:lstStyle/>
                    <a:p>
                      <a:pPr algn="l"/>
                      <a:r>
                        <a:rPr sz="1250" b="0">
                          <a:solidFill>
                            <a:srgbClr val="1A2228"/>
                          </a:solidFill>
                          <a:latin typeface="Calibri"/>
                        </a:rPr>
                        <a:t>α = 0.10 as a working risk target</a:t>
                      </a:r>
                    </a:p>
                  </a:txBody>
                  <a:tcPr anchor="ctr" marL="73152" marR="73152" marT="0" marB="0">
                    <a:solidFill>
                      <a:srgbClr val="FFFFFF"/>
                    </a:solidFill>
                  </a:tcPr>
                </a:tc>
                <a:tc>
                  <a:txBody>
                    <a:bodyPr/>
                    <a:lstStyle/>
                    <a:p>
                      <a:pPr algn="ctr"/>
                      <a:r>
                        <a:rPr sz="1250" b="0">
                          <a:solidFill>
                            <a:srgbClr val="B85042"/>
                          </a:solidFill>
                          <a:latin typeface="Calibri"/>
                        </a:rPr>
                        <a:t>INFEASIBLE — 32.3% entry fee before any method</a:t>
                      </a:r>
                    </a:p>
                  </a:txBody>
                  <a:tcPr anchor="ctr" marL="73152" marR="73152" marT="0" marB="0">
                    <a:solidFill>
                      <a:srgbClr val="FFFFFF"/>
                    </a:solidFill>
                  </a:tcPr>
                </a:tc>
              </a:tr>
            </a:tbl>
          </a:graphicData>
        </a:graphic>
      </p:graphicFrame>
      <p:sp>
        <p:nvSpPr>
          <p:cNvPr id="5" name="TextBox 4"/>
          <p:cNvSpPr txBox="1"/>
          <p:nvPr/>
        </p:nvSpPr>
        <p:spPr>
          <a:xfrm>
            <a:off x="640080" y="5257800"/>
            <a:ext cx="10881360" cy="914400"/>
          </a:xfrm>
          <a:prstGeom prst="rect">
            <a:avLst/>
          </a:prstGeom>
          <a:noFill/>
        </p:spPr>
        <p:txBody>
          <a:bodyPr wrap="square" lIns="0" rIns="0" tIns="0" bIns="0">
            <a:spAutoFit/>
          </a:bodyPr>
          <a:lstStyle/>
          <a:p>
            <a:pPr algn="l">
              <a:spcAft>
                <a:spcPts val="600"/>
              </a:spcAft>
            </a:pPr>
            <a:r>
              <a:rPr sz="1450" b="0" i="0">
                <a:solidFill>
                  <a:srgbClr val="2B3A42"/>
                </a:solidFill>
                <a:latin typeface="Calibri"/>
              </a:rPr>
              <a:t>The project began as a method paper. Two rounds of literature checking and stress-testing removed every method claim. What survived is a set of measurements — and they compose into a stronger claim about the design space than the system would have been.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The distinction everything rests on</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methodology · contribution to knowledge</a:t>
            </a:r>
          </a:p>
        </p:txBody>
      </p:sp>
      <p:sp>
        <p:nvSpPr>
          <p:cNvPr id="4" name="TextBox 3"/>
          <p:cNvSpPr txBox="1"/>
          <p:nvPr/>
        </p:nvSpPr>
        <p:spPr>
          <a:xfrm>
            <a:off x="640080" y="1874519"/>
            <a:ext cx="10881360" cy="548640"/>
          </a:xfrm>
          <a:prstGeom prst="rect">
            <a:avLst/>
          </a:prstGeom>
          <a:noFill/>
        </p:spPr>
        <p:txBody>
          <a:bodyPr wrap="square" lIns="0" rIns="0" tIns="0" bIns="0">
            <a:spAutoFit/>
          </a:bodyPr>
          <a:lstStyle/>
          <a:p>
            <a:pPr algn="l">
              <a:spcAft>
                <a:spcPts val="600"/>
              </a:spcAft>
            </a:pPr>
            <a:r>
              <a:rPr sz="2200" b="1" i="0">
                <a:solidFill>
                  <a:srgbClr val="2B3A42"/>
                </a:solidFill>
                <a:latin typeface="Courier New"/>
              </a:rPr>
              <a:t>global_correct(t)  =  local_valid(t)  AND  NOT premise_corrupt(t)</a:t>
            </a:r>
          </a:p>
        </p:txBody>
      </p:sp>
      <p:sp>
        <p:nvSpPr>
          <p:cNvPr id="5" name="TextBox 4"/>
          <p:cNvSpPr txBox="1"/>
          <p:nvPr/>
        </p:nvSpPr>
        <p:spPr>
          <a:xfrm>
            <a:off x="640080" y="2743200"/>
            <a:ext cx="5120640" cy="402336"/>
          </a:xfrm>
          <a:prstGeom prst="rect">
            <a:avLst/>
          </a:prstGeom>
          <a:solidFill>
            <a:srgbClr val="3E6E6C"/>
          </a:solidFill>
          <a:ln>
            <a:noFill/>
          </a:ln>
        </p:spPr>
        <p:txBody>
          <a:bodyPr wrap="square" tIns="0" bIns="0">
            <a:spAutoFit/>
          </a:bodyPr>
          <a:lstStyle/>
          <a:p>
            <a:pPr algn="ctr"/>
            <a:r>
              <a:rPr sz="1200" b="1">
                <a:solidFill>
                  <a:srgbClr val="FFFFFF"/>
                </a:solidFill>
                <a:latin typeface="Calibri"/>
              </a:rPr>
              <a:t>Local invalidity</a:t>
            </a:r>
          </a:p>
        </p:txBody>
      </p:sp>
      <p:sp>
        <p:nvSpPr>
          <p:cNvPr id="6" name="TextBox 5"/>
          <p:cNvSpPr txBox="1"/>
          <p:nvPr/>
        </p:nvSpPr>
        <p:spPr>
          <a:xfrm>
            <a:off x="640080" y="3310128"/>
            <a:ext cx="5120640" cy="12801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The step does not follow from its own premises.</a:t>
            </a:r>
          </a:p>
          <a:p>
            <a:pPr algn="l">
              <a:spcAft>
                <a:spcPts val="600"/>
              </a:spcAft>
            </a:pPr>
            <a:r>
              <a:rPr sz="1400" b="0" i="0">
                <a:solidFill>
                  <a:srgbClr val="1A2228"/>
                </a:solidFill>
                <a:latin typeface="Calibri"/>
              </a:rPr>
              <a:t>47 × 3 = 131 is wrong in any context.</a:t>
            </a:r>
          </a:p>
          <a:p>
            <a:pPr algn="l">
              <a:spcAft>
                <a:spcPts val="600"/>
              </a:spcAft>
            </a:pPr>
            <a:r>
              <a:rPr sz="1400" b="0" i="0">
                <a:solidFill>
                  <a:srgbClr val="1A2228"/>
                </a:solidFill>
                <a:latin typeface="Calibri"/>
              </a:rPr>
              <a:t>A calculator catches it every time.</a:t>
            </a:r>
          </a:p>
        </p:txBody>
      </p:sp>
      <p:sp>
        <p:nvSpPr>
          <p:cNvPr id="7" name="TextBox 6"/>
          <p:cNvSpPr txBox="1"/>
          <p:nvPr/>
        </p:nvSpPr>
        <p:spPr>
          <a:xfrm>
            <a:off x="6217920" y="2743200"/>
            <a:ext cx="5120640" cy="402336"/>
          </a:xfrm>
          <a:prstGeom prst="rect">
            <a:avLst/>
          </a:prstGeom>
          <a:solidFill>
            <a:srgbClr val="B85042"/>
          </a:solidFill>
          <a:ln>
            <a:noFill/>
          </a:ln>
        </p:spPr>
        <p:txBody>
          <a:bodyPr wrap="square" tIns="0" bIns="0">
            <a:spAutoFit/>
          </a:bodyPr>
          <a:lstStyle/>
          <a:p>
            <a:pPr algn="ctr"/>
            <a:r>
              <a:rPr sz="1200" b="1">
                <a:solidFill>
                  <a:srgbClr val="FFFFFF"/>
                </a:solidFill>
                <a:latin typeface="Calibri"/>
              </a:rPr>
              <a:t>Inherited corruption</a:t>
            </a:r>
          </a:p>
        </p:txBody>
      </p:sp>
      <p:sp>
        <p:nvSpPr>
          <p:cNvPr id="8" name="TextBox 7"/>
          <p:cNvSpPr txBox="1"/>
          <p:nvPr/>
        </p:nvSpPr>
        <p:spPr>
          <a:xfrm>
            <a:off x="6217920" y="3310128"/>
            <a:ext cx="5120640" cy="12801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The step follows perfectly, and a premise is false.</a:t>
            </a:r>
          </a:p>
          <a:p>
            <a:pPr algn="l">
              <a:spcAft>
                <a:spcPts val="600"/>
              </a:spcAft>
            </a:pPr>
            <a:r>
              <a:rPr sz="1400" b="0" i="0">
                <a:solidFill>
                  <a:srgbClr val="1A2228"/>
                </a:solidFill>
                <a:latin typeface="Calibri"/>
              </a:rPr>
              <a:t>Impeccable reasoning to a false conclusion.</a:t>
            </a:r>
          </a:p>
          <a:p>
            <a:pPr algn="l">
              <a:spcAft>
                <a:spcPts val="600"/>
              </a:spcAft>
            </a:pPr>
            <a:r>
              <a:rPr sz="1400" b="0" i="0">
                <a:solidFill>
                  <a:srgbClr val="1A2228"/>
                </a:solidFill>
                <a:latin typeface="Calibri"/>
              </a:rPr>
              <a:t>No amount of checking the step reveals anything.</a:t>
            </a:r>
          </a:p>
        </p:txBody>
      </p:sp>
      <p:sp>
        <p:nvSpPr>
          <p:cNvPr id="9" name="TextBox 8"/>
          <p:cNvSpPr txBox="1"/>
          <p:nvPr/>
        </p:nvSpPr>
        <p:spPr>
          <a:xfrm>
            <a:off x="640080" y="4846320"/>
            <a:ext cx="10881360" cy="640080"/>
          </a:xfrm>
          <a:prstGeom prst="rect">
            <a:avLst/>
          </a:prstGeom>
          <a:noFill/>
        </p:spPr>
        <p:txBody>
          <a:bodyPr wrap="square" lIns="0" rIns="0" tIns="0" bIns="0">
            <a:spAutoFit/>
          </a:bodyPr>
          <a:lstStyle/>
          <a:p>
            <a:pPr algn="l">
              <a:spcAft>
                <a:spcPts val="600"/>
              </a:spcAft>
            </a:pPr>
            <a:r>
              <a:rPr sz="1600" b="1" i="0">
                <a:solidFill>
                  <a:srgbClr val="2B3A42"/>
                </a:solidFill>
                <a:latin typeface="Calibri"/>
              </a:rPr>
              <a:t>A verifier reports the first. Conformal machinery calibrates whatever the verifier reports — so it calibrates local validity.</a:t>
            </a:r>
          </a:p>
        </p:txBody>
      </p:sp>
      <p:sp>
        <p:nvSpPr>
          <p:cNvPr id="10" name="TextBox 9"/>
          <p:cNvSpPr txBox="1"/>
          <p:nvPr/>
        </p:nvSpPr>
        <p:spPr>
          <a:xfrm>
            <a:off x="640080" y="5623560"/>
            <a:ext cx="10881360" cy="457200"/>
          </a:xfrm>
          <a:prstGeom prst="rect">
            <a:avLst/>
          </a:prstGeom>
          <a:noFill/>
        </p:spPr>
        <p:txBody>
          <a:bodyPr wrap="square" lIns="0" rIns="0" tIns="0" bIns="0">
            <a:spAutoFit/>
          </a:bodyPr>
          <a:lstStyle/>
          <a:p>
            <a:pPr algn="l">
              <a:spcAft>
                <a:spcPts val="600"/>
              </a:spcAft>
            </a:pPr>
            <a:r>
              <a:rPr sz="1600" b="0" i="1">
                <a:solidFill>
                  <a:srgbClr val="B85042"/>
                </a:solidFill>
                <a:latin typeface="Calibri"/>
              </a:rPr>
              <a:t>The question this thesis asks first: how much of the failure does that leave 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Datasets and corpora</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dataset finalized — source, size, split strategy</a:t>
            </a:r>
          </a:p>
        </p:txBody>
      </p:sp>
      <p:graphicFrame>
        <p:nvGraphicFramePr>
          <p:cNvPr id="4" name="Table 3"/>
          <p:cNvGraphicFramePr>
            <a:graphicFrameLocks noGrp="1"/>
          </p:cNvGraphicFramePr>
          <p:nvPr/>
        </p:nvGraphicFramePr>
        <p:xfrm>
          <a:off x="640080" y="1828800"/>
          <a:ext cx="10881360" cy="1536192"/>
        </p:xfrm>
        <a:graphic>
          <a:graphicData uri="http://schemas.openxmlformats.org/drawingml/2006/table">
            <a:tbl>
              <a:tblPr firstRow="1" bandRow="1">
                <a:tableStyleId>{5C22544A-7EE6-4342-B048-85BDC9FD1C3A}</a:tableStyleId>
              </a:tblPr>
              <a:tblGrid>
                <a:gridCol w="2040255"/>
                <a:gridCol w="2720340"/>
                <a:gridCol w="1360170"/>
                <a:gridCol w="1360170"/>
                <a:gridCol w="1360170"/>
                <a:gridCol w="2040255"/>
              </a:tblGrid>
              <a:tr h="384048">
                <a:tc>
                  <a:txBody>
                    <a:bodyPr/>
                    <a:lstStyle/>
                    <a:p>
                      <a:pPr algn="l"/>
                      <a:r>
                        <a:rPr sz="1200" b="1">
                          <a:solidFill>
                            <a:srgbClr val="FFFFFF"/>
                          </a:solidFill>
                          <a:latin typeface="Calibri"/>
                        </a:rPr>
                        <a:t>Corpus</a:t>
                      </a:r>
                    </a:p>
                  </a:txBody>
                  <a:tcPr anchor="ctr" marL="73152" marR="73152" marT="0" marB="0">
                    <a:solidFill>
                      <a:srgbClr val="2B3A42"/>
                    </a:solidFill>
                  </a:tcPr>
                </a:tc>
                <a:tc>
                  <a:txBody>
                    <a:bodyPr/>
                    <a:lstStyle/>
                    <a:p>
                      <a:pPr algn="ctr"/>
                      <a:r>
                        <a:rPr sz="1200" b="1">
                          <a:solidFill>
                            <a:srgbClr val="FFFFFF"/>
                          </a:solidFill>
                          <a:latin typeface="Calibri"/>
                        </a:rPr>
                        <a:t>Generator</a:t>
                      </a:r>
                    </a:p>
                  </a:txBody>
                  <a:tcPr anchor="ctr" marL="73152" marR="73152" marT="0" marB="0">
                    <a:solidFill>
                      <a:srgbClr val="2B3A42"/>
                    </a:solidFill>
                  </a:tcPr>
                </a:tc>
                <a:tc>
                  <a:txBody>
                    <a:bodyPr/>
                    <a:lstStyle/>
                    <a:p>
                      <a:pPr algn="ctr"/>
                      <a:r>
                        <a:rPr sz="1200" b="1">
                          <a:solidFill>
                            <a:srgbClr val="FFFFFF"/>
                          </a:solidFill>
                          <a:latin typeface="Calibri"/>
                        </a:rPr>
                        <a:t>GSM8K acc</a:t>
                      </a:r>
                    </a:p>
                  </a:txBody>
                  <a:tcPr anchor="ctr" marL="73152" marR="73152" marT="0" marB="0">
                    <a:solidFill>
                      <a:srgbClr val="2B3A42"/>
                    </a:solidFill>
                  </a:tcPr>
                </a:tc>
                <a:tc>
                  <a:txBody>
                    <a:bodyPr/>
                    <a:lstStyle/>
                    <a:p>
                      <a:pPr algn="ctr"/>
                      <a:r>
                        <a:rPr sz="1200" b="1">
                          <a:solidFill>
                            <a:srgbClr val="FFFFFF"/>
                          </a:solidFill>
                          <a:latin typeface="Calibri"/>
                        </a:rPr>
                        <a:t>Solutions</a:t>
                      </a:r>
                    </a:p>
                  </a:txBody>
                  <a:tcPr anchor="ctr" marL="73152" marR="73152" marT="0" marB="0">
                    <a:solidFill>
                      <a:srgbClr val="2B3A42"/>
                    </a:solidFill>
                  </a:tcPr>
                </a:tc>
                <a:tc>
                  <a:txBody>
                    <a:bodyPr/>
                    <a:lstStyle/>
                    <a:p>
                      <a:pPr algn="ctr"/>
                      <a:r>
                        <a:rPr sz="1200" b="1">
                          <a:solidFill>
                            <a:srgbClr val="FFFFFF"/>
                          </a:solidFill>
                          <a:latin typeface="Calibri"/>
                        </a:rPr>
                        <a:t>Steps</a:t>
                      </a:r>
                    </a:p>
                  </a:txBody>
                  <a:tcPr anchor="ctr" marL="73152" marR="73152" marT="0" marB="0">
                    <a:solidFill>
                      <a:srgbClr val="2B3A42"/>
                    </a:solidFill>
                  </a:tcPr>
                </a:tc>
                <a:tc>
                  <a:txBody>
                    <a:bodyPr/>
                    <a:lstStyle/>
                    <a:p>
                      <a:pPr algn="ctr"/>
                      <a:r>
                        <a:rPr sz="1200" b="1">
                          <a:solidFill>
                            <a:srgbClr val="FFFFFF"/>
                          </a:solidFill>
                          <a:latin typeface="Calibri"/>
                        </a:rPr>
                        <a:t>Labels</a:t>
                      </a:r>
                    </a:p>
                  </a:txBody>
                  <a:tcPr anchor="ctr" marL="73152" marR="73152" marT="0" marB="0">
                    <a:solidFill>
                      <a:srgbClr val="2B3A42"/>
                    </a:solidFill>
                  </a:tcPr>
                </a:tc>
              </a:tr>
              <a:tr h="384048">
                <a:tc>
                  <a:txBody>
                    <a:bodyPr/>
                    <a:lstStyle/>
                    <a:p>
                      <a:pPr algn="l"/>
                      <a:r>
                        <a:rPr sz="1300" b="0">
                          <a:solidFill>
                            <a:srgbClr val="1A2228"/>
                          </a:solidFill>
                          <a:latin typeface="Calibri"/>
                        </a:rPr>
                        <a:t>Math-Shepherd</a:t>
                      </a:r>
                    </a:p>
                  </a:txBody>
                  <a:tcPr anchor="ctr" marL="73152" marR="73152" marT="0" marB="0">
                    <a:solidFill>
                      <a:srgbClr val="FFFFFF"/>
                    </a:solidFill>
                  </a:tcPr>
                </a:tc>
                <a:tc>
                  <a:txBody>
                    <a:bodyPr/>
                    <a:lstStyle/>
                    <a:p>
                      <a:pPr algn="ctr"/>
                      <a:r>
                        <a:rPr sz="1300" b="0">
                          <a:solidFill>
                            <a:srgbClr val="1A2228"/>
                          </a:solidFill>
                          <a:latin typeface="Calibri"/>
                        </a:rPr>
                        <a:t>Mistral-7B-SFT</a:t>
                      </a:r>
                    </a:p>
                  </a:txBody>
                  <a:tcPr anchor="ctr" marL="73152" marR="73152" marT="0" marB="0">
                    <a:solidFill>
                      <a:srgbClr val="FFFFFF"/>
                    </a:solidFill>
                  </a:tcPr>
                </a:tc>
                <a:tc>
                  <a:txBody>
                    <a:bodyPr/>
                    <a:lstStyle/>
                    <a:p>
                      <a:pPr algn="ctr"/>
                      <a:r>
                        <a:rPr sz="1300" b="0">
                          <a:solidFill>
                            <a:srgbClr val="1A2228"/>
                          </a:solidFill>
                          <a:latin typeface="Calibri"/>
                        </a:rPr>
                        <a:t>~45%</a:t>
                      </a:r>
                    </a:p>
                  </a:txBody>
                  <a:tcPr anchor="ctr" marL="73152" marR="73152" marT="0" marB="0">
                    <a:solidFill>
                      <a:srgbClr val="FFFFFF"/>
                    </a:solidFill>
                  </a:tcPr>
                </a:tc>
                <a:tc>
                  <a:txBody>
                    <a:bodyPr/>
                    <a:lstStyle/>
                    <a:p>
                      <a:pPr algn="ctr"/>
                      <a:r>
                        <a:rPr sz="1300" b="0">
                          <a:solidFill>
                            <a:srgbClr val="1A2228"/>
                          </a:solidFill>
                          <a:latin typeface="Calibri"/>
                        </a:rPr>
                        <a:t>25,971</a:t>
                      </a:r>
                    </a:p>
                  </a:txBody>
                  <a:tcPr anchor="ctr" marL="73152" marR="73152" marT="0" marB="0">
                    <a:solidFill>
                      <a:srgbClr val="FFFFFF"/>
                    </a:solidFill>
                  </a:tcPr>
                </a:tc>
                <a:tc>
                  <a:txBody>
                    <a:bodyPr/>
                    <a:lstStyle/>
                    <a:p>
                      <a:pPr algn="ctr"/>
                      <a:r>
                        <a:rPr sz="1300" b="0">
                          <a:solidFill>
                            <a:srgbClr val="1A2228"/>
                          </a:solidFill>
                          <a:latin typeface="Calibri"/>
                        </a:rPr>
                        <a:t>93,129</a:t>
                      </a:r>
                    </a:p>
                  </a:txBody>
                  <a:tcPr anchor="ctr" marL="73152" marR="73152" marT="0" marB="0">
                    <a:solidFill>
                      <a:srgbClr val="FFFFFF"/>
                    </a:solidFill>
                  </a:tcPr>
                </a:tc>
                <a:tc>
                  <a:txBody>
                    <a:bodyPr/>
                    <a:lstStyle/>
                    <a:p>
                      <a:pPr algn="ctr"/>
                      <a:r>
                        <a:rPr sz="1300" b="0">
                          <a:solidFill>
                            <a:srgbClr val="1A2228"/>
                          </a:solidFill>
                          <a:latin typeface="Calibri"/>
                        </a:rPr>
                        <a:t>published +/−</a:t>
                      </a:r>
                    </a:p>
                  </a:txBody>
                  <a:tcPr anchor="ctr" marL="73152" marR="73152" marT="0" marB="0">
                    <a:solidFill>
                      <a:srgbClr val="FFFFFF"/>
                    </a:solidFill>
                  </a:tcPr>
                </a:tc>
              </a:tr>
              <a:tr h="384048">
                <a:tc>
                  <a:txBody>
                    <a:bodyPr/>
                    <a:lstStyle/>
                    <a:p>
                      <a:pPr algn="l"/>
                      <a:r>
                        <a:rPr sz="1300" b="0">
                          <a:solidFill>
                            <a:srgbClr val="1A2228"/>
                          </a:solidFill>
                          <a:latin typeface="Calibri"/>
                        </a:rPr>
                        <a:t>Generated here</a:t>
                      </a:r>
                    </a:p>
                  </a:txBody>
                  <a:tcPr anchor="ctr" marL="73152" marR="73152" marT="0" marB="0">
                    <a:solidFill>
                      <a:srgbClr val="FAFAF8"/>
                    </a:solidFill>
                  </a:tcPr>
                </a:tc>
                <a:tc>
                  <a:txBody>
                    <a:bodyPr/>
                    <a:lstStyle/>
                    <a:p>
                      <a:pPr algn="ctr"/>
                      <a:r>
                        <a:rPr sz="1300" b="0">
                          <a:solidFill>
                            <a:srgbClr val="1A2228"/>
                          </a:solidFill>
                          <a:latin typeface="Calibri"/>
                        </a:rPr>
                        <a:t>Qwen2.5-7B-Instruct</a:t>
                      </a:r>
                    </a:p>
                  </a:txBody>
                  <a:tcPr anchor="ctr" marL="73152" marR="73152" marT="0" marB="0">
                    <a:solidFill>
                      <a:srgbClr val="FAFAF8"/>
                    </a:solidFill>
                  </a:tcPr>
                </a:tc>
                <a:tc>
                  <a:txBody>
                    <a:bodyPr/>
                    <a:lstStyle/>
                    <a:p>
                      <a:pPr algn="ctr"/>
                      <a:r>
                        <a:rPr sz="1300" b="0">
                          <a:solidFill>
                            <a:srgbClr val="1A2228"/>
                          </a:solidFill>
                          <a:latin typeface="Calibri"/>
                        </a:rPr>
                        <a:t>80.0%</a:t>
                      </a:r>
                    </a:p>
                  </a:txBody>
                  <a:tcPr anchor="ctr" marL="73152" marR="73152" marT="0" marB="0">
                    <a:solidFill>
                      <a:srgbClr val="FAFAF8"/>
                    </a:solidFill>
                  </a:tcPr>
                </a:tc>
                <a:tc>
                  <a:txBody>
                    <a:bodyPr/>
                    <a:lstStyle/>
                    <a:p>
                      <a:pPr algn="ctr"/>
                      <a:r>
                        <a:rPr sz="1300" b="0">
                          <a:solidFill>
                            <a:srgbClr val="1A2228"/>
                          </a:solidFill>
                          <a:latin typeface="Calibri"/>
                        </a:rPr>
                        <a:t>500</a:t>
                      </a:r>
                    </a:p>
                  </a:txBody>
                  <a:tcPr anchor="ctr" marL="73152" marR="73152" marT="0" marB="0">
                    <a:solidFill>
                      <a:srgbClr val="FAFAF8"/>
                    </a:solidFill>
                  </a:tcPr>
                </a:tc>
                <a:tc>
                  <a:txBody>
                    <a:bodyPr/>
                    <a:lstStyle/>
                    <a:p>
                      <a:pPr algn="ctr"/>
                      <a:r>
                        <a:rPr sz="1300" b="0">
                          <a:solidFill>
                            <a:srgbClr val="1A2228"/>
                          </a:solidFill>
                          <a:latin typeface="Calibri"/>
                        </a:rPr>
                        <a:t>2,573</a:t>
                      </a:r>
                    </a:p>
                  </a:txBody>
                  <a:tcPr anchor="ctr" marL="73152" marR="73152" marT="0" marB="0">
                    <a:solidFill>
                      <a:srgbClr val="FAFAF8"/>
                    </a:solidFill>
                  </a:tcPr>
                </a:tc>
                <a:tc>
                  <a:txBody>
                    <a:bodyPr/>
                    <a:lstStyle/>
                    <a:p>
                      <a:pPr algn="ctr"/>
                      <a:r>
                        <a:rPr sz="1300" b="0">
                          <a:solidFill>
                            <a:srgbClr val="1A2228"/>
                          </a:solidFill>
                          <a:latin typeface="Calibri"/>
                        </a:rPr>
                        <a:t>K=4 rollouts</a:t>
                      </a:r>
                    </a:p>
                  </a:txBody>
                  <a:tcPr anchor="ctr" marL="73152" marR="73152" marT="0" marB="0">
                    <a:solidFill>
                      <a:srgbClr val="FAFAF8"/>
                    </a:solidFill>
                  </a:tcPr>
                </a:tc>
              </a:tr>
              <a:tr h="384048">
                <a:tc>
                  <a:txBody>
                    <a:bodyPr/>
                    <a:lstStyle/>
                    <a:p>
                      <a:pPr algn="l"/>
                      <a:r>
                        <a:rPr sz="1300" b="0">
                          <a:solidFill>
                            <a:srgbClr val="1A2228"/>
                          </a:solidFill>
                          <a:latin typeface="Calibri"/>
                        </a:rPr>
                        <a:t>Generated here</a:t>
                      </a:r>
                    </a:p>
                  </a:txBody>
                  <a:tcPr anchor="ctr" marL="73152" marR="73152" marT="0" marB="0">
                    <a:solidFill>
                      <a:srgbClr val="FFFFFF"/>
                    </a:solidFill>
                  </a:tcPr>
                </a:tc>
                <a:tc>
                  <a:txBody>
                    <a:bodyPr/>
                    <a:lstStyle/>
                    <a:p>
                      <a:pPr algn="ctr"/>
                      <a:r>
                        <a:rPr sz="1300" b="0">
                          <a:solidFill>
                            <a:srgbClr val="1A2228"/>
                          </a:solidFill>
                          <a:latin typeface="Calibri"/>
                        </a:rPr>
                        <a:t>Llama 3.1 8B Instruct</a:t>
                      </a:r>
                    </a:p>
                  </a:txBody>
                  <a:tcPr anchor="ctr" marL="73152" marR="73152" marT="0" marB="0">
                    <a:solidFill>
                      <a:srgbClr val="FFFFFF"/>
                    </a:solidFill>
                  </a:tcPr>
                </a:tc>
                <a:tc>
                  <a:txBody>
                    <a:bodyPr/>
                    <a:lstStyle/>
                    <a:p>
                      <a:pPr algn="ctr"/>
                      <a:r>
                        <a:rPr sz="1300" b="0">
                          <a:solidFill>
                            <a:srgbClr val="1A2228"/>
                          </a:solidFill>
                          <a:latin typeface="Calibri"/>
                        </a:rPr>
                        <a:t>68.4%</a:t>
                      </a:r>
                    </a:p>
                  </a:txBody>
                  <a:tcPr anchor="ctr" marL="73152" marR="73152" marT="0" marB="0">
                    <a:solidFill>
                      <a:srgbClr val="FFFFFF"/>
                    </a:solidFill>
                  </a:tcPr>
                </a:tc>
                <a:tc>
                  <a:txBody>
                    <a:bodyPr/>
                    <a:lstStyle/>
                    <a:p>
                      <a:pPr algn="ctr"/>
                      <a:r>
                        <a:rPr sz="1300" b="0">
                          <a:solidFill>
                            <a:srgbClr val="1A2228"/>
                          </a:solidFill>
                          <a:latin typeface="Calibri"/>
                        </a:rPr>
                        <a:t>500</a:t>
                      </a:r>
                    </a:p>
                  </a:txBody>
                  <a:tcPr anchor="ctr" marL="73152" marR="73152" marT="0" marB="0">
                    <a:solidFill>
                      <a:srgbClr val="FFFFFF"/>
                    </a:solidFill>
                  </a:tcPr>
                </a:tc>
                <a:tc>
                  <a:txBody>
                    <a:bodyPr/>
                    <a:lstStyle/>
                    <a:p>
                      <a:pPr algn="ctr"/>
                      <a:r>
                        <a:rPr sz="1300" b="0">
                          <a:solidFill>
                            <a:srgbClr val="1A2228"/>
                          </a:solidFill>
                          <a:latin typeface="Calibri"/>
                        </a:rPr>
                        <a:t>1,938</a:t>
                      </a:r>
                    </a:p>
                  </a:txBody>
                  <a:tcPr anchor="ctr" marL="73152" marR="73152" marT="0" marB="0">
                    <a:solidFill>
                      <a:srgbClr val="FFFFFF"/>
                    </a:solidFill>
                  </a:tcPr>
                </a:tc>
                <a:tc>
                  <a:txBody>
                    <a:bodyPr/>
                    <a:lstStyle/>
                    <a:p>
                      <a:pPr algn="ctr"/>
                      <a:r>
                        <a:rPr sz="1300" b="0">
                          <a:solidFill>
                            <a:srgbClr val="1A2228"/>
                          </a:solidFill>
                          <a:latin typeface="Calibri"/>
                        </a:rPr>
                        <a:t>K=4 rollouts</a:t>
                      </a:r>
                    </a:p>
                  </a:txBody>
                  <a:tcPr anchor="ctr" marL="73152" marR="73152" marT="0" marB="0">
                    <a:solidFill>
                      <a:srgbClr val="FFFFFF"/>
                    </a:solidFill>
                  </a:tcPr>
                </a:tc>
              </a:tr>
            </a:tbl>
          </a:graphicData>
        </a:graphic>
      </p:graphicFrame>
      <p:sp>
        <p:nvSpPr>
          <p:cNvPr id="5" name="TextBox 4"/>
          <p:cNvSpPr txBox="1"/>
          <p:nvPr/>
        </p:nvSpPr>
        <p:spPr>
          <a:xfrm>
            <a:off x="640080" y="365760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Splits by SHA-256 of example id, not by shuffled index — an example cannot migrate between splits as the corpus grows. The composite scaler is fitted on dev only; fitting it on calibration or test would void the conformal guarantee.</a:t>
            </a:r>
          </a:p>
        </p:txBody>
      </p:sp>
      <p:sp>
        <p:nvSpPr>
          <p:cNvPr id="6" name="TextBox 5"/>
          <p:cNvSpPr txBox="1"/>
          <p:nvPr/>
        </p:nvSpPr>
        <p:spPr>
          <a:xfrm>
            <a:off x="640080" y="4572000"/>
            <a:ext cx="256032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175</a:t>
            </a:r>
          </a:p>
        </p:txBody>
      </p:sp>
      <p:sp>
        <p:nvSpPr>
          <p:cNvPr id="7" name="TextBox 6"/>
          <p:cNvSpPr txBox="1"/>
          <p:nvPr/>
        </p:nvSpPr>
        <p:spPr>
          <a:xfrm>
            <a:off x="640080" y="5230368"/>
            <a:ext cx="256032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dev</a:t>
            </a:r>
          </a:p>
        </p:txBody>
      </p:sp>
      <p:sp>
        <p:nvSpPr>
          <p:cNvPr id="8" name="TextBox 7"/>
          <p:cNvSpPr txBox="1"/>
          <p:nvPr/>
        </p:nvSpPr>
        <p:spPr>
          <a:xfrm>
            <a:off x="3383280" y="4572000"/>
            <a:ext cx="256032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143</a:t>
            </a:r>
          </a:p>
        </p:txBody>
      </p:sp>
      <p:sp>
        <p:nvSpPr>
          <p:cNvPr id="9" name="TextBox 8"/>
          <p:cNvSpPr txBox="1"/>
          <p:nvPr/>
        </p:nvSpPr>
        <p:spPr>
          <a:xfrm>
            <a:off x="3383280" y="5230368"/>
            <a:ext cx="256032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calibration</a:t>
            </a:r>
          </a:p>
        </p:txBody>
      </p:sp>
      <p:sp>
        <p:nvSpPr>
          <p:cNvPr id="10" name="TextBox 9"/>
          <p:cNvSpPr txBox="1"/>
          <p:nvPr/>
        </p:nvSpPr>
        <p:spPr>
          <a:xfrm>
            <a:off x="6126480" y="4572000"/>
            <a:ext cx="256032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182</a:t>
            </a:r>
          </a:p>
        </p:txBody>
      </p:sp>
      <p:sp>
        <p:nvSpPr>
          <p:cNvPr id="11" name="TextBox 10"/>
          <p:cNvSpPr txBox="1"/>
          <p:nvPr/>
        </p:nvSpPr>
        <p:spPr>
          <a:xfrm>
            <a:off x="6126480" y="5230368"/>
            <a:ext cx="256032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test questions</a:t>
            </a:r>
          </a:p>
        </p:txBody>
      </p:sp>
      <p:sp>
        <p:nvSpPr>
          <p:cNvPr id="12" name="TextBox 11"/>
          <p:cNvSpPr txBox="1"/>
          <p:nvPr/>
        </p:nvSpPr>
        <p:spPr>
          <a:xfrm>
            <a:off x="8869680" y="4572000"/>
            <a:ext cx="256032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925</a:t>
            </a:r>
          </a:p>
        </p:txBody>
      </p:sp>
      <p:sp>
        <p:nvSpPr>
          <p:cNvPr id="13" name="TextBox 12"/>
          <p:cNvSpPr txBox="1"/>
          <p:nvPr/>
        </p:nvSpPr>
        <p:spPr>
          <a:xfrm>
            <a:off x="8869680" y="5230368"/>
            <a:ext cx="256032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test steps</a:t>
            </a:r>
          </a:p>
        </p:txBody>
      </p:sp>
      <p:sp>
        <p:nvSpPr>
          <p:cNvPr id="14" name="TextBox 13"/>
          <p:cNvSpPr txBox="1"/>
          <p:nvPr/>
        </p:nvSpPr>
        <p:spPr>
          <a:xfrm>
            <a:off x="640080" y="5897880"/>
            <a:ext cx="10881360" cy="548640"/>
          </a:xfrm>
          <a:prstGeom prst="rect">
            <a:avLst/>
          </a:prstGeom>
          <a:noFill/>
        </p:spPr>
        <p:txBody>
          <a:bodyPr wrap="square" lIns="0" rIns="0" tIns="0" bIns="0">
            <a:spAutoFit/>
          </a:bodyPr>
          <a:lstStyle/>
          <a:p>
            <a:pPr algn="l">
              <a:spcAft>
                <a:spcPts val="600"/>
              </a:spcAft>
            </a:pPr>
            <a:r>
              <a:rPr sz="1300" b="0" i="1">
                <a:solidFill>
                  <a:srgbClr val="6E7B82"/>
                </a:solidFill>
                <a:latin typeface="Calibri"/>
              </a:rPr>
              <a:t>Both generated corpora were written in Math-Shepherd's own format, so one analysis path reads all three. The comparison is between corpora, not between implementations.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836675"/>
          </a:xfrm>
          <a:prstGeom prst="rect">
            <a:avLst/>
          </a:prstGeom>
          <a:noFill/>
        </p:spPr>
        <p:txBody>
          <a:bodyPr wrap="square" lIns="0" rIns="0" tIns="0" bIns="0">
            <a:spAutoFit/>
          </a:bodyPr>
          <a:lstStyle/>
          <a:p>
            <a:pPr algn="l">
              <a:spcAft>
                <a:spcPts val="0"/>
              </a:spcAft>
            </a:pPr>
            <a:r>
              <a:rPr sz="2700" b="1" i="0">
                <a:solidFill>
                  <a:srgbClr val="2B3A42"/>
                </a:solidFill>
                <a:latin typeface="Cambria"/>
              </a:rPr>
              <a:t>Result 1 — the certified quantity is not the quantity of interest</a:t>
            </a:r>
          </a:p>
        </p:txBody>
      </p:sp>
      <p:sp>
        <p:nvSpPr>
          <p:cNvPr id="3" name="TextBox 2"/>
          <p:cNvSpPr txBox="1"/>
          <p:nvPr/>
        </p:nvSpPr>
        <p:spPr>
          <a:xfrm>
            <a:off x="640080" y="1339596"/>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Within wrong-answer solutions, one definition applied to all three corpora</a:t>
            </a:r>
          </a:p>
        </p:txBody>
      </p:sp>
      <p:graphicFrame>
        <p:nvGraphicFramePr>
          <p:cNvPr id="4" name="Table 3"/>
          <p:cNvGraphicFramePr>
            <a:graphicFrameLocks noGrp="1"/>
          </p:cNvGraphicFramePr>
          <p:nvPr/>
        </p:nvGraphicFramePr>
        <p:xfrm>
          <a:off x="640080" y="1828800"/>
          <a:ext cx="10881360" cy="2688336"/>
        </p:xfrm>
        <a:graphic>
          <a:graphicData uri="http://schemas.openxmlformats.org/drawingml/2006/table">
            <a:tbl>
              <a:tblPr firstRow="1" bandRow="1">
                <a:tableStyleId>{5C22544A-7EE6-4342-B048-85BDC9FD1C3A}</a:tableStyleId>
              </a:tblPr>
              <a:tblGrid>
                <a:gridCol w="3886200"/>
                <a:gridCol w="2331720"/>
                <a:gridCol w="2331720"/>
                <a:gridCol w="2331720"/>
              </a:tblGrid>
              <a:tr h="384048">
                <a:tc>
                  <a:txBody>
                    <a:bodyPr/>
                    <a:lstStyle/>
                    <a:p>
                      <a:pPr algn="l"/>
                    </a:p>
                  </a:txBody>
                  <a:tcPr anchor="ctr" marL="73152" marR="73152" marT="0" marB="0">
                    <a:solidFill>
                      <a:srgbClr val="2B3A42"/>
                    </a:solidFill>
                  </a:tcPr>
                </a:tc>
                <a:tc>
                  <a:txBody>
                    <a:bodyPr/>
                    <a:lstStyle/>
                    <a:p>
                      <a:pPr algn="ctr"/>
                      <a:r>
                        <a:rPr sz="1200" b="1">
                          <a:solidFill>
                            <a:srgbClr val="FFFFFF"/>
                          </a:solidFill>
                          <a:latin typeface="Calibri"/>
                        </a:rPr>
                        <a:t>Mistral-7B-SFT</a:t>
                      </a:r>
                    </a:p>
                  </a:txBody>
                  <a:tcPr anchor="ctr" marL="73152" marR="73152" marT="0" marB="0">
                    <a:solidFill>
                      <a:srgbClr val="2B3A42"/>
                    </a:solidFill>
                  </a:tcPr>
                </a:tc>
                <a:tc>
                  <a:txBody>
                    <a:bodyPr/>
                    <a:lstStyle/>
                    <a:p>
                      <a:pPr algn="ctr"/>
                      <a:r>
                        <a:rPr sz="1200" b="1">
                          <a:solidFill>
                            <a:srgbClr val="FFFFFF"/>
                          </a:solidFill>
                          <a:latin typeface="Calibri"/>
                        </a:rPr>
                        <a:t>Llama 3.1 8B</a:t>
                      </a:r>
                    </a:p>
                  </a:txBody>
                  <a:tcPr anchor="ctr" marL="73152" marR="73152" marT="0" marB="0">
                    <a:solidFill>
                      <a:srgbClr val="2B3A42"/>
                    </a:solidFill>
                  </a:tcPr>
                </a:tc>
                <a:tc>
                  <a:txBody>
                    <a:bodyPr/>
                    <a:lstStyle/>
                    <a:p>
                      <a:pPr algn="ctr"/>
                      <a:r>
                        <a:rPr sz="1200" b="1">
                          <a:solidFill>
                            <a:srgbClr val="FFFFFF"/>
                          </a:solidFill>
                          <a:latin typeface="Calibri"/>
                        </a:rPr>
                        <a:t>Qwen2.5-7B</a:t>
                      </a:r>
                    </a:p>
                  </a:txBody>
                  <a:tcPr anchor="ctr" marL="73152" marR="73152" marT="0" marB="0">
                    <a:solidFill>
                      <a:srgbClr val="2B3A42"/>
                    </a:solidFill>
                  </a:tcPr>
                </a:tc>
              </a:tr>
              <a:tr h="384048">
                <a:tc>
                  <a:txBody>
                    <a:bodyPr/>
                    <a:lstStyle/>
                    <a:p>
                      <a:pPr algn="l"/>
                      <a:r>
                        <a:rPr sz="1300" b="0">
                          <a:solidFill>
                            <a:srgbClr val="1A2228"/>
                          </a:solidFill>
                          <a:latin typeface="Calibri"/>
                        </a:rPr>
                        <a:t>GSM8K accuracy</a:t>
                      </a:r>
                    </a:p>
                  </a:txBody>
                  <a:tcPr anchor="ctr" marL="73152" marR="73152" marT="0" marB="0">
                    <a:solidFill>
                      <a:srgbClr val="FFFFFF"/>
                    </a:solidFill>
                  </a:tcPr>
                </a:tc>
                <a:tc>
                  <a:txBody>
                    <a:bodyPr/>
                    <a:lstStyle/>
                    <a:p>
                      <a:pPr algn="ctr"/>
                      <a:r>
                        <a:rPr sz="1300" b="0">
                          <a:solidFill>
                            <a:srgbClr val="1A2228"/>
                          </a:solidFill>
                          <a:latin typeface="Calibri"/>
                        </a:rPr>
                        <a:t>~45%</a:t>
                      </a:r>
                    </a:p>
                  </a:txBody>
                  <a:tcPr anchor="ctr" marL="73152" marR="73152" marT="0" marB="0">
                    <a:solidFill>
                      <a:srgbClr val="FFFFFF"/>
                    </a:solidFill>
                  </a:tcPr>
                </a:tc>
                <a:tc>
                  <a:txBody>
                    <a:bodyPr/>
                    <a:lstStyle/>
                    <a:p>
                      <a:pPr algn="ctr"/>
                      <a:r>
                        <a:rPr sz="1300" b="0">
                          <a:solidFill>
                            <a:srgbClr val="1A2228"/>
                          </a:solidFill>
                          <a:latin typeface="Calibri"/>
                        </a:rPr>
                        <a:t>68.4%</a:t>
                      </a:r>
                    </a:p>
                  </a:txBody>
                  <a:tcPr anchor="ctr" marL="73152" marR="73152" marT="0" marB="0">
                    <a:solidFill>
                      <a:srgbClr val="FFFFFF"/>
                    </a:solidFill>
                  </a:tcPr>
                </a:tc>
                <a:tc>
                  <a:txBody>
                    <a:bodyPr/>
                    <a:lstStyle/>
                    <a:p>
                      <a:pPr algn="ctr"/>
                      <a:r>
                        <a:rPr sz="1300" b="0">
                          <a:solidFill>
                            <a:srgbClr val="1A2228"/>
                          </a:solidFill>
                          <a:latin typeface="Calibri"/>
                        </a:rPr>
                        <a:t>80.0%</a:t>
                      </a:r>
                    </a:p>
                  </a:txBody>
                  <a:tcPr anchor="ctr" marL="73152" marR="73152" marT="0" marB="0">
                    <a:solidFill>
                      <a:srgbClr val="FFFFFF"/>
                    </a:solidFill>
                  </a:tcPr>
                </a:tc>
              </a:tr>
              <a:tr h="384048">
                <a:tc>
                  <a:txBody>
                    <a:bodyPr/>
                    <a:lstStyle/>
                    <a:p>
                      <a:pPr algn="l"/>
                      <a:r>
                        <a:rPr sz="1300" b="0">
                          <a:solidFill>
                            <a:srgbClr val="1A2228"/>
                          </a:solidFill>
                          <a:latin typeface="Calibri"/>
                        </a:rPr>
                        <a:t>local error</a:t>
                      </a:r>
                    </a:p>
                  </a:txBody>
                  <a:tcPr anchor="ctr" marL="73152" marR="73152" marT="0" marB="0">
                    <a:solidFill>
                      <a:srgbClr val="FAFAF8"/>
                    </a:solidFill>
                  </a:tcPr>
                </a:tc>
                <a:tc>
                  <a:txBody>
                    <a:bodyPr/>
                    <a:lstStyle/>
                    <a:p>
                      <a:pPr algn="ctr"/>
                      <a:r>
                        <a:rPr sz="1300" b="0">
                          <a:solidFill>
                            <a:srgbClr val="1A2228"/>
                          </a:solidFill>
                          <a:latin typeface="Calibri"/>
                        </a:rPr>
                        <a:t>0.1708</a:t>
                      </a:r>
                    </a:p>
                  </a:txBody>
                  <a:tcPr anchor="ctr" marL="73152" marR="73152" marT="0" marB="0">
                    <a:solidFill>
                      <a:srgbClr val="FAFAF8"/>
                    </a:solidFill>
                  </a:tcPr>
                </a:tc>
                <a:tc>
                  <a:txBody>
                    <a:bodyPr/>
                    <a:lstStyle/>
                    <a:p>
                      <a:pPr algn="ctr"/>
                      <a:r>
                        <a:rPr sz="1300" b="0">
                          <a:solidFill>
                            <a:srgbClr val="1A2228"/>
                          </a:solidFill>
                          <a:latin typeface="Calibri"/>
                        </a:rPr>
                        <a:t>0.1034</a:t>
                      </a:r>
                    </a:p>
                  </a:txBody>
                  <a:tcPr anchor="ctr" marL="73152" marR="73152" marT="0" marB="0">
                    <a:solidFill>
                      <a:srgbClr val="FAFAF8"/>
                    </a:solidFill>
                  </a:tcPr>
                </a:tc>
                <a:tc>
                  <a:txBody>
                    <a:bodyPr/>
                    <a:lstStyle/>
                    <a:p>
                      <a:pPr algn="ctr"/>
                      <a:r>
                        <a:rPr sz="1300" b="0">
                          <a:solidFill>
                            <a:srgbClr val="1A2228"/>
                          </a:solidFill>
                          <a:latin typeface="Calibri"/>
                        </a:rPr>
                        <a:t>0.0813</a:t>
                      </a:r>
                    </a:p>
                  </a:txBody>
                  <a:tcPr anchor="ctr" marL="73152" marR="73152" marT="0" marB="0">
                    <a:solidFill>
                      <a:srgbClr val="FAFAF8"/>
                    </a:solidFill>
                  </a:tcPr>
                </a:tc>
              </a:tr>
              <a:tr h="384048">
                <a:tc>
                  <a:txBody>
                    <a:bodyPr/>
                    <a:lstStyle/>
                    <a:p>
                      <a:pPr algn="l"/>
                      <a:r>
                        <a:rPr sz="1300" b="0">
                          <a:solidFill>
                            <a:srgbClr val="1A2228"/>
                          </a:solidFill>
                          <a:latin typeface="Calibri"/>
                        </a:rPr>
                        <a:t>global error</a:t>
                      </a:r>
                    </a:p>
                  </a:txBody>
                  <a:tcPr anchor="ctr" marL="73152" marR="73152" marT="0" marB="0">
                    <a:solidFill>
                      <a:srgbClr val="FFFFFF"/>
                    </a:solidFill>
                  </a:tcPr>
                </a:tc>
                <a:tc>
                  <a:txBody>
                    <a:bodyPr/>
                    <a:lstStyle/>
                    <a:p>
                      <a:pPr algn="ctr"/>
                      <a:r>
                        <a:rPr sz="1300" b="0">
                          <a:solidFill>
                            <a:srgbClr val="1A2228"/>
                          </a:solidFill>
                          <a:latin typeface="Calibri"/>
                        </a:rPr>
                        <a:t>0.7106</a:t>
                      </a:r>
                    </a:p>
                  </a:txBody>
                  <a:tcPr anchor="ctr" marL="73152" marR="73152" marT="0" marB="0">
                    <a:solidFill>
                      <a:srgbClr val="FFFFFF"/>
                    </a:solidFill>
                  </a:tcPr>
                </a:tc>
                <a:tc>
                  <a:txBody>
                    <a:bodyPr/>
                    <a:lstStyle/>
                    <a:p>
                      <a:pPr algn="ctr"/>
                      <a:r>
                        <a:rPr sz="1300" b="0">
                          <a:solidFill>
                            <a:srgbClr val="1A2228"/>
                          </a:solidFill>
                          <a:latin typeface="Calibri"/>
                        </a:rPr>
                        <a:t>0.7442</a:t>
                      </a:r>
                    </a:p>
                  </a:txBody>
                  <a:tcPr anchor="ctr" marL="73152" marR="73152" marT="0" marB="0">
                    <a:solidFill>
                      <a:srgbClr val="FFFFFF"/>
                    </a:solidFill>
                  </a:tcPr>
                </a:tc>
                <a:tc>
                  <a:txBody>
                    <a:bodyPr/>
                    <a:lstStyle/>
                    <a:p>
                      <a:pPr algn="ctr"/>
                      <a:r>
                        <a:rPr sz="1300" b="0">
                          <a:solidFill>
                            <a:srgbClr val="1A2228"/>
                          </a:solidFill>
                          <a:latin typeface="Calibri"/>
                        </a:rPr>
                        <a:t>0.5772</a:t>
                      </a:r>
                    </a:p>
                  </a:txBody>
                  <a:tcPr anchor="ctr" marL="73152" marR="73152" marT="0" marB="0">
                    <a:solidFill>
                      <a:srgbClr val="FFFFFF"/>
                    </a:solidFill>
                  </a:tcPr>
                </a:tc>
              </a:tr>
              <a:tr h="384048">
                <a:tc>
                  <a:txBody>
                    <a:bodyPr/>
                    <a:lstStyle/>
                    <a:p>
                      <a:pPr algn="l"/>
                      <a:r>
                        <a:rPr sz="1300" b="1">
                          <a:solidFill>
                            <a:srgbClr val="1A2228"/>
                          </a:solidFill>
                          <a:latin typeface="Calibri"/>
                        </a:rPr>
                        <a:t>C1 (checkable)</a:t>
                      </a:r>
                    </a:p>
                  </a:txBody>
                  <a:tcPr anchor="ctr" marL="73152" marR="73152" marT="0" marB="0">
                    <a:solidFill>
                      <a:srgbClr val="E8E4E0"/>
                    </a:solidFill>
                  </a:tcPr>
                </a:tc>
                <a:tc>
                  <a:txBody>
                    <a:bodyPr/>
                    <a:lstStyle/>
                    <a:p>
                      <a:pPr algn="ctr"/>
                      <a:r>
                        <a:rPr sz="1300" b="1">
                          <a:solidFill>
                            <a:srgbClr val="1A2228"/>
                          </a:solidFill>
                          <a:latin typeface="Calibri"/>
                        </a:rPr>
                        <a:t>0.7848</a:t>
                      </a:r>
                    </a:p>
                  </a:txBody>
                  <a:tcPr anchor="ctr" marL="73152" marR="73152" marT="0" marB="0">
                    <a:solidFill>
                      <a:srgbClr val="E8E4E0"/>
                    </a:solidFill>
                  </a:tcPr>
                </a:tc>
                <a:tc>
                  <a:txBody>
                    <a:bodyPr/>
                    <a:lstStyle/>
                    <a:p>
                      <a:pPr algn="ctr"/>
                      <a:r>
                        <a:rPr sz="1300" b="1">
                          <a:solidFill>
                            <a:srgbClr val="1A2228"/>
                          </a:solidFill>
                          <a:latin typeface="Calibri"/>
                        </a:rPr>
                        <a:t>0.8738</a:t>
                      </a:r>
                    </a:p>
                  </a:txBody>
                  <a:tcPr anchor="ctr" marL="73152" marR="73152" marT="0" marB="0">
                    <a:solidFill>
                      <a:srgbClr val="E8E4E0"/>
                    </a:solidFill>
                  </a:tcPr>
                </a:tc>
                <a:tc>
                  <a:txBody>
                    <a:bodyPr/>
                    <a:lstStyle/>
                    <a:p>
                      <a:pPr algn="ctr"/>
                      <a:r>
                        <a:rPr sz="1300" b="1">
                          <a:solidFill>
                            <a:srgbClr val="1A2228"/>
                          </a:solidFill>
                          <a:latin typeface="Calibri"/>
                        </a:rPr>
                        <a:t>0.9040</a:t>
                      </a:r>
                    </a:p>
                  </a:txBody>
                  <a:tcPr anchor="ctr" marL="73152" marR="73152" marT="0" marB="0">
                    <a:solidFill>
                      <a:srgbClr val="E8E4E0"/>
                    </a:solidFill>
                  </a:tcPr>
                </a:tc>
              </a:tr>
              <a:tr h="384048">
                <a:tc>
                  <a:txBody>
                    <a:bodyPr/>
                    <a:lstStyle/>
                    <a:p>
                      <a:pPr algn="l"/>
                      <a:r>
                        <a:rPr sz="1300" b="0">
                          <a:solidFill>
                            <a:srgbClr val="1A2228"/>
                          </a:solidFill>
                          <a:latin typeface="Calibri"/>
                        </a:rPr>
                        <a:t>n globally-wrong checkable steps</a:t>
                      </a:r>
                    </a:p>
                  </a:txBody>
                  <a:tcPr anchor="ctr" marL="73152" marR="73152" marT="0" marB="0">
                    <a:solidFill>
                      <a:srgbClr val="FFFFFF"/>
                    </a:solidFill>
                  </a:tcPr>
                </a:tc>
                <a:tc>
                  <a:txBody>
                    <a:bodyPr/>
                    <a:lstStyle/>
                    <a:p>
                      <a:pPr algn="ctr"/>
                      <a:r>
                        <a:rPr sz="1300" b="0">
                          <a:solidFill>
                            <a:srgbClr val="1A2228"/>
                          </a:solidFill>
                          <a:latin typeface="Calibri"/>
                        </a:rPr>
                        <a:t>46,555</a:t>
                      </a:r>
                    </a:p>
                  </a:txBody>
                  <a:tcPr anchor="ctr" marL="73152" marR="73152" marT="0" marB="0">
                    <a:solidFill>
                      <a:srgbClr val="FFFFFF"/>
                    </a:solidFill>
                  </a:tcPr>
                </a:tc>
                <a:tc>
                  <a:txBody>
                    <a:bodyPr/>
                    <a:lstStyle/>
                    <a:p>
                      <a:pPr algn="ctr"/>
                      <a:r>
                        <a:rPr sz="1300" b="0">
                          <a:solidFill>
                            <a:srgbClr val="1A2228"/>
                          </a:solidFill>
                          <a:latin typeface="Calibri"/>
                        </a:rPr>
                        <a:t>309</a:t>
                      </a:r>
                    </a:p>
                  </a:txBody>
                  <a:tcPr anchor="ctr" marL="73152" marR="73152" marT="0" marB="0">
                    <a:solidFill>
                      <a:srgbClr val="FFFFFF"/>
                    </a:solidFill>
                  </a:tcPr>
                </a:tc>
                <a:tc>
                  <a:txBody>
                    <a:bodyPr/>
                    <a:lstStyle/>
                    <a:p>
                      <a:pPr algn="ctr"/>
                      <a:r>
                        <a:rPr sz="1300" b="0">
                          <a:solidFill>
                            <a:srgbClr val="1A2228"/>
                          </a:solidFill>
                          <a:latin typeface="Calibri"/>
                        </a:rPr>
                        <a:t>125</a:t>
                      </a:r>
                    </a:p>
                  </a:txBody>
                  <a:tcPr anchor="ctr" marL="73152" marR="73152" marT="0" marB="0">
                    <a:solidFill>
                      <a:srgbClr val="FFFFFF"/>
                    </a:solidFill>
                  </a:tcPr>
                </a:tc>
              </a:tr>
              <a:tr h="384048">
                <a:tc>
                  <a:txBody>
                    <a:bodyPr/>
                    <a:lstStyle/>
                    <a:p>
                      <a:pPr algn="l"/>
                      <a:r>
                        <a:rPr sz="1300" b="0">
                          <a:solidFill>
                            <a:srgbClr val="1A2228"/>
                          </a:solidFill>
                          <a:latin typeface="Calibri"/>
                        </a:rPr>
                        <a:t>95% Wilson CI</a:t>
                      </a:r>
                    </a:p>
                  </a:txBody>
                  <a:tcPr anchor="ctr" marL="73152" marR="73152" marT="0" marB="0">
                    <a:solidFill>
                      <a:srgbClr val="FAFAF8"/>
                    </a:solidFill>
                  </a:tcPr>
                </a:tc>
                <a:tc>
                  <a:txBody>
                    <a:bodyPr/>
                    <a:lstStyle/>
                    <a:p>
                      <a:pPr algn="ctr"/>
                      <a:r>
                        <a:rPr sz="1300" b="0">
                          <a:solidFill>
                            <a:srgbClr val="1A2228"/>
                          </a:solidFill>
                          <a:latin typeface="Calibri"/>
                        </a:rPr>
                        <a:t>[0.781, 0.789]</a:t>
                      </a:r>
                    </a:p>
                  </a:txBody>
                  <a:tcPr anchor="ctr" marL="73152" marR="73152" marT="0" marB="0">
                    <a:solidFill>
                      <a:srgbClr val="FAFAF8"/>
                    </a:solidFill>
                  </a:tcPr>
                </a:tc>
                <a:tc>
                  <a:txBody>
                    <a:bodyPr/>
                    <a:lstStyle/>
                    <a:p>
                      <a:pPr algn="ctr"/>
                      <a:r>
                        <a:rPr sz="1300" b="0">
                          <a:solidFill>
                            <a:srgbClr val="1A2228"/>
                          </a:solidFill>
                          <a:latin typeface="Calibri"/>
                        </a:rPr>
                        <a:t>[0.832, 0.906]</a:t>
                      </a:r>
                    </a:p>
                  </a:txBody>
                  <a:tcPr anchor="ctr" marL="73152" marR="73152" marT="0" marB="0">
                    <a:solidFill>
                      <a:srgbClr val="FAFAF8"/>
                    </a:solidFill>
                  </a:tcPr>
                </a:tc>
                <a:tc>
                  <a:txBody>
                    <a:bodyPr/>
                    <a:lstStyle/>
                    <a:p>
                      <a:pPr algn="ctr"/>
                      <a:r>
                        <a:rPr sz="1300" b="0">
                          <a:solidFill>
                            <a:srgbClr val="1A2228"/>
                          </a:solidFill>
                          <a:latin typeface="Calibri"/>
                        </a:rPr>
                        <a:t>[0.840, 0.944]</a:t>
                      </a:r>
                    </a:p>
                  </a:txBody>
                  <a:tcPr anchor="ctr" marL="73152" marR="73152" marT="0" marB="0">
                    <a:solidFill>
                      <a:srgbClr val="FAFAF8"/>
                    </a:solidFill>
                  </a:tcPr>
                </a:tc>
              </a:tr>
            </a:tbl>
          </a:graphicData>
        </a:graphic>
      </p:graphicFrame>
      <p:sp>
        <p:nvSpPr>
          <p:cNvPr id="5" name="TextBox 4"/>
          <p:cNvSpPr txBox="1"/>
          <p:nvPr/>
        </p:nvSpPr>
        <p:spPr>
          <a:xfrm>
            <a:off x="640080" y="4709160"/>
            <a:ext cx="10881360" cy="457200"/>
          </a:xfrm>
          <a:prstGeom prst="rect">
            <a:avLst/>
          </a:prstGeom>
          <a:noFill/>
        </p:spPr>
        <p:txBody>
          <a:bodyPr wrap="square" lIns="0" rIns="0" tIns="0" bIns="0">
            <a:spAutoFit/>
          </a:bodyPr>
          <a:lstStyle/>
          <a:p>
            <a:pPr algn="l">
              <a:spcAft>
                <a:spcPts val="600"/>
              </a:spcAft>
            </a:pPr>
            <a:r>
              <a:rPr sz="1700" b="1" i="0">
                <a:solidFill>
                  <a:srgbClr val="B85042"/>
                </a:solidFill>
                <a:latin typeface="Calibri"/>
              </a:rPr>
              <a:t>78.5% of globally-wrong steps are arithmetically perfect — wrong only because a premise was.</a:t>
            </a:r>
          </a:p>
        </p:txBody>
      </p:sp>
      <p:sp>
        <p:nvSpPr>
          <p:cNvPr id="6" name="TextBox 5"/>
          <p:cNvSpPr txBox="1"/>
          <p:nvPr/>
        </p:nvSpPr>
        <p:spPr>
          <a:xfrm>
            <a:off x="640080" y="5257800"/>
            <a:ext cx="10881360" cy="64008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C1 is monotone in generator accuracy. Mistral's interval is disjoint from both others; Llama's and Qwen's overlap each other, so the ordering between those two is not resolved here.</a:t>
            </a:r>
          </a:p>
        </p:txBody>
      </p:sp>
      <p:sp>
        <p:nvSpPr>
          <p:cNvPr id="7" name="TextBox 6"/>
          <p:cNvSpPr txBox="1"/>
          <p:nvPr/>
        </p:nvSpPr>
        <p:spPr>
          <a:xfrm>
            <a:off x="640080" y="5943600"/>
            <a:ext cx="10881360" cy="457200"/>
          </a:xfrm>
          <a:prstGeom prst="rect">
            <a:avLst/>
          </a:prstGeom>
          <a:noFill/>
        </p:spPr>
        <p:txBody>
          <a:bodyPr wrap="square" lIns="0" rIns="0" tIns="0" bIns="0">
            <a:spAutoFit/>
          </a:bodyPr>
          <a:lstStyle/>
          <a:p>
            <a:pPr algn="l">
              <a:spcAft>
                <a:spcPts val="600"/>
              </a:spcAft>
            </a:pPr>
            <a:r>
              <a:rPr sz="1500" b="1" i="0">
                <a:solidFill>
                  <a:srgbClr val="2B3A42"/>
                </a:solidFill>
                <a:latin typeface="Calibri"/>
              </a:rPr>
              <a:t>Controlling local selective risk at level α bounds nothing about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836675"/>
          </a:xfrm>
          <a:prstGeom prst="rect">
            <a:avLst/>
          </a:prstGeom>
          <a:noFill/>
        </p:spPr>
        <p:txBody>
          <a:bodyPr wrap="square" lIns="0" rIns="0" tIns="0" bIns="0">
            <a:spAutoFit/>
          </a:bodyPr>
          <a:lstStyle/>
          <a:p>
            <a:pPr algn="l">
              <a:spcAft>
                <a:spcPts val="0"/>
              </a:spcAft>
            </a:pPr>
            <a:r>
              <a:rPr sz="2700" b="1" i="0">
                <a:solidFill>
                  <a:srgbClr val="2B3A42"/>
                </a:solidFill>
                <a:latin typeface="Cambria"/>
              </a:rPr>
              <a:t>Result 2 — verifier reach is the controlling variable, and it is semantic</a:t>
            </a:r>
          </a:p>
        </p:txBody>
      </p:sp>
      <p:sp>
        <p:nvSpPr>
          <p:cNvPr id="3" name="TextBox 2"/>
          <p:cNvSpPr txBox="1"/>
          <p:nvPr/>
        </p:nvSpPr>
        <p:spPr>
          <a:xfrm>
            <a:off x="640080" y="1339596"/>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Measured on the population deterministic checking provably cannot see</a:t>
            </a:r>
          </a:p>
        </p:txBody>
      </p:sp>
      <p:graphicFrame>
        <p:nvGraphicFramePr>
          <p:cNvPr id="4" name="Table 3"/>
          <p:cNvGraphicFramePr>
            <a:graphicFrameLocks noGrp="1"/>
          </p:cNvGraphicFramePr>
          <p:nvPr/>
        </p:nvGraphicFramePr>
        <p:xfrm>
          <a:off x="640080" y="1828800"/>
          <a:ext cx="10881358" cy="2304288"/>
        </p:xfrm>
        <a:graphic>
          <a:graphicData uri="http://schemas.openxmlformats.org/drawingml/2006/table">
            <a:tbl>
              <a:tblPr firstRow="1" bandRow="1">
                <a:tableStyleId>{5C22544A-7EE6-4342-B048-85BDC9FD1C3A}</a:tableStyleId>
              </a:tblPr>
              <a:tblGrid>
                <a:gridCol w="3752193"/>
                <a:gridCol w="1876096"/>
                <a:gridCol w="1876096"/>
                <a:gridCol w="1500877"/>
                <a:gridCol w="1876096"/>
              </a:tblGrid>
              <a:tr h="384048">
                <a:tc>
                  <a:txBody>
                    <a:bodyPr/>
                    <a:lstStyle/>
                    <a:p>
                      <a:pPr algn="l"/>
                      <a:r>
                        <a:rPr sz="1200" b="1">
                          <a:solidFill>
                            <a:srgbClr val="FFFFFF"/>
                          </a:solidFill>
                          <a:latin typeface="Calibri"/>
                        </a:rPr>
                        <a:t>Verifier</a:t>
                      </a:r>
                    </a:p>
                  </a:txBody>
                  <a:tcPr anchor="ctr" marL="73152" marR="73152" marT="0" marB="0">
                    <a:solidFill>
                      <a:srgbClr val="2B3A42"/>
                    </a:solidFill>
                  </a:tcPr>
                </a:tc>
                <a:tc>
                  <a:txBody>
                    <a:bodyPr/>
                    <a:lstStyle/>
                    <a:p>
                      <a:pPr algn="ctr"/>
                      <a:r>
                        <a:rPr sz="1200" b="1">
                          <a:solidFill>
                            <a:srgbClr val="FFFFFF"/>
                          </a:solidFill>
                          <a:latin typeface="Calibri"/>
                        </a:rPr>
                        <a:t>Independent?</a:t>
                      </a:r>
                    </a:p>
                  </a:txBody>
                  <a:tcPr anchor="ctr" marL="73152" marR="73152" marT="0" marB="0">
                    <a:solidFill>
                      <a:srgbClr val="2B3A42"/>
                    </a:solidFill>
                  </a:tcPr>
                </a:tc>
                <a:tc>
                  <a:txBody>
                    <a:bodyPr/>
                    <a:lstStyle/>
                    <a:p>
                      <a:pPr algn="ctr"/>
                      <a:r>
                        <a:rPr sz="1200" b="1">
                          <a:solidFill>
                            <a:srgbClr val="FFFFFF"/>
                          </a:solidFill>
                          <a:latin typeface="Calibri"/>
                        </a:rPr>
                        <a:t>Task-trained?</a:t>
                      </a:r>
                    </a:p>
                  </a:txBody>
                  <a:tcPr anchor="ctr" marL="73152" marR="73152" marT="0" marB="0">
                    <a:solidFill>
                      <a:srgbClr val="2B3A42"/>
                    </a:solidFill>
                  </a:tcPr>
                </a:tc>
                <a:tc>
                  <a:txBody>
                    <a:bodyPr/>
                    <a:lstStyle/>
                    <a:p>
                      <a:pPr algn="ctr"/>
                      <a:r>
                        <a:rPr sz="1200" b="1">
                          <a:solidFill>
                            <a:srgbClr val="FFFFFF"/>
                          </a:solidFill>
                          <a:latin typeface="Calibri"/>
                        </a:rPr>
                        <a:t>Scope</a:t>
                      </a:r>
                    </a:p>
                  </a:txBody>
                  <a:tcPr anchor="ctr" marL="73152" marR="73152" marT="0" marB="0">
                    <a:solidFill>
                      <a:srgbClr val="2B3A42"/>
                    </a:solidFill>
                  </a:tcPr>
                </a:tc>
                <a:tc>
                  <a:txBody>
                    <a:bodyPr/>
                    <a:lstStyle/>
                    <a:p>
                      <a:pPr algn="ctr"/>
                      <a:r>
                        <a:rPr sz="1200" b="1">
                          <a:solidFill>
                            <a:srgbClr val="FFFFFF"/>
                          </a:solidFill>
                          <a:latin typeface="Calibri"/>
                        </a:rPr>
                        <a:t>False alarm</a:t>
                      </a:r>
                    </a:p>
                  </a:txBody>
                  <a:tcPr anchor="ctr" marL="73152" marR="73152" marT="0" marB="0">
                    <a:solidFill>
                      <a:srgbClr val="2B3A42"/>
                    </a:solidFill>
                  </a:tcPr>
                </a:tc>
              </a:tr>
              <a:tr h="384048">
                <a:tc>
                  <a:txBody>
                    <a:bodyPr/>
                    <a:lstStyle/>
                    <a:p>
                      <a:pPr algn="l"/>
                      <a:r>
                        <a:rPr sz="1300" b="0">
                          <a:solidFill>
                            <a:srgbClr val="1A2228"/>
                          </a:solidFill>
                          <a:latin typeface="Calibri"/>
                        </a:rPr>
                        <a:t>arithmetic, step-local</a:t>
                      </a:r>
                    </a:p>
                  </a:txBody>
                  <a:tcPr anchor="ctr" marL="73152" marR="73152" marT="0" marB="0">
                    <a:solidFill>
                      <a:srgbClr val="FFFFFF"/>
                    </a:solidFill>
                  </a:tcPr>
                </a:tc>
                <a:tc>
                  <a:txBody>
                    <a:bodyPr/>
                    <a:lstStyle/>
                    <a:p>
                      <a:pPr algn="ctr"/>
                      <a:r>
                        <a:rPr sz="1300" b="0">
                          <a:solidFill>
                            <a:srgbClr val="1A2228"/>
                          </a:solidFill>
                          <a:latin typeface="Calibri"/>
                        </a:rPr>
                        <a:t>yes</a:t>
                      </a:r>
                    </a:p>
                  </a:txBody>
                  <a:tcPr anchor="ctr" marL="73152" marR="73152" marT="0" marB="0">
                    <a:solidFill>
                      <a:srgbClr val="FFFFFF"/>
                    </a:solidFill>
                  </a:tcPr>
                </a:tc>
                <a:tc>
                  <a:txBody>
                    <a:bodyPr/>
                    <a:lstStyle/>
                    <a:p>
                      <a:pPr algn="ctr"/>
                      <a:r>
                        <a:rPr sz="1300" b="0">
                          <a:solidFill>
                            <a:srgbClr val="1A2228"/>
                          </a:solidFill>
                          <a:latin typeface="Calibri"/>
                        </a:rPr>
                        <a:t>—</a:t>
                      </a:r>
                    </a:p>
                  </a:txBody>
                  <a:tcPr anchor="ctr" marL="73152" marR="73152" marT="0" marB="0">
                    <a:solidFill>
                      <a:srgbClr val="FFFFFF"/>
                    </a:solidFill>
                  </a:tcPr>
                </a:tc>
                <a:tc>
                  <a:txBody>
                    <a:bodyPr/>
                    <a:lstStyle/>
                    <a:p>
                      <a:pPr algn="ctr"/>
                      <a:r>
                        <a:rPr sz="1300" b="0">
                          <a:solidFill>
                            <a:srgbClr val="1A2228"/>
                          </a:solidFill>
                          <a:latin typeface="Calibri"/>
                        </a:rPr>
                        <a:t>0.0000</a:t>
                      </a:r>
                    </a:p>
                  </a:txBody>
                  <a:tcPr anchor="ctr" marL="73152" marR="73152" marT="0" marB="0">
                    <a:solidFill>
                      <a:srgbClr val="FFFFFF"/>
                    </a:solidFill>
                  </a:tcPr>
                </a:tc>
                <a:tc>
                  <a:txBody>
                    <a:bodyPr/>
                    <a:lstStyle/>
                    <a:p>
                      <a:pPr algn="ctr"/>
                      <a:r>
                        <a:rPr sz="1300" b="0">
                          <a:solidFill>
                            <a:srgbClr val="1A2228"/>
                          </a:solidFill>
                          <a:latin typeface="Calibri"/>
                        </a:rPr>
                        <a:t>—</a:t>
                      </a:r>
                    </a:p>
                  </a:txBody>
                  <a:tcPr anchor="ctr" marL="73152" marR="73152" marT="0" marB="0">
                    <a:solidFill>
                      <a:srgbClr val="FFFFFF"/>
                    </a:solidFill>
                  </a:tcPr>
                </a:tc>
              </a:tr>
              <a:tr h="384048">
                <a:tc>
                  <a:txBody>
                    <a:bodyPr/>
                    <a:lstStyle/>
                    <a:p>
                      <a:pPr algn="l"/>
                      <a:r>
                        <a:rPr sz="1300" b="0">
                          <a:solidFill>
                            <a:srgbClr val="1A2228"/>
                          </a:solidFill>
                          <a:latin typeface="Calibri"/>
                        </a:rPr>
                        <a:t>arithmetic, unbounded lookback</a:t>
                      </a:r>
                    </a:p>
                  </a:txBody>
                  <a:tcPr anchor="ctr" marL="73152" marR="73152" marT="0" marB="0">
                    <a:solidFill>
                      <a:srgbClr val="FAFAF8"/>
                    </a:solidFill>
                  </a:tcPr>
                </a:tc>
                <a:tc>
                  <a:txBody>
                    <a:bodyPr/>
                    <a:lstStyle/>
                    <a:p>
                      <a:pPr algn="ctr"/>
                      <a:r>
                        <a:rPr sz="1300" b="0">
                          <a:solidFill>
                            <a:srgbClr val="1A2228"/>
                          </a:solidFill>
                          <a:latin typeface="Calibri"/>
                        </a:rPr>
                        <a:t>yes</a:t>
                      </a:r>
                    </a:p>
                  </a:txBody>
                  <a:tcPr anchor="ctr" marL="73152" marR="73152" marT="0" marB="0">
                    <a:solidFill>
                      <a:srgbClr val="FAFAF8"/>
                    </a:solidFill>
                  </a:tcPr>
                </a:tc>
                <a:tc>
                  <a:txBody>
                    <a:bodyPr/>
                    <a:lstStyle/>
                    <a:p>
                      <a:pPr algn="ctr"/>
                      <a:r>
                        <a:rPr sz="1300" b="0">
                          <a:solidFill>
                            <a:srgbClr val="1A2228"/>
                          </a:solidFill>
                          <a:latin typeface="Calibri"/>
                        </a:rPr>
                        <a:t>—</a:t>
                      </a:r>
                    </a:p>
                  </a:txBody>
                  <a:tcPr anchor="ctr" marL="73152" marR="73152" marT="0" marB="0">
                    <a:solidFill>
                      <a:srgbClr val="FAFAF8"/>
                    </a:solidFill>
                  </a:tcPr>
                </a:tc>
                <a:tc>
                  <a:txBody>
                    <a:bodyPr/>
                    <a:lstStyle/>
                    <a:p>
                      <a:pPr algn="ctr"/>
                      <a:r>
                        <a:rPr sz="1300" b="0">
                          <a:solidFill>
                            <a:srgbClr val="1A2228"/>
                          </a:solidFill>
                          <a:latin typeface="Calibri"/>
                        </a:rPr>
                        <a:t>0.1999</a:t>
                      </a:r>
                    </a:p>
                  </a:txBody>
                  <a:tcPr anchor="ctr" marL="73152" marR="73152" marT="0" marB="0">
                    <a:solidFill>
                      <a:srgbClr val="FAFAF8"/>
                    </a:solidFill>
                  </a:tcPr>
                </a:tc>
                <a:tc>
                  <a:txBody>
                    <a:bodyPr/>
                    <a:lstStyle/>
                    <a:p>
                      <a:pPr algn="ctr"/>
                      <a:r>
                        <a:rPr sz="1300" b="0">
                          <a:solidFill>
                            <a:srgbClr val="1A2228"/>
                          </a:solidFill>
                          <a:latin typeface="Calibri"/>
                        </a:rPr>
                        <a:t>—</a:t>
                      </a:r>
                    </a:p>
                  </a:txBody>
                  <a:tcPr anchor="ctr" marL="73152" marR="73152" marT="0" marB="0">
                    <a:solidFill>
                      <a:srgbClr val="FAFAF8"/>
                    </a:solidFill>
                  </a:tcPr>
                </a:tc>
              </a:tr>
              <a:tr h="384048">
                <a:tc>
                  <a:txBody>
                    <a:bodyPr/>
                    <a:lstStyle/>
                    <a:p>
                      <a:pPr algn="l"/>
                      <a:r>
                        <a:rPr sz="1300" b="0">
                          <a:solidFill>
                            <a:srgbClr val="1A2228"/>
                          </a:solidFill>
                          <a:latin typeface="Calibri"/>
                        </a:rPr>
                        <a:t>same-model critic (the generator)</a:t>
                      </a:r>
                    </a:p>
                  </a:txBody>
                  <a:tcPr anchor="ctr" marL="73152" marR="73152" marT="0" marB="0">
                    <a:solidFill>
                      <a:srgbClr val="FFFFFF"/>
                    </a:solidFill>
                  </a:tcPr>
                </a:tc>
                <a:tc>
                  <a:txBody>
                    <a:bodyPr/>
                    <a:lstStyle/>
                    <a:p>
                      <a:pPr algn="ctr"/>
                      <a:r>
                        <a:rPr sz="1300" b="0">
                          <a:solidFill>
                            <a:srgbClr val="1A2228"/>
                          </a:solidFill>
                          <a:latin typeface="Calibri"/>
                        </a:rPr>
                        <a:t>NO</a:t>
                      </a:r>
                    </a:p>
                  </a:txBody>
                  <a:tcPr anchor="ctr" marL="73152" marR="73152" marT="0" marB="0">
                    <a:solidFill>
                      <a:srgbClr val="FFFFFF"/>
                    </a:solidFill>
                  </a:tcPr>
                </a:tc>
                <a:tc>
                  <a:txBody>
                    <a:bodyPr/>
                    <a:lstStyle/>
                    <a:p>
                      <a:pPr algn="ctr"/>
                      <a:r>
                        <a:rPr sz="1300" b="0">
                          <a:solidFill>
                            <a:srgbClr val="1A2228"/>
                          </a:solidFill>
                          <a:latin typeface="Calibri"/>
                        </a:rPr>
                        <a:t>no</a:t>
                      </a:r>
                    </a:p>
                  </a:txBody>
                  <a:tcPr anchor="ctr" marL="73152" marR="73152" marT="0" marB="0">
                    <a:solidFill>
                      <a:srgbClr val="FFFFFF"/>
                    </a:solidFill>
                  </a:tcPr>
                </a:tc>
                <a:tc>
                  <a:txBody>
                    <a:bodyPr/>
                    <a:lstStyle/>
                    <a:p>
                      <a:pPr algn="ctr"/>
                      <a:r>
                        <a:rPr sz="1300" b="0">
                          <a:solidFill>
                            <a:srgbClr val="1A2228"/>
                          </a:solidFill>
                          <a:latin typeface="Calibri"/>
                        </a:rPr>
                        <a:t>0.0000</a:t>
                      </a:r>
                    </a:p>
                  </a:txBody>
                  <a:tcPr anchor="ctr" marL="73152" marR="73152" marT="0" marB="0">
                    <a:solidFill>
                      <a:srgbClr val="FFFFFF"/>
                    </a:solidFill>
                  </a:tcPr>
                </a:tc>
                <a:tc>
                  <a:txBody>
                    <a:bodyPr/>
                    <a:lstStyle/>
                    <a:p>
                      <a:pPr algn="ctr"/>
                      <a:r>
                        <a:rPr sz="1300" b="0">
                          <a:solidFill>
                            <a:srgbClr val="1A2228"/>
                          </a:solidFill>
                          <a:latin typeface="Calibri"/>
                        </a:rPr>
                        <a:t>0.0000</a:t>
                      </a:r>
                    </a:p>
                  </a:txBody>
                  <a:tcPr anchor="ctr" marL="73152" marR="73152" marT="0" marB="0">
                    <a:solidFill>
                      <a:srgbClr val="FFFFFF"/>
                    </a:solidFill>
                  </a:tcPr>
                </a:tc>
              </a:tr>
              <a:tr h="384048">
                <a:tc>
                  <a:txBody>
                    <a:bodyPr/>
                    <a:lstStyle/>
                    <a:p>
                      <a:pPr algn="l"/>
                      <a:r>
                        <a:rPr sz="1300" b="0">
                          <a:solidFill>
                            <a:srgbClr val="1A2228"/>
                          </a:solidFill>
                          <a:latin typeface="Calibri"/>
                        </a:rPr>
                        <a:t>independent judge (Qwen2.5-7B)</a:t>
                      </a:r>
                    </a:p>
                  </a:txBody>
                  <a:tcPr anchor="ctr" marL="73152" marR="73152" marT="0" marB="0">
                    <a:solidFill>
                      <a:srgbClr val="FAFAF8"/>
                    </a:solidFill>
                  </a:tcPr>
                </a:tc>
                <a:tc>
                  <a:txBody>
                    <a:bodyPr/>
                    <a:lstStyle/>
                    <a:p>
                      <a:pPr algn="ctr"/>
                      <a:r>
                        <a:rPr sz="1300" b="0">
                          <a:solidFill>
                            <a:srgbClr val="1A2228"/>
                          </a:solidFill>
                          <a:latin typeface="Calibri"/>
                        </a:rPr>
                        <a:t>yes</a:t>
                      </a:r>
                    </a:p>
                  </a:txBody>
                  <a:tcPr anchor="ctr" marL="73152" marR="73152" marT="0" marB="0">
                    <a:solidFill>
                      <a:srgbClr val="FAFAF8"/>
                    </a:solidFill>
                  </a:tcPr>
                </a:tc>
                <a:tc>
                  <a:txBody>
                    <a:bodyPr/>
                    <a:lstStyle/>
                    <a:p>
                      <a:pPr algn="ctr"/>
                      <a:r>
                        <a:rPr sz="1300" b="0">
                          <a:solidFill>
                            <a:srgbClr val="1A2228"/>
                          </a:solidFill>
                          <a:latin typeface="Calibri"/>
                        </a:rPr>
                        <a:t>no</a:t>
                      </a:r>
                    </a:p>
                  </a:txBody>
                  <a:tcPr anchor="ctr" marL="73152" marR="73152" marT="0" marB="0">
                    <a:solidFill>
                      <a:srgbClr val="FAFAF8"/>
                    </a:solidFill>
                  </a:tcPr>
                </a:tc>
                <a:tc>
                  <a:txBody>
                    <a:bodyPr/>
                    <a:lstStyle/>
                    <a:p>
                      <a:pPr algn="ctr"/>
                      <a:r>
                        <a:rPr sz="1300" b="0">
                          <a:solidFill>
                            <a:srgbClr val="1A2228"/>
                          </a:solidFill>
                          <a:latin typeface="Calibri"/>
                        </a:rPr>
                        <a:t>0.2283</a:t>
                      </a:r>
                    </a:p>
                  </a:txBody>
                  <a:tcPr anchor="ctr" marL="73152" marR="73152" marT="0" marB="0">
                    <a:solidFill>
                      <a:srgbClr val="FAFAF8"/>
                    </a:solidFill>
                  </a:tcPr>
                </a:tc>
                <a:tc>
                  <a:txBody>
                    <a:bodyPr/>
                    <a:lstStyle/>
                    <a:p>
                      <a:pPr algn="ctr"/>
                      <a:r>
                        <a:rPr sz="1300" b="0">
                          <a:solidFill>
                            <a:srgbClr val="1A2228"/>
                          </a:solidFill>
                          <a:latin typeface="Calibri"/>
                        </a:rPr>
                        <a:t>0.0200</a:t>
                      </a:r>
                    </a:p>
                  </a:txBody>
                  <a:tcPr anchor="ctr" marL="73152" marR="73152" marT="0" marB="0">
                    <a:solidFill>
                      <a:srgbClr val="FAFAF8"/>
                    </a:solidFill>
                  </a:tcPr>
                </a:tc>
              </a:tr>
              <a:tr h="384048">
                <a:tc>
                  <a:txBody>
                    <a:bodyPr/>
                    <a:lstStyle/>
                    <a:p>
                      <a:pPr algn="l"/>
                      <a:r>
                        <a:rPr sz="1300" b="1">
                          <a:solidFill>
                            <a:srgbClr val="1A2228"/>
                          </a:solidFill>
                          <a:latin typeface="Calibri"/>
                        </a:rPr>
                        <a:t>task PRM (Math-Shepherd-7B)</a:t>
                      </a:r>
                    </a:p>
                  </a:txBody>
                  <a:tcPr anchor="ctr" marL="73152" marR="73152" marT="0" marB="0">
                    <a:solidFill>
                      <a:srgbClr val="E8E4E0"/>
                    </a:solidFill>
                  </a:tcPr>
                </a:tc>
                <a:tc>
                  <a:txBody>
                    <a:bodyPr/>
                    <a:lstStyle/>
                    <a:p>
                      <a:pPr algn="ctr"/>
                      <a:r>
                        <a:rPr sz="1300" b="1">
                          <a:solidFill>
                            <a:srgbClr val="1A2228"/>
                          </a:solidFill>
                          <a:latin typeface="Calibri"/>
                        </a:rPr>
                        <a:t>yes</a:t>
                      </a:r>
                    </a:p>
                  </a:txBody>
                  <a:tcPr anchor="ctr" marL="73152" marR="73152" marT="0" marB="0">
                    <a:solidFill>
                      <a:srgbClr val="E8E4E0"/>
                    </a:solidFill>
                  </a:tcPr>
                </a:tc>
                <a:tc>
                  <a:txBody>
                    <a:bodyPr/>
                    <a:lstStyle/>
                    <a:p>
                      <a:pPr algn="ctr"/>
                      <a:r>
                        <a:rPr sz="1300" b="1">
                          <a:solidFill>
                            <a:srgbClr val="1A2228"/>
                          </a:solidFill>
                          <a:latin typeface="Calibri"/>
                        </a:rPr>
                        <a:t>YES</a:t>
                      </a:r>
                    </a:p>
                  </a:txBody>
                  <a:tcPr anchor="ctr" marL="73152" marR="73152" marT="0" marB="0">
                    <a:solidFill>
                      <a:srgbClr val="E8E4E0"/>
                    </a:solidFill>
                  </a:tcPr>
                </a:tc>
                <a:tc>
                  <a:txBody>
                    <a:bodyPr/>
                    <a:lstStyle/>
                    <a:p>
                      <a:pPr algn="ctr"/>
                      <a:r>
                        <a:rPr sz="1300" b="1">
                          <a:solidFill>
                            <a:srgbClr val="1A2228"/>
                          </a:solidFill>
                          <a:latin typeface="Calibri"/>
                        </a:rPr>
                        <a:t>0.9033</a:t>
                      </a:r>
                    </a:p>
                  </a:txBody>
                  <a:tcPr anchor="ctr" marL="73152" marR="73152" marT="0" marB="0">
                    <a:solidFill>
                      <a:srgbClr val="E8E4E0"/>
                    </a:solidFill>
                  </a:tcPr>
                </a:tc>
                <a:tc>
                  <a:txBody>
                    <a:bodyPr/>
                    <a:lstStyle/>
                    <a:p>
                      <a:pPr algn="ctr"/>
                      <a:r>
                        <a:rPr sz="1300" b="1">
                          <a:solidFill>
                            <a:srgbClr val="1A2228"/>
                          </a:solidFill>
                          <a:latin typeface="Calibri"/>
                        </a:rPr>
                        <a:t>0.0987</a:t>
                      </a:r>
                    </a:p>
                  </a:txBody>
                  <a:tcPr anchor="ctr" marL="73152" marR="73152" marT="0" marB="0">
                    <a:solidFill>
                      <a:srgbClr val="E8E4E0"/>
                    </a:solidFill>
                  </a:tcPr>
                </a:tc>
              </a:tr>
            </a:tbl>
          </a:graphicData>
        </a:graphic>
      </p:graphicFrame>
      <p:sp>
        <p:nvSpPr>
          <p:cNvPr id="5" name="TextBox 4"/>
          <p:cNvSpPr txBox="1"/>
          <p:nvPr/>
        </p:nvSpPr>
        <p:spPr>
          <a:xfrm>
            <a:off x="640080" y="4434840"/>
            <a:ext cx="10881360" cy="640080"/>
          </a:xfrm>
          <a:prstGeom prst="rect">
            <a:avLst/>
          </a:prstGeom>
          <a:noFill/>
        </p:spPr>
        <p:txBody>
          <a:bodyPr wrap="square" lIns="0" rIns="0" tIns="0" bIns="0">
            <a:spAutoFit/>
          </a:bodyPr>
          <a:lstStyle/>
          <a:p>
            <a:pPr algn="l">
              <a:spcAft>
                <a:spcPts val="600"/>
              </a:spcAft>
            </a:pPr>
            <a:r>
              <a:rPr sz="1600" b="1" i="0">
                <a:solidFill>
                  <a:srgbClr val="2B3A42"/>
                </a:solidFill>
                <a:latin typeface="Calibri"/>
              </a:rPr>
              <a:t>Reach is not how far back you look. It requires independence from the generator AND task specialisation — neither alone suffices.</a:t>
            </a:r>
          </a:p>
        </p:txBody>
      </p:sp>
      <p:sp>
        <p:nvSpPr>
          <p:cNvPr id="6" name="TextBox 5"/>
          <p:cNvSpPr txBox="1"/>
          <p:nvPr/>
        </p:nvSpPr>
        <p:spPr>
          <a:xfrm>
            <a:off x="640080" y="516636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Widening an arithmetic window saturates at 0.1999 because 80.0% of inherited corruption has no upstream arithmetic error at all. The same-model critic detects zero errors — it is the model that wrote these solutions, asked whether they are sound.</a:t>
            </a:r>
          </a:p>
        </p:txBody>
      </p:sp>
      <p:sp>
        <p:nvSpPr>
          <p:cNvPr id="7" name="TextBox 6"/>
          <p:cNvSpPr txBox="1"/>
          <p:nvPr/>
        </p:nvSpPr>
        <p:spPr>
          <a:xfrm>
            <a:off x="640080" y="6035040"/>
            <a:ext cx="10881360" cy="457200"/>
          </a:xfrm>
          <a:prstGeom prst="rect">
            <a:avLst/>
          </a:prstGeom>
          <a:noFill/>
        </p:spPr>
        <p:txBody>
          <a:bodyPr wrap="square" lIns="0" rIns="0" tIns="0" bIns="0">
            <a:spAutoFit/>
          </a:bodyPr>
          <a:lstStyle/>
          <a:p>
            <a:pPr algn="l">
              <a:spcAft>
                <a:spcPts val="600"/>
              </a:spcAft>
            </a:pPr>
            <a:r>
              <a:rPr sz="1500" b="1" i="0">
                <a:solidFill>
                  <a:srgbClr val="B85042"/>
                </a:solidFill>
                <a:latin typeface="Calibri"/>
              </a:rPr>
              <a:t>The number that matters most later is not the 0.9033. It is the 0.0987 next to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Result 3 — "verify early" is false</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Final-answer error by allocation policy, GSM8K graphs broken out by depth</a:t>
            </a:r>
          </a:p>
        </p:txBody>
      </p:sp>
      <p:graphicFrame>
        <p:nvGraphicFramePr>
          <p:cNvPr id="4" name="Table 3"/>
          <p:cNvGraphicFramePr>
            <a:graphicFrameLocks noGrp="1"/>
          </p:cNvGraphicFramePr>
          <p:nvPr/>
        </p:nvGraphicFramePr>
        <p:xfrm>
          <a:off x="640080" y="1828800"/>
          <a:ext cx="10881360" cy="2194560"/>
        </p:xfrm>
        <a:graphic>
          <a:graphicData uri="http://schemas.openxmlformats.org/drawingml/2006/table">
            <a:tbl>
              <a:tblPr firstRow="1" bandRow="1">
                <a:tableStyleId>{5C22544A-7EE6-4342-B048-85BDC9FD1C3A}</a:tableStyleId>
              </a:tblPr>
              <a:tblGrid>
                <a:gridCol w="967232"/>
                <a:gridCol w="1209040"/>
                <a:gridCol w="1209040"/>
                <a:gridCol w="1209040"/>
                <a:gridCol w="1209040"/>
                <a:gridCol w="1450848"/>
                <a:gridCol w="1209040"/>
                <a:gridCol w="1209040"/>
                <a:gridCol w="1209040"/>
              </a:tblGrid>
              <a:tr h="365760">
                <a:tc>
                  <a:txBody>
                    <a:bodyPr/>
                    <a:lstStyle/>
                    <a:p>
                      <a:pPr algn="l"/>
                      <a:r>
                        <a:rPr sz="1200" b="1">
                          <a:solidFill>
                            <a:srgbClr val="FFFFFF"/>
                          </a:solidFill>
                          <a:latin typeface="Calibri"/>
                        </a:rPr>
                        <a:t>Depth</a:t>
                      </a:r>
                    </a:p>
                  </a:txBody>
                  <a:tcPr anchor="ctr" marL="73152" marR="73152" marT="0" marB="0">
                    <a:solidFill>
                      <a:srgbClr val="2B3A42"/>
                    </a:solidFill>
                  </a:tcPr>
                </a:tc>
                <a:tc>
                  <a:txBody>
                    <a:bodyPr/>
                    <a:lstStyle/>
                    <a:p>
                      <a:pPr algn="ctr"/>
                      <a:r>
                        <a:rPr sz="1200" b="1">
                          <a:solidFill>
                            <a:srgbClr val="FFFFFF"/>
                          </a:solidFill>
                          <a:latin typeface="Calibri"/>
                        </a:rPr>
                        <a:t>Graphs</a:t>
                      </a:r>
                    </a:p>
                  </a:txBody>
                  <a:tcPr anchor="ctr" marL="73152" marR="73152" marT="0" marB="0">
                    <a:solidFill>
                      <a:srgbClr val="2B3A42"/>
                    </a:solidFill>
                  </a:tcPr>
                </a:tc>
                <a:tc>
                  <a:txBody>
                    <a:bodyPr/>
                    <a:lstStyle/>
                    <a:p>
                      <a:pPr algn="ctr"/>
                      <a:r>
                        <a:rPr sz="1200" b="1">
                          <a:solidFill>
                            <a:srgbClr val="FFFFFF"/>
                          </a:solidFill>
                          <a:latin typeface="Calibri"/>
                        </a:rPr>
                        <a:t>uniform</a:t>
                      </a:r>
                    </a:p>
                  </a:txBody>
                  <a:tcPr anchor="ctr" marL="73152" marR="73152" marT="0" marB="0">
                    <a:solidFill>
                      <a:srgbClr val="2B3A42"/>
                    </a:solidFill>
                  </a:tcPr>
                </a:tc>
                <a:tc>
                  <a:txBody>
                    <a:bodyPr/>
                    <a:lstStyle/>
                    <a:p>
                      <a:pPr algn="ctr"/>
                      <a:r>
                        <a:rPr sz="1200" b="1">
                          <a:solidFill>
                            <a:srgbClr val="FFFFFF"/>
                          </a:solidFill>
                          <a:latin typeface="Calibri"/>
                        </a:rPr>
                        <a:t>front</a:t>
                      </a:r>
                    </a:p>
                  </a:txBody>
                  <a:tcPr anchor="ctr" marL="73152" marR="73152" marT="0" marB="0">
                    <a:solidFill>
                      <a:srgbClr val="2B3A42"/>
                    </a:solidFill>
                  </a:tcPr>
                </a:tc>
                <a:tc>
                  <a:txBody>
                    <a:bodyPr/>
                    <a:lstStyle/>
                    <a:p>
                      <a:pPr algn="ctr"/>
                      <a:r>
                        <a:rPr sz="1200" b="1">
                          <a:solidFill>
                            <a:srgbClr val="FFFFFF"/>
                          </a:solidFill>
                          <a:latin typeface="Calibri"/>
                        </a:rPr>
                        <a:t>back</a:t>
                      </a:r>
                    </a:p>
                  </a:txBody>
                  <a:tcPr anchor="ctr" marL="73152" marR="73152" marT="0" marB="0">
                    <a:solidFill>
                      <a:srgbClr val="2B3A42"/>
                    </a:solidFill>
                  </a:tcPr>
                </a:tc>
                <a:tc>
                  <a:txBody>
                    <a:bodyPr/>
                    <a:lstStyle/>
                    <a:p>
                      <a:pPr algn="ctr"/>
                      <a:r>
                        <a:rPr sz="1200" b="1">
                          <a:solidFill>
                            <a:srgbClr val="FFFFFF"/>
                          </a:solidFill>
                          <a:latin typeface="Calibri"/>
                        </a:rPr>
                        <a:t>influence</a:t>
                      </a:r>
                    </a:p>
                  </a:txBody>
                  <a:tcPr anchor="ctr" marL="73152" marR="73152" marT="0" marB="0">
                    <a:solidFill>
                      <a:srgbClr val="2B3A42"/>
                    </a:solidFill>
                  </a:tcPr>
                </a:tc>
                <a:tc>
                  <a:txBody>
                    <a:bodyPr/>
                    <a:lstStyle/>
                    <a:p>
                      <a:pPr algn="ctr"/>
                      <a:r>
                        <a:rPr sz="1200" b="1">
                          <a:solidFill>
                            <a:srgbClr val="FFFFFF"/>
                          </a:solidFill>
                          <a:latin typeface="Calibri"/>
                        </a:rPr>
                        <a:t>depth</a:t>
                      </a:r>
                    </a:p>
                  </a:txBody>
                  <a:tcPr anchor="ctr" marL="73152" marR="73152" marT="0" marB="0">
                    <a:solidFill>
                      <a:srgbClr val="2B3A42"/>
                    </a:solidFill>
                  </a:tcPr>
                </a:tc>
                <a:tc>
                  <a:txBody>
                    <a:bodyPr/>
                    <a:lstStyle/>
                    <a:p>
                      <a:pPr algn="ctr"/>
                      <a:r>
                        <a:rPr sz="1200" b="1">
                          <a:solidFill>
                            <a:srgbClr val="FFFFFF"/>
                          </a:solidFill>
                          <a:latin typeface="Calibri"/>
                        </a:rPr>
                        <a:t>cut</a:t>
                      </a:r>
                    </a:p>
                  </a:txBody>
                  <a:tcPr anchor="ctr" marL="73152" marR="73152" marT="0" marB="0">
                    <a:solidFill>
                      <a:srgbClr val="2B3A42"/>
                    </a:solidFill>
                  </a:tcPr>
                </a:tc>
                <a:tc>
                  <a:txBody>
                    <a:bodyPr/>
                    <a:lstStyle/>
                    <a:p>
                      <a:pPr algn="ctr"/>
                      <a:r>
                        <a:rPr sz="1200" b="1">
                          <a:solidFill>
                            <a:srgbClr val="FFFFFF"/>
                          </a:solidFill>
                          <a:latin typeface="Calibri"/>
                        </a:rPr>
                        <a:t>spread</a:t>
                      </a:r>
                    </a:p>
                  </a:txBody>
                  <a:tcPr anchor="ctr" marL="73152" marR="73152" marT="0" marB="0">
                    <a:solidFill>
                      <a:srgbClr val="2B3A42"/>
                    </a:solidFill>
                  </a:tcPr>
                </a:tc>
              </a:tr>
              <a:tr h="365760">
                <a:tc>
                  <a:txBody>
                    <a:bodyPr/>
                    <a:lstStyle/>
                    <a:p>
                      <a:pPr algn="l"/>
                      <a:r>
                        <a:rPr sz="1200" b="0">
                          <a:solidFill>
                            <a:srgbClr val="1A2228"/>
                          </a:solidFill>
                          <a:latin typeface="Calibri"/>
                        </a:rPr>
                        <a:t>2</a:t>
                      </a:r>
                    </a:p>
                  </a:txBody>
                  <a:tcPr anchor="ctr" marL="73152" marR="73152" marT="0" marB="0">
                    <a:solidFill>
                      <a:srgbClr val="FFFFFF"/>
                    </a:solidFill>
                  </a:tcPr>
                </a:tc>
                <a:tc>
                  <a:txBody>
                    <a:bodyPr/>
                    <a:lstStyle/>
                    <a:p>
                      <a:pPr algn="ctr"/>
                      <a:r>
                        <a:rPr sz="1200" b="0">
                          <a:solidFill>
                            <a:srgbClr val="1A2228"/>
                          </a:solidFill>
                          <a:latin typeface="Calibri"/>
                        </a:rPr>
                        <a:t>2,988</a:t>
                      </a:r>
                    </a:p>
                  </a:txBody>
                  <a:tcPr anchor="ctr" marL="73152" marR="73152" marT="0" marB="0">
                    <a:solidFill>
                      <a:srgbClr val="FFFFFF"/>
                    </a:solidFill>
                  </a:tcPr>
                </a:tc>
                <a:tc>
                  <a:txBody>
                    <a:bodyPr/>
                    <a:lstStyle/>
                    <a:p>
                      <a:pPr algn="ctr"/>
                      <a:r>
                        <a:rPr sz="1200" b="0">
                          <a:solidFill>
                            <a:srgbClr val="1A2228"/>
                          </a:solidFill>
                          <a:latin typeface="Calibri"/>
                        </a:rPr>
                        <a:t>0.2049</a:t>
                      </a:r>
                    </a:p>
                  </a:txBody>
                  <a:tcPr anchor="ctr" marL="73152" marR="73152" marT="0" marB="0">
                    <a:solidFill>
                      <a:srgbClr val="FFFFFF"/>
                    </a:solidFill>
                  </a:tcPr>
                </a:tc>
                <a:tc>
                  <a:txBody>
                    <a:bodyPr/>
                    <a:lstStyle/>
                    <a:p>
                      <a:pPr algn="ctr"/>
                      <a:r>
                        <a:rPr sz="1200" b="0">
                          <a:solidFill>
                            <a:srgbClr val="1A2228"/>
                          </a:solidFill>
                          <a:latin typeface="Calibri"/>
                        </a:rPr>
                        <a:t>0.2049</a:t>
                      </a:r>
                    </a:p>
                  </a:txBody>
                  <a:tcPr anchor="ctr" marL="73152" marR="73152" marT="0" marB="0">
                    <a:solidFill>
                      <a:srgbClr val="FFFFFF"/>
                    </a:solidFill>
                  </a:tcPr>
                </a:tc>
                <a:tc>
                  <a:txBody>
                    <a:bodyPr/>
                    <a:lstStyle/>
                    <a:p>
                      <a:pPr algn="ctr"/>
                      <a:r>
                        <a:rPr sz="1200" b="0">
                          <a:solidFill>
                            <a:srgbClr val="1A2228"/>
                          </a:solidFill>
                          <a:latin typeface="Calibri"/>
                        </a:rPr>
                        <a:t>0.2042</a:t>
                      </a:r>
                    </a:p>
                  </a:txBody>
                  <a:tcPr anchor="ctr" marL="73152" marR="73152" marT="0" marB="0">
                    <a:solidFill>
                      <a:srgbClr val="FFFFFF"/>
                    </a:solidFill>
                  </a:tcPr>
                </a:tc>
                <a:tc>
                  <a:txBody>
                    <a:bodyPr/>
                    <a:lstStyle/>
                    <a:p>
                      <a:pPr algn="ctr"/>
                      <a:r>
                        <a:rPr sz="1200" b="0">
                          <a:solidFill>
                            <a:srgbClr val="1A2228"/>
                          </a:solidFill>
                          <a:latin typeface="Calibri"/>
                        </a:rPr>
                        <a:t>0.2033</a:t>
                      </a:r>
                    </a:p>
                  </a:txBody>
                  <a:tcPr anchor="ctr" marL="73152" marR="73152" marT="0" marB="0">
                    <a:solidFill>
                      <a:srgbClr val="FFFFFF"/>
                    </a:solidFill>
                  </a:tcPr>
                </a:tc>
                <a:tc>
                  <a:txBody>
                    <a:bodyPr/>
                    <a:lstStyle/>
                    <a:p>
                      <a:pPr algn="ctr"/>
                      <a:r>
                        <a:rPr sz="1200" b="0">
                          <a:solidFill>
                            <a:srgbClr val="1A2228"/>
                          </a:solidFill>
                          <a:latin typeface="Calibri"/>
                        </a:rPr>
                        <a:t>0.2048</a:t>
                      </a:r>
                    </a:p>
                  </a:txBody>
                  <a:tcPr anchor="ctr" marL="73152" marR="73152" marT="0" marB="0">
                    <a:solidFill>
                      <a:srgbClr val="FFFFFF"/>
                    </a:solidFill>
                  </a:tcPr>
                </a:tc>
                <a:tc>
                  <a:txBody>
                    <a:bodyPr/>
                    <a:lstStyle/>
                    <a:p>
                      <a:pPr algn="ctr"/>
                      <a:r>
                        <a:rPr sz="1200" b="0">
                          <a:solidFill>
                            <a:srgbClr val="1A2228"/>
                          </a:solidFill>
                          <a:latin typeface="Calibri"/>
                        </a:rPr>
                        <a:t>0.2016</a:t>
                      </a:r>
                    </a:p>
                  </a:txBody>
                  <a:tcPr anchor="ctr" marL="73152" marR="73152" marT="0" marB="0">
                    <a:solidFill>
                      <a:srgbClr val="FFFFFF"/>
                    </a:solidFill>
                  </a:tcPr>
                </a:tc>
                <a:tc>
                  <a:txBody>
                    <a:bodyPr/>
                    <a:lstStyle/>
                    <a:p>
                      <a:pPr algn="ctr"/>
                      <a:r>
                        <a:rPr sz="1200" b="0">
                          <a:solidFill>
                            <a:srgbClr val="1A2228"/>
                          </a:solidFill>
                          <a:latin typeface="Calibri"/>
                        </a:rPr>
                        <a:t>0.0033</a:t>
                      </a:r>
                    </a:p>
                  </a:txBody>
                  <a:tcPr anchor="ctr" marL="73152" marR="73152" marT="0" marB="0">
                    <a:solidFill>
                      <a:srgbClr val="FFFFFF"/>
                    </a:solidFill>
                  </a:tcPr>
                </a:tc>
              </a:tr>
              <a:tr h="365760">
                <a:tc>
                  <a:txBody>
                    <a:bodyPr/>
                    <a:lstStyle/>
                    <a:p>
                      <a:pPr algn="l"/>
                      <a:r>
                        <a:rPr sz="1200" b="0">
                          <a:solidFill>
                            <a:srgbClr val="1A2228"/>
                          </a:solidFill>
                          <a:latin typeface="Calibri"/>
                        </a:rPr>
                        <a:t>3</a:t>
                      </a:r>
                    </a:p>
                  </a:txBody>
                  <a:tcPr anchor="ctr" marL="73152" marR="73152" marT="0" marB="0">
                    <a:solidFill>
                      <a:srgbClr val="FAFAF8"/>
                    </a:solidFill>
                  </a:tcPr>
                </a:tc>
                <a:tc>
                  <a:txBody>
                    <a:bodyPr/>
                    <a:lstStyle/>
                    <a:p>
                      <a:pPr algn="ctr"/>
                      <a:r>
                        <a:rPr sz="1200" b="0">
                          <a:solidFill>
                            <a:srgbClr val="1A2228"/>
                          </a:solidFill>
                          <a:latin typeface="Calibri"/>
                        </a:rPr>
                        <a:t>2,431</a:t>
                      </a:r>
                    </a:p>
                  </a:txBody>
                  <a:tcPr anchor="ctr" marL="73152" marR="73152" marT="0" marB="0">
                    <a:solidFill>
                      <a:srgbClr val="FAFAF8"/>
                    </a:solidFill>
                  </a:tcPr>
                </a:tc>
                <a:tc>
                  <a:txBody>
                    <a:bodyPr/>
                    <a:lstStyle/>
                    <a:p>
                      <a:pPr algn="ctr"/>
                      <a:r>
                        <a:rPr sz="1200" b="0">
                          <a:solidFill>
                            <a:srgbClr val="1A2228"/>
                          </a:solidFill>
                          <a:latin typeface="Calibri"/>
                        </a:rPr>
                        <a:t>0.2632</a:t>
                      </a:r>
                    </a:p>
                  </a:txBody>
                  <a:tcPr anchor="ctr" marL="73152" marR="73152" marT="0" marB="0">
                    <a:solidFill>
                      <a:srgbClr val="FAFAF8"/>
                    </a:solidFill>
                  </a:tcPr>
                </a:tc>
                <a:tc>
                  <a:txBody>
                    <a:bodyPr/>
                    <a:lstStyle/>
                    <a:p>
                      <a:pPr algn="ctr"/>
                      <a:r>
                        <a:rPr sz="1200" b="0">
                          <a:solidFill>
                            <a:srgbClr val="1A2228"/>
                          </a:solidFill>
                          <a:latin typeface="Calibri"/>
                        </a:rPr>
                        <a:t>0.2777</a:t>
                      </a:r>
                    </a:p>
                  </a:txBody>
                  <a:tcPr anchor="ctr" marL="73152" marR="73152" marT="0" marB="0">
                    <a:solidFill>
                      <a:srgbClr val="FAFAF8"/>
                    </a:solidFill>
                  </a:tcPr>
                </a:tc>
                <a:tc>
                  <a:txBody>
                    <a:bodyPr/>
                    <a:lstStyle/>
                    <a:p>
                      <a:pPr algn="ctr"/>
                      <a:r>
                        <a:rPr sz="1200" b="0">
                          <a:solidFill>
                            <a:srgbClr val="1A2228"/>
                          </a:solidFill>
                          <a:latin typeface="Calibri"/>
                        </a:rPr>
                        <a:t>0.2382</a:t>
                      </a:r>
                    </a:p>
                  </a:txBody>
                  <a:tcPr anchor="ctr" marL="73152" marR="73152" marT="0" marB="0">
                    <a:solidFill>
                      <a:srgbClr val="FAFAF8"/>
                    </a:solidFill>
                  </a:tcPr>
                </a:tc>
                <a:tc>
                  <a:txBody>
                    <a:bodyPr/>
                    <a:lstStyle/>
                    <a:p>
                      <a:pPr algn="ctr"/>
                      <a:r>
                        <a:rPr sz="1200" b="0">
                          <a:solidFill>
                            <a:srgbClr val="1A2228"/>
                          </a:solidFill>
                          <a:latin typeface="Calibri"/>
                        </a:rPr>
                        <a:t>0.2744</a:t>
                      </a:r>
                    </a:p>
                  </a:txBody>
                  <a:tcPr anchor="ctr" marL="73152" marR="73152" marT="0" marB="0">
                    <a:solidFill>
                      <a:srgbClr val="FAFAF8"/>
                    </a:solidFill>
                  </a:tcPr>
                </a:tc>
                <a:tc>
                  <a:txBody>
                    <a:bodyPr/>
                    <a:lstStyle/>
                    <a:p>
                      <a:pPr algn="ctr"/>
                      <a:r>
                        <a:rPr sz="1200" b="0">
                          <a:solidFill>
                            <a:srgbClr val="1A2228"/>
                          </a:solidFill>
                          <a:latin typeface="Calibri"/>
                        </a:rPr>
                        <a:t>0.2290</a:t>
                      </a:r>
                    </a:p>
                  </a:txBody>
                  <a:tcPr anchor="ctr" marL="73152" marR="73152" marT="0" marB="0">
                    <a:solidFill>
                      <a:srgbClr val="FAFAF8"/>
                    </a:solidFill>
                  </a:tcPr>
                </a:tc>
                <a:tc>
                  <a:txBody>
                    <a:bodyPr/>
                    <a:lstStyle/>
                    <a:p>
                      <a:pPr algn="ctr"/>
                      <a:r>
                        <a:rPr sz="1200" b="0">
                          <a:solidFill>
                            <a:srgbClr val="1A2228"/>
                          </a:solidFill>
                          <a:latin typeface="Calibri"/>
                        </a:rPr>
                        <a:t>0.2423</a:t>
                      </a:r>
                    </a:p>
                  </a:txBody>
                  <a:tcPr anchor="ctr" marL="73152" marR="73152" marT="0" marB="0">
                    <a:solidFill>
                      <a:srgbClr val="FAFAF8"/>
                    </a:solidFill>
                  </a:tcPr>
                </a:tc>
                <a:tc>
                  <a:txBody>
                    <a:bodyPr/>
                    <a:lstStyle/>
                    <a:p>
                      <a:pPr algn="ctr"/>
                      <a:r>
                        <a:rPr sz="1200" b="0">
                          <a:solidFill>
                            <a:srgbClr val="1A2228"/>
                          </a:solidFill>
                          <a:latin typeface="Calibri"/>
                        </a:rPr>
                        <a:t>0.0488</a:t>
                      </a:r>
                    </a:p>
                  </a:txBody>
                  <a:tcPr anchor="ctr" marL="73152" marR="73152" marT="0" marB="0">
                    <a:solidFill>
                      <a:srgbClr val="FAFAF8"/>
                    </a:solidFill>
                  </a:tcPr>
                </a:tc>
              </a:tr>
              <a:tr h="365760">
                <a:tc>
                  <a:txBody>
                    <a:bodyPr/>
                    <a:lstStyle/>
                    <a:p>
                      <a:pPr algn="l"/>
                      <a:r>
                        <a:rPr sz="1200" b="0">
                          <a:solidFill>
                            <a:srgbClr val="1A2228"/>
                          </a:solidFill>
                          <a:latin typeface="Calibri"/>
                        </a:rPr>
                        <a:t>4</a:t>
                      </a:r>
                    </a:p>
                  </a:txBody>
                  <a:tcPr anchor="ctr" marL="73152" marR="73152" marT="0" marB="0">
                    <a:solidFill>
                      <a:srgbClr val="FFFFFF"/>
                    </a:solidFill>
                  </a:tcPr>
                </a:tc>
                <a:tc>
                  <a:txBody>
                    <a:bodyPr/>
                    <a:lstStyle/>
                    <a:p>
                      <a:pPr algn="ctr"/>
                      <a:r>
                        <a:rPr sz="1200" b="0">
                          <a:solidFill>
                            <a:srgbClr val="1A2228"/>
                          </a:solidFill>
                          <a:latin typeface="Calibri"/>
                        </a:rPr>
                        <a:t>1,010</a:t>
                      </a:r>
                    </a:p>
                  </a:txBody>
                  <a:tcPr anchor="ctr" marL="73152" marR="73152" marT="0" marB="0">
                    <a:solidFill>
                      <a:srgbClr val="FFFFFF"/>
                    </a:solidFill>
                  </a:tcPr>
                </a:tc>
                <a:tc>
                  <a:txBody>
                    <a:bodyPr/>
                    <a:lstStyle/>
                    <a:p>
                      <a:pPr algn="ctr"/>
                      <a:r>
                        <a:rPr sz="1200" b="0">
                          <a:solidFill>
                            <a:srgbClr val="1A2228"/>
                          </a:solidFill>
                          <a:latin typeface="Calibri"/>
                        </a:rPr>
                        <a:t>0.2992</a:t>
                      </a:r>
                    </a:p>
                  </a:txBody>
                  <a:tcPr anchor="ctr" marL="73152" marR="73152" marT="0" marB="0">
                    <a:solidFill>
                      <a:srgbClr val="FFFFFF"/>
                    </a:solidFill>
                  </a:tcPr>
                </a:tc>
                <a:tc>
                  <a:txBody>
                    <a:bodyPr/>
                    <a:lstStyle/>
                    <a:p>
                      <a:pPr algn="ctr"/>
                      <a:r>
                        <a:rPr sz="1200" b="0">
                          <a:solidFill>
                            <a:srgbClr val="1A2228"/>
                          </a:solidFill>
                          <a:latin typeface="Calibri"/>
                        </a:rPr>
                        <a:t>0.3269</a:t>
                      </a:r>
                    </a:p>
                  </a:txBody>
                  <a:tcPr anchor="ctr" marL="73152" marR="73152" marT="0" marB="0">
                    <a:solidFill>
                      <a:srgbClr val="FFFFFF"/>
                    </a:solidFill>
                  </a:tcPr>
                </a:tc>
                <a:tc>
                  <a:txBody>
                    <a:bodyPr/>
                    <a:lstStyle/>
                    <a:p>
                      <a:pPr algn="ctr"/>
                      <a:r>
                        <a:rPr sz="1200" b="0">
                          <a:solidFill>
                            <a:srgbClr val="1A2228"/>
                          </a:solidFill>
                          <a:latin typeface="Calibri"/>
                        </a:rPr>
                        <a:t>0.2577</a:t>
                      </a:r>
                    </a:p>
                  </a:txBody>
                  <a:tcPr anchor="ctr" marL="73152" marR="73152" marT="0" marB="0">
                    <a:solidFill>
                      <a:srgbClr val="FFFFFF"/>
                    </a:solidFill>
                  </a:tcPr>
                </a:tc>
                <a:tc>
                  <a:txBody>
                    <a:bodyPr/>
                    <a:lstStyle/>
                    <a:p>
                      <a:pPr algn="ctr"/>
                      <a:r>
                        <a:rPr sz="1200" b="0">
                          <a:solidFill>
                            <a:srgbClr val="1A2228"/>
                          </a:solidFill>
                          <a:latin typeface="Calibri"/>
                        </a:rPr>
                        <a:t>0.3241</a:t>
                      </a:r>
                    </a:p>
                  </a:txBody>
                  <a:tcPr anchor="ctr" marL="73152" marR="73152" marT="0" marB="0">
                    <a:solidFill>
                      <a:srgbClr val="FFFFFF"/>
                    </a:solidFill>
                  </a:tcPr>
                </a:tc>
                <a:tc>
                  <a:txBody>
                    <a:bodyPr/>
                    <a:lstStyle/>
                    <a:p>
                      <a:pPr algn="ctr"/>
                      <a:r>
                        <a:rPr sz="1200" b="0">
                          <a:solidFill>
                            <a:srgbClr val="1A2228"/>
                          </a:solidFill>
                          <a:latin typeface="Calibri"/>
                        </a:rPr>
                        <a:t>0.2455</a:t>
                      </a:r>
                    </a:p>
                  </a:txBody>
                  <a:tcPr anchor="ctr" marL="73152" marR="73152" marT="0" marB="0">
                    <a:solidFill>
                      <a:srgbClr val="FFFFFF"/>
                    </a:solidFill>
                  </a:tcPr>
                </a:tc>
                <a:tc>
                  <a:txBody>
                    <a:bodyPr/>
                    <a:lstStyle/>
                    <a:p>
                      <a:pPr algn="ctr"/>
                      <a:r>
                        <a:rPr sz="1200" b="0">
                          <a:solidFill>
                            <a:srgbClr val="1A2228"/>
                          </a:solidFill>
                          <a:latin typeface="Calibri"/>
                        </a:rPr>
                        <a:t>0.2746</a:t>
                      </a:r>
                    </a:p>
                  </a:txBody>
                  <a:tcPr anchor="ctr" marL="73152" marR="73152" marT="0" marB="0">
                    <a:solidFill>
                      <a:srgbClr val="FFFFFF"/>
                    </a:solidFill>
                  </a:tcPr>
                </a:tc>
                <a:tc>
                  <a:txBody>
                    <a:bodyPr/>
                    <a:lstStyle/>
                    <a:p>
                      <a:pPr algn="ctr"/>
                      <a:r>
                        <a:rPr sz="1200" b="0">
                          <a:solidFill>
                            <a:srgbClr val="1A2228"/>
                          </a:solidFill>
                          <a:latin typeface="Calibri"/>
                        </a:rPr>
                        <a:t>0.0814</a:t>
                      </a:r>
                    </a:p>
                  </a:txBody>
                  <a:tcPr anchor="ctr" marL="73152" marR="73152" marT="0" marB="0">
                    <a:solidFill>
                      <a:srgbClr val="FFFFFF"/>
                    </a:solidFill>
                  </a:tcPr>
                </a:tc>
              </a:tr>
              <a:tr h="365760">
                <a:tc>
                  <a:txBody>
                    <a:bodyPr/>
                    <a:lstStyle/>
                    <a:p>
                      <a:pPr algn="l"/>
                      <a:r>
                        <a:rPr sz="1200" b="0">
                          <a:solidFill>
                            <a:srgbClr val="1A2228"/>
                          </a:solidFill>
                          <a:latin typeface="Calibri"/>
                        </a:rPr>
                        <a:t>5</a:t>
                      </a:r>
                    </a:p>
                  </a:txBody>
                  <a:tcPr anchor="ctr" marL="73152" marR="73152" marT="0" marB="0">
                    <a:solidFill>
                      <a:srgbClr val="FAFAF8"/>
                    </a:solidFill>
                  </a:tcPr>
                </a:tc>
                <a:tc>
                  <a:txBody>
                    <a:bodyPr/>
                    <a:lstStyle/>
                    <a:p>
                      <a:pPr algn="ctr"/>
                      <a:r>
                        <a:rPr sz="1200" b="0">
                          <a:solidFill>
                            <a:srgbClr val="1A2228"/>
                          </a:solidFill>
                          <a:latin typeface="Calibri"/>
                        </a:rPr>
                        <a:t>308</a:t>
                      </a:r>
                    </a:p>
                  </a:txBody>
                  <a:tcPr anchor="ctr" marL="73152" marR="73152" marT="0" marB="0">
                    <a:solidFill>
                      <a:srgbClr val="FAFAF8"/>
                    </a:solidFill>
                  </a:tcPr>
                </a:tc>
                <a:tc>
                  <a:txBody>
                    <a:bodyPr/>
                    <a:lstStyle/>
                    <a:p>
                      <a:pPr algn="ctr"/>
                      <a:r>
                        <a:rPr sz="1200" b="0">
                          <a:solidFill>
                            <a:srgbClr val="1A2228"/>
                          </a:solidFill>
                          <a:latin typeface="Calibri"/>
                        </a:rPr>
                        <a:t>0.3221</a:t>
                      </a:r>
                    </a:p>
                  </a:txBody>
                  <a:tcPr anchor="ctr" marL="73152" marR="73152" marT="0" marB="0">
                    <a:solidFill>
                      <a:srgbClr val="FAFAF8"/>
                    </a:solidFill>
                  </a:tcPr>
                </a:tc>
                <a:tc>
                  <a:txBody>
                    <a:bodyPr/>
                    <a:lstStyle/>
                    <a:p>
                      <a:pPr algn="ctr"/>
                      <a:r>
                        <a:rPr sz="1200" b="0">
                          <a:solidFill>
                            <a:srgbClr val="1A2228"/>
                          </a:solidFill>
                          <a:latin typeface="Calibri"/>
                        </a:rPr>
                        <a:t>0.3618</a:t>
                      </a:r>
                    </a:p>
                  </a:txBody>
                  <a:tcPr anchor="ctr" marL="73152" marR="73152" marT="0" marB="0">
                    <a:solidFill>
                      <a:srgbClr val="FAFAF8"/>
                    </a:solidFill>
                  </a:tcPr>
                </a:tc>
                <a:tc>
                  <a:txBody>
                    <a:bodyPr/>
                    <a:lstStyle/>
                    <a:p>
                      <a:pPr algn="ctr"/>
                      <a:r>
                        <a:rPr sz="1200" b="0">
                          <a:solidFill>
                            <a:srgbClr val="1A2228"/>
                          </a:solidFill>
                          <a:latin typeface="Calibri"/>
                        </a:rPr>
                        <a:t>0.2632</a:t>
                      </a:r>
                    </a:p>
                  </a:txBody>
                  <a:tcPr anchor="ctr" marL="73152" marR="73152" marT="0" marB="0">
                    <a:solidFill>
                      <a:srgbClr val="FAFAF8"/>
                    </a:solidFill>
                  </a:tcPr>
                </a:tc>
                <a:tc>
                  <a:txBody>
                    <a:bodyPr/>
                    <a:lstStyle/>
                    <a:p>
                      <a:pPr algn="ctr"/>
                      <a:r>
                        <a:rPr sz="1200" b="0">
                          <a:solidFill>
                            <a:srgbClr val="1A2228"/>
                          </a:solidFill>
                          <a:latin typeface="Calibri"/>
                        </a:rPr>
                        <a:t>0.3600</a:t>
                      </a:r>
                    </a:p>
                  </a:txBody>
                  <a:tcPr anchor="ctr" marL="73152" marR="73152" marT="0" marB="0">
                    <a:solidFill>
                      <a:srgbClr val="FAFAF8"/>
                    </a:solidFill>
                  </a:tcPr>
                </a:tc>
                <a:tc>
                  <a:txBody>
                    <a:bodyPr/>
                    <a:lstStyle/>
                    <a:p>
                      <a:pPr algn="ctr"/>
                      <a:r>
                        <a:rPr sz="1200" b="0">
                          <a:solidFill>
                            <a:srgbClr val="1A2228"/>
                          </a:solidFill>
                          <a:latin typeface="Calibri"/>
                        </a:rPr>
                        <a:t>0.2533</a:t>
                      </a:r>
                    </a:p>
                  </a:txBody>
                  <a:tcPr anchor="ctr" marL="73152" marR="73152" marT="0" marB="0">
                    <a:solidFill>
                      <a:srgbClr val="FAFAF8"/>
                    </a:solidFill>
                  </a:tcPr>
                </a:tc>
                <a:tc>
                  <a:txBody>
                    <a:bodyPr/>
                    <a:lstStyle/>
                    <a:p>
                      <a:pPr algn="ctr"/>
                      <a:r>
                        <a:rPr sz="1200" b="0">
                          <a:solidFill>
                            <a:srgbClr val="1A2228"/>
                          </a:solidFill>
                          <a:latin typeface="Calibri"/>
                        </a:rPr>
                        <a:t>0.2983</a:t>
                      </a:r>
                    </a:p>
                  </a:txBody>
                  <a:tcPr anchor="ctr" marL="73152" marR="73152" marT="0" marB="0">
                    <a:solidFill>
                      <a:srgbClr val="FAFAF8"/>
                    </a:solidFill>
                  </a:tcPr>
                </a:tc>
                <a:tc>
                  <a:txBody>
                    <a:bodyPr/>
                    <a:lstStyle/>
                    <a:p>
                      <a:pPr algn="ctr"/>
                      <a:r>
                        <a:rPr sz="1200" b="0">
                          <a:solidFill>
                            <a:srgbClr val="1A2228"/>
                          </a:solidFill>
                          <a:latin typeface="Calibri"/>
                        </a:rPr>
                        <a:t>0.1084</a:t>
                      </a:r>
                    </a:p>
                  </a:txBody>
                  <a:tcPr anchor="ctr" marL="73152" marR="73152" marT="0" marB="0">
                    <a:solidFill>
                      <a:srgbClr val="FAFAF8"/>
                    </a:solidFill>
                  </a:tcPr>
                </a:tc>
              </a:tr>
              <a:tr h="365760">
                <a:tc>
                  <a:txBody>
                    <a:bodyPr/>
                    <a:lstStyle/>
                    <a:p>
                      <a:pPr algn="l"/>
                      <a:r>
                        <a:rPr sz="1200" b="0">
                          <a:solidFill>
                            <a:srgbClr val="1A2228"/>
                          </a:solidFill>
                          <a:latin typeface="Calibri"/>
                        </a:rPr>
                        <a:t>6</a:t>
                      </a:r>
                    </a:p>
                  </a:txBody>
                  <a:tcPr anchor="ctr" marL="73152" marR="73152" marT="0" marB="0">
                    <a:solidFill>
                      <a:srgbClr val="FFFFFF"/>
                    </a:solidFill>
                  </a:tcPr>
                </a:tc>
                <a:tc>
                  <a:txBody>
                    <a:bodyPr/>
                    <a:lstStyle/>
                    <a:p>
                      <a:pPr algn="ctr"/>
                      <a:r>
                        <a:rPr sz="1200" b="0">
                          <a:solidFill>
                            <a:srgbClr val="1A2228"/>
                          </a:solidFill>
                          <a:latin typeface="Calibri"/>
                        </a:rPr>
                        <a:t>52</a:t>
                      </a:r>
                    </a:p>
                  </a:txBody>
                  <a:tcPr anchor="ctr" marL="73152" marR="73152" marT="0" marB="0">
                    <a:solidFill>
                      <a:srgbClr val="FFFFFF"/>
                    </a:solidFill>
                  </a:tcPr>
                </a:tc>
                <a:tc>
                  <a:txBody>
                    <a:bodyPr/>
                    <a:lstStyle/>
                    <a:p>
                      <a:pPr algn="ctr"/>
                      <a:r>
                        <a:rPr sz="1200" b="0">
                          <a:solidFill>
                            <a:srgbClr val="1A2228"/>
                          </a:solidFill>
                          <a:latin typeface="Calibri"/>
                        </a:rPr>
                        <a:t>0.3578</a:t>
                      </a:r>
                    </a:p>
                  </a:txBody>
                  <a:tcPr anchor="ctr" marL="73152" marR="73152" marT="0" marB="0">
                    <a:solidFill>
                      <a:srgbClr val="FFFFFF"/>
                    </a:solidFill>
                  </a:tcPr>
                </a:tc>
                <a:tc>
                  <a:txBody>
                    <a:bodyPr/>
                    <a:lstStyle/>
                    <a:p>
                      <a:pPr algn="ctr"/>
                      <a:r>
                        <a:rPr sz="1200" b="0">
                          <a:solidFill>
                            <a:srgbClr val="1A2228"/>
                          </a:solidFill>
                          <a:latin typeface="Calibri"/>
                        </a:rPr>
                        <a:t>0.4059</a:t>
                      </a:r>
                    </a:p>
                  </a:txBody>
                  <a:tcPr anchor="ctr" marL="73152" marR="73152" marT="0" marB="0">
                    <a:solidFill>
                      <a:srgbClr val="FFFFFF"/>
                    </a:solidFill>
                  </a:tcPr>
                </a:tc>
                <a:tc>
                  <a:txBody>
                    <a:bodyPr/>
                    <a:lstStyle/>
                    <a:p>
                      <a:pPr algn="ctr"/>
                      <a:r>
                        <a:rPr sz="1200" b="0">
                          <a:solidFill>
                            <a:srgbClr val="1A2228"/>
                          </a:solidFill>
                          <a:latin typeface="Calibri"/>
                        </a:rPr>
                        <a:t>0.2872</a:t>
                      </a:r>
                    </a:p>
                  </a:txBody>
                  <a:tcPr anchor="ctr" marL="73152" marR="73152" marT="0" marB="0">
                    <a:solidFill>
                      <a:srgbClr val="FFFFFF"/>
                    </a:solidFill>
                  </a:tcPr>
                </a:tc>
                <a:tc>
                  <a:txBody>
                    <a:bodyPr/>
                    <a:lstStyle/>
                    <a:p>
                      <a:pPr algn="ctr"/>
                      <a:r>
                        <a:rPr sz="1200" b="0">
                          <a:solidFill>
                            <a:srgbClr val="1A2228"/>
                          </a:solidFill>
                          <a:latin typeface="Calibri"/>
                        </a:rPr>
                        <a:t>0.4013</a:t>
                      </a:r>
                    </a:p>
                  </a:txBody>
                  <a:tcPr anchor="ctr" marL="73152" marR="73152" marT="0" marB="0">
                    <a:solidFill>
                      <a:srgbClr val="FFFFFF"/>
                    </a:solidFill>
                  </a:tcPr>
                </a:tc>
                <a:tc>
                  <a:txBody>
                    <a:bodyPr/>
                    <a:lstStyle/>
                    <a:p>
                      <a:pPr algn="ctr"/>
                      <a:r>
                        <a:rPr sz="1200" b="0">
                          <a:solidFill>
                            <a:srgbClr val="1A2228"/>
                          </a:solidFill>
                          <a:latin typeface="Calibri"/>
                        </a:rPr>
                        <a:t>0.2779</a:t>
                      </a:r>
                    </a:p>
                  </a:txBody>
                  <a:tcPr anchor="ctr" marL="73152" marR="73152" marT="0" marB="0">
                    <a:solidFill>
                      <a:srgbClr val="FFFFFF"/>
                    </a:solidFill>
                  </a:tcPr>
                </a:tc>
                <a:tc>
                  <a:txBody>
                    <a:bodyPr/>
                    <a:lstStyle/>
                    <a:p>
                      <a:pPr algn="ctr"/>
                      <a:r>
                        <a:rPr sz="1200" b="0">
                          <a:solidFill>
                            <a:srgbClr val="1A2228"/>
                          </a:solidFill>
                          <a:latin typeface="Calibri"/>
                        </a:rPr>
                        <a:t>0.3373</a:t>
                      </a:r>
                    </a:p>
                  </a:txBody>
                  <a:tcPr anchor="ctr" marL="73152" marR="73152" marT="0" marB="0">
                    <a:solidFill>
                      <a:srgbClr val="FFFFFF"/>
                    </a:solidFill>
                  </a:tcPr>
                </a:tc>
                <a:tc>
                  <a:txBody>
                    <a:bodyPr/>
                    <a:lstStyle/>
                    <a:p>
                      <a:pPr algn="ctr"/>
                      <a:r>
                        <a:rPr sz="1200" b="0">
                          <a:solidFill>
                            <a:srgbClr val="1A2228"/>
                          </a:solidFill>
                          <a:latin typeface="Calibri"/>
                        </a:rPr>
                        <a:t>0.1279</a:t>
                      </a:r>
                    </a:p>
                  </a:txBody>
                  <a:tcPr anchor="ctr" marL="73152" marR="73152" marT="0" marB="0">
                    <a:solidFill>
                      <a:srgbClr val="FFFFFF"/>
                    </a:solidFill>
                  </a:tcPr>
                </a:tc>
              </a:tr>
            </a:tbl>
          </a:graphicData>
        </a:graphic>
      </p:graphicFrame>
      <p:sp>
        <p:nvSpPr>
          <p:cNvPr id="5" name="TextBox 4"/>
          <p:cNvSpPr txBox="1"/>
          <p:nvPr/>
        </p:nvSpPr>
        <p:spPr>
          <a:xfrm>
            <a:off x="640080" y="434340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front and influence are the two worst policies on both benchmarks. The spread grows monotonically with depth — 0.0033 to 0.1279 — and they diverge from the field in exactly the regime the thesis is about. At depth 6, front-loading costs 12.8 points.</a:t>
            </a:r>
          </a:p>
        </p:txBody>
      </p:sp>
      <p:sp>
        <p:nvSpPr>
          <p:cNvPr id="6" name="TextBox 5"/>
          <p:cNvSpPr txBox="1"/>
          <p:nvPr/>
        </p:nvSpPr>
        <p:spPr>
          <a:xfrm>
            <a:off x="640080" y="5212080"/>
            <a:ext cx="10881360" cy="73152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The last defence — that early steps are intrinsically harder — is closed by measurement: corr(position, local error) = +0.950, error doubling from 11% at step 1 to 22% at step 8.</a:t>
            </a:r>
          </a:p>
        </p:txBody>
      </p:sp>
      <p:sp>
        <p:nvSpPr>
          <p:cNvPr id="7" name="TextBox 6"/>
          <p:cNvSpPr txBox="1"/>
          <p:nvPr/>
        </p:nvSpPr>
        <p:spPr>
          <a:xfrm>
            <a:off x="640080" y="5943600"/>
            <a:ext cx="10881360" cy="457200"/>
          </a:xfrm>
          <a:prstGeom prst="rect">
            <a:avLst/>
          </a:prstGeom>
          <a:noFill/>
        </p:spPr>
        <p:txBody>
          <a:bodyPr wrap="square" lIns="0" rIns="0" tIns="0" bIns="0">
            <a:spAutoFit/>
          </a:bodyPr>
          <a:lstStyle/>
          <a:p>
            <a:pPr algn="l">
              <a:spcAft>
                <a:spcPts val="600"/>
              </a:spcAft>
            </a:pPr>
            <a:r>
              <a:rPr sz="1500" b="1" i="0">
                <a:solidFill>
                  <a:srgbClr val="B85042"/>
                </a:solidFill>
                <a:latin typeface="Calibri"/>
              </a:rPr>
              <a:t>The useful structural signal is ancestor count, not descendant count. That is the opposite of the proposed rule.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Result 4 — the assembled gate does not control risk</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500 Qwen solutions, 2,573 steps, split 175 dev / 143 calibration / 182 test</a:t>
            </a:r>
          </a:p>
        </p:txBody>
      </p:sp>
      <p:sp>
        <p:nvSpPr>
          <p:cNvPr id="4" name="TextBox 3"/>
          <p:cNvSpPr txBox="1"/>
          <p:nvPr/>
        </p:nvSpPr>
        <p:spPr>
          <a:xfrm>
            <a:off x="640080" y="1783080"/>
            <a:ext cx="5120640" cy="365760"/>
          </a:xfrm>
          <a:prstGeom prst="rect">
            <a:avLst/>
          </a:prstGeom>
          <a:noFill/>
        </p:spPr>
        <p:txBody>
          <a:bodyPr wrap="square" lIns="0" rIns="0" tIns="0" bIns="0">
            <a:spAutoFit/>
          </a:bodyPr>
          <a:lstStyle/>
          <a:p>
            <a:pPr algn="l">
              <a:spcAft>
                <a:spcPts val="600"/>
              </a:spcAft>
            </a:pPr>
            <a:r>
              <a:rPr sz="1600" b="1" i="0">
                <a:solidFill>
                  <a:srgbClr val="2B3A42"/>
                </a:solidFill>
                <a:latin typeface="Cambria"/>
              </a:rPr>
              <a:t>The signal does not rank the risk</a:t>
            </a:r>
          </a:p>
        </p:txBody>
      </p:sp>
      <p:graphicFrame>
        <p:nvGraphicFramePr>
          <p:cNvPr id="5" name="Table 4"/>
          <p:cNvGraphicFramePr>
            <a:graphicFrameLocks noGrp="1"/>
          </p:cNvGraphicFramePr>
          <p:nvPr/>
        </p:nvGraphicFramePr>
        <p:xfrm>
          <a:off x="640080" y="2240280"/>
          <a:ext cx="5120638" cy="2084832"/>
        </p:xfrm>
        <a:graphic>
          <a:graphicData uri="http://schemas.openxmlformats.org/drawingml/2006/table">
            <a:tbl>
              <a:tblPr firstRow="1" bandRow="1">
                <a:tableStyleId>{5C22544A-7EE6-4342-B048-85BDC9FD1C3A}</a:tableStyleId>
              </a:tblPr>
              <a:tblGrid>
                <a:gridCol w="3413759"/>
                <a:gridCol w="1706879"/>
              </a:tblGrid>
              <a:tr h="347472">
                <a:tc>
                  <a:txBody>
                    <a:bodyPr/>
                    <a:lstStyle/>
                    <a:p>
                      <a:pPr algn="l"/>
                      <a:r>
                        <a:rPr sz="1200" b="1">
                          <a:solidFill>
                            <a:srgbClr val="FFFFFF"/>
                          </a:solidFill>
                          <a:latin typeface="Calibri"/>
                        </a:rPr>
                        <a:t>Feature set</a:t>
                      </a:r>
                    </a:p>
                  </a:txBody>
                  <a:tcPr anchor="ctr" marL="73152" marR="73152" marT="0" marB="0">
                    <a:solidFill>
                      <a:srgbClr val="2B3A42"/>
                    </a:solidFill>
                  </a:tcPr>
                </a:tc>
                <a:tc>
                  <a:txBody>
                    <a:bodyPr/>
                    <a:lstStyle/>
                    <a:p>
                      <a:pPr algn="ctr"/>
                      <a:r>
                        <a:rPr sz="1200" b="1">
                          <a:solidFill>
                            <a:srgbClr val="FFFFFF"/>
                          </a:solidFill>
                          <a:latin typeface="Calibri"/>
                        </a:rPr>
                        <a:t>AUROC (test)</a:t>
                      </a:r>
                    </a:p>
                  </a:txBody>
                  <a:tcPr anchor="ctr" marL="73152" marR="73152" marT="0" marB="0">
                    <a:solidFill>
                      <a:srgbClr val="2B3A42"/>
                    </a:solidFill>
                  </a:tcPr>
                </a:tc>
              </a:tr>
              <a:tr h="347472">
                <a:tc>
                  <a:txBody>
                    <a:bodyPr/>
                    <a:lstStyle/>
                    <a:p>
                      <a:pPr algn="l"/>
                      <a:r>
                        <a:rPr sz="1250" b="0">
                          <a:solidFill>
                            <a:srgbClr val="1A2228"/>
                          </a:solidFill>
                          <a:latin typeface="Calibri"/>
                        </a:rPr>
                        <a:t>token-level only</a:t>
                      </a:r>
                    </a:p>
                  </a:txBody>
                  <a:tcPr anchor="ctr" marL="73152" marR="73152" marT="0" marB="0">
                    <a:solidFill>
                      <a:srgbClr val="FFFFFF"/>
                    </a:solidFill>
                  </a:tcPr>
                </a:tc>
                <a:tc>
                  <a:txBody>
                    <a:bodyPr/>
                    <a:lstStyle/>
                    <a:p>
                      <a:pPr algn="ctr"/>
                      <a:r>
                        <a:rPr sz="1250" b="0">
                          <a:solidFill>
                            <a:srgbClr val="1A2228"/>
                          </a:solidFill>
                          <a:latin typeface="Calibri"/>
                        </a:rPr>
                        <a:t>0.5589</a:t>
                      </a:r>
                    </a:p>
                  </a:txBody>
                  <a:tcPr anchor="ctr" marL="73152" marR="73152" marT="0" marB="0">
                    <a:solidFill>
                      <a:srgbClr val="FFFFFF"/>
                    </a:solidFill>
                  </a:tcPr>
                </a:tc>
              </a:tr>
              <a:tr h="347472">
                <a:tc>
                  <a:txBody>
                    <a:bodyPr/>
                    <a:lstStyle/>
                    <a:p>
                      <a:pPr algn="l"/>
                      <a:r>
                        <a:rPr sz="1250" b="0">
                          <a:solidFill>
                            <a:srgbClr val="1A2228"/>
                          </a:solidFill>
                          <a:latin typeface="Calibri"/>
                        </a:rPr>
                        <a:t>semantic divergence only</a:t>
                      </a:r>
                    </a:p>
                  </a:txBody>
                  <a:tcPr anchor="ctr" marL="73152" marR="73152" marT="0" marB="0">
                    <a:solidFill>
                      <a:srgbClr val="FAFAF8"/>
                    </a:solidFill>
                  </a:tcPr>
                </a:tc>
                <a:tc>
                  <a:txBody>
                    <a:bodyPr/>
                    <a:lstStyle/>
                    <a:p>
                      <a:pPr algn="ctr"/>
                      <a:r>
                        <a:rPr sz="1250" b="0">
                          <a:solidFill>
                            <a:srgbClr val="1A2228"/>
                          </a:solidFill>
                          <a:latin typeface="Calibri"/>
                        </a:rPr>
                        <a:t>0.5740</a:t>
                      </a:r>
                    </a:p>
                  </a:txBody>
                  <a:tcPr anchor="ctr" marL="73152" marR="73152" marT="0" marB="0">
                    <a:solidFill>
                      <a:srgbClr val="FAFAF8"/>
                    </a:solidFill>
                  </a:tcPr>
                </a:tc>
              </a:tr>
              <a:tr h="347472">
                <a:tc>
                  <a:txBody>
                    <a:bodyPr/>
                    <a:lstStyle/>
                    <a:p>
                      <a:pPr algn="l"/>
                      <a:r>
                        <a:rPr sz="1250" b="0">
                          <a:solidFill>
                            <a:srgbClr val="1A2228"/>
                          </a:solidFill>
                          <a:latin typeface="Calibri"/>
                        </a:rPr>
                        <a:t>both</a:t>
                      </a:r>
                    </a:p>
                  </a:txBody>
                  <a:tcPr anchor="ctr" marL="73152" marR="73152" marT="0" marB="0">
                    <a:solidFill>
                      <a:srgbClr val="FFFFFF"/>
                    </a:solidFill>
                  </a:tcPr>
                </a:tc>
                <a:tc>
                  <a:txBody>
                    <a:bodyPr/>
                    <a:lstStyle/>
                    <a:p>
                      <a:pPr algn="ctr"/>
                      <a:r>
                        <a:rPr sz="1250" b="0">
                          <a:solidFill>
                            <a:srgbClr val="1A2228"/>
                          </a:solidFill>
                          <a:latin typeface="Calibri"/>
                        </a:rPr>
                        <a:t>0.5742</a:t>
                      </a:r>
                    </a:p>
                  </a:txBody>
                  <a:tcPr anchor="ctr" marL="73152" marR="73152" marT="0" marB="0">
                    <a:solidFill>
                      <a:srgbClr val="FFFFFF"/>
                    </a:solidFill>
                  </a:tcPr>
                </a:tc>
              </a:tr>
              <a:tr h="347472">
                <a:tc>
                  <a:txBody>
                    <a:bodyPr/>
                    <a:lstStyle/>
                    <a:p>
                      <a:pPr algn="l"/>
                      <a:r>
                        <a:rPr sz="1250" b="0">
                          <a:solidFill>
                            <a:srgbClr val="1A2228"/>
                          </a:solidFill>
                          <a:latin typeface="Calibri"/>
                        </a:rPr>
                        <a:t>synthetic control (1 s.d.)</a:t>
                      </a:r>
                    </a:p>
                  </a:txBody>
                  <a:tcPr anchor="ctr" marL="73152" marR="73152" marT="0" marB="0">
                    <a:solidFill>
                      <a:srgbClr val="FAFAF8"/>
                    </a:solidFill>
                  </a:tcPr>
                </a:tc>
                <a:tc>
                  <a:txBody>
                    <a:bodyPr/>
                    <a:lstStyle/>
                    <a:p>
                      <a:pPr algn="ctr"/>
                      <a:r>
                        <a:rPr sz="1250" b="0">
                          <a:solidFill>
                            <a:srgbClr val="1A2228"/>
                          </a:solidFill>
                          <a:latin typeface="Calibri"/>
                        </a:rPr>
                        <a:t>0.8668</a:t>
                      </a:r>
                    </a:p>
                  </a:txBody>
                  <a:tcPr anchor="ctr" marL="73152" marR="73152" marT="0" marB="0">
                    <a:solidFill>
                      <a:srgbClr val="FAFAF8"/>
                    </a:solidFill>
                  </a:tcPr>
                </a:tc>
              </a:tr>
              <a:tr h="347472">
                <a:tc>
                  <a:txBody>
                    <a:bodyPr/>
                    <a:lstStyle/>
                    <a:p>
                      <a:pPr algn="l"/>
                      <a:r>
                        <a:rPr sz="1250" b="0">
                          <a:solidFill>
                            <a:srgbClr val="1A2228"/>
                          </a:solidFill>
                          <a:latin typeface="Calibri"/>
                        </a:rPr>
                        <a:t>pure noise control</a:t>
                      </a:r>
                    </a:p>
                  </a:txBody>
                  <a:tcPr anchor="ctr" marL="73152" marR="73152" marT="0" marB="0">
                    <a:solidFill>
                      <a:srgbClr val="FFFFFF"/>
                    </a:solidFill>
                  </a:tcPr>
                </a:tc>
                <a:tc>
                  <a:txBody>
                    <a:bodyPr/>
                    <a:lstStyle/>
                    <a:p>
                      <a:pPr algn="ctr"/>
                      <a:r>
                        <a:rPr sz="1250" b="0">
                          <a:solidFill>
                            <a:srgbClr val="1A2228"/>
                          </a:solidFill>
                          <a:latin typeface="Calibri"/>
                        </a:rPr>
                        <a:t>0.4828</a:t>
                      </a:r>
                    </a:p>
                  </a:txBody>
                  <a:tcPr anchor="ctr" marL="73152" marR="73152" marT="0" marB="0">
                    <a:solidFill>
                      <a:srgbClr val="FFFFFF"/>
                    </a:solidFill>
                  </a:tcPr>
                </a:tc>
              </a:tr>
            </a:tbl>
          </a:graphicData>
        </a:graphic>
      </p:graphicFrame>
      <p:sp>
        <p:nvSpPr>
          <p:cNvPr id="6" name="TextBox 5"/>
          <p:cNvSpPr txBox="1"/>
          <p:nvPr/>
        </p:nvSpPr>
        <p:spPr>
          <a:xfrm>
            <a:off x="6309360" y="1783080"/>
            <a:ext cx="5212080" cy="365760"/>
          </a:xfrm>
          <a:prstGeom prst="rect">
            <a:avLst/>
          </a:prstGeom>
          <a:noFill/>
        </p:spPr>
        <p:txBody>
          <a:bodyPr wrap="square" lIns="0" rIns="0" tIns="0" bIns="0">
            <a:spAutoFit/>
          </a:bodyPr>
          <a:lstStyle/>
          <a:p>
            <a:pPr algn="l">
              <a:spcAft>
                <a:spcPts val="600"/>
              </a:spcAft>
            </a:pPr>
            <a:r>
              <a:rPr sz="1600" b="1" i="0">
                <a:solidFill>
                  <a:srgbClr val="2B3A42"/>
                </a:solidFill>
                <a:latin typeface="Cambria"/>
              </a:rPr>
              <a:t>Coverage holds; risk does not</a:t>
            </a:r>
          </a:p>
        </p:txBody>
      </p:sp>
      <p:graphicFrame>
        <p:nvGraphicFramePr>
          <p:cNvPr id="7" name="Table 6"/>
          <p:cNvGraphicFramePr>
            <a:graphicFrameLocks noGrp="1"/>
          </p:cNvGraphicFramePr>
          <p:nvPr/>
        </p:nvGraphicFramePr>
        <p:xfrm>
          <a:off x="6309360" y="2240280"/>
          <a:ext cx="5212080" cy="2084832"/>
        </p:xfrm>
        <a:graphic>
          <a:graphicData uri="http://schemas.openxmlformats.org/drawingml/2006/table">
            <a:tbl>
              <a:tblPr firstRow="1" bandRow="1">
                <a:tableStyleId>{5C22544A-7EE6-4342-B048-85BDC9FD1C3A}</a:tableStyleId>
              </a:tblPr>
              <a:tblGrid>
                <a:gridCol w="1158240"/>
                <a:gridCol w="1158240"/>
                <a:gridCol w="1447800"/>
                <a:gridCol w="1447800"/>
              </a:tblGrid>
              <a:tr h="347472">
                <a:tc>
                  <a:txBody>
                    <a:bodyPr/>
                    <a:lstStyle/>
                    <a:p>
                      <a:pPr algn="l"/>
                      <a:r>
                        <a:rPr sz="1200" b="1">
                          <a:solidFill>
                            <a:srgbClr val="FFFFFF"/>
                          </a:solidFill>
                          <a:latin typeface="Calibri"/>
                        </a:rPr>
                        <a:t>α</a:t>
                      </a:r>
                    </a:p>
                  </a:txBody>
                  <a:tcPr anchor="ctr" marL="73152" marR="73152" marT="0" marB="0">
                    <a:solidFill>
                      <a:srgbClr val="2B3A42"/>
                    </a:solidFill>
                  </a:tcPr>
                </a:tc>
                <a:tc>
                  <a:txBody>
                    <a:bodyPr/>
                    <a:lstStyle/>
                    <a:p>
                      <a:pPr algn="ctr"/>
                      <a:r>
                        <a:rPr sz="1200" b="1">
                          <a:solidFill>
                            <a:srgbClr val="FFFFFF"/>
                          </a:solidFill>
                          <a:latin typeface="Calibri"/>
                        </a:rPr>
                        <a:t>binds?</a:t>
                      </a:r>
                    </a:p>
                  </a:txBody>
                  <a:tcPr anchor="ctr" marL="73152" marR="73152" marT="0" marB="0">
                    <a:solidFill>
                      <a:srgbClr val="2B3A42"/>
                    </a:solidFill>
                  </a:tcPr>
                </a:tc>
                <a:tc>
                  <a:txBody>
                    <a:bodyPr/>
                    <a:lstStyle/>
                    <a:p>
                      <a:pPr algn="ctr"/>
                      <a:r>
                        <a:rPr sz="1200" b="1">
                          <a:solidFill>
                            <a:srgbClr val="FFFFFF"/>
                          </a:solidFill>
                          <a:latin typeface="Calibri"/>
                        </a:rPr>
                        <a:t>risk</a:t>
                      </a:r>
                    </a:p>
                  </a:txBody>
                  <a:tcPr anchor="ctr" marL="73152" marR="73152" marT="0" marB="0">
                    <a:solidFill>
                      <a:srgbClr val="2B3A42"/>
                    </a:solidFill>
                  </a:tcPr>
                </a:tc>
                <a:tc>
                  <a:txBody>
                    <a:bodyPr/>
                    <a:lstStyle/>
                    <a:p>
                      <a:pPr algn="ctr"/>
                      <a:r>
                        <a:rPr sz="1200" b="1">
                          <a:solidFill>
                            <a:srgbClr val="FFFFFF"/>
                          </a:solidFill>
                          <a:latin typeface="Calibri"/>
                        </a:rPr>
                        <a:t>verify %</a:t>
                      </a:r>
                    </a:p>
                  </a:txBody>
                  <a:tcPr anchor="ctr" marL="73152" marR="73152" marT="0" marB="0">
                    <a:solidFill>
                      <a:srgbClr val="2B3A42"/>
                    </a:solidFill>
                  </a:tcPr>
                </a:tc>
              </a:tr>
              <a:tr h="347472">
                <a:tc>
                  <a:txBody>
                    <a:bodyPr/>
                    <a:lstStyle/>
                    <a:p>
                      <a:pPr algn="l"/>
                      <a:r>
                        <a:rPr sz="1250" b="1">
                          <a:solidFill>
                            <a:srgbClr val="1A2228"/>
                          </a:solidFill>
                          <a:latin typeface="Calibri"/>
                        </a:rPr>
                        <a:t>0.05</a:t>
                      </a:r>
                    </a:p>
                  </a:txBody>
                  <a:tcPr anchor="ctr" marL="73152" marR="73152" marT="0" marB="0">
                    <a:solidFill>
                      <a:srgbClr val="E8E4E0"/>
                    </a:solidFill>
                  </a:tcPr>
                </a:tc>
                <a:tc>
                  <a:txBody>
                    <a:bodyPr/>
                    <a:lstStyle/>
                    <a:p>
                      <a:pPr algn="ctr"/>
                      <a:r>
                        <a:rPr sz="1250" b="1">
                          <a:solidFill>
                            <a:srgbClr val="1A2228"/>
                          </a:solidFill>
                          <a:latin typeface="Calibri"/>
                        </a:rPr>
                        <a:t>yes</a:t>
                      </a:r>
                    </a:p>
                  </a:txBody>
                  <a:tcPr anchor="ctr" marL="73152" marR="73152" marT="0" marB="0">
                    <a:solidFill>
                      <a:srgbClr val="E8E4E0"/>
                    </a:solidFill>
                  </a:tcPr>
                </a:tc>
                <a:tc>
                  <a:txBody>
                    <a:bodyPr/>
                    <a:lstStyle/>
                    <a:p>
                      <a:pPr algn="ctr"/>
                      <a:r>
                        <a:rPr sz="1250" b="1">
                          <a:solidFill>
                            <a:srgbClr val="1A2228"/>
                          </a:solidFill>
                          <a:latin typeface="Calibri"/>
                        </a:rPr>
                        <a:t>0.1491</a:t>
                      </a:r>
                    </a:p>
                  </a:txBody>
                  <a:tcPr anchor="ctr" marL="73152" marR="73152" marT="0" marB="0">
                    <a:solidFill>
                      <a:srgbClr val="E8E4E0"/>
                    </a:solidFill>
                  </a:tcPr>
                </a:tc>
                <a:tc>
                  <a:txBody>
                    <a:bodyPr/>
                    <a:lstStyle/>
                    <a:p>
                      <a:pPr algn="ctr"/>
                      <a:r>
                        <a:rPr sz="1250" b="1">
                          <a:solidFill>
                            <a:srgbClr val="1A2228"/>
                          </a:solidFill>
                          <a:latin typeface="Calibri"/>
                        </a:rPr>
                        <a:t>4.6%</a:t>
                      </a:r>
                    </a:p>
                  </a:txBody>
                  <a:tcPr anchor="ctr" marL="73152" marR="73152" marT="0" marB="0">
                    <a:solidFill>
                      <a:srgbClr val="E8E4E0"/>
                    </a:solidFill>
                  </a:tcPr>
                </a:tc>
              </a:tr>
              <a:tr h="347472">
                <a:tc>
                  <a:txBody>
                    <a:bodyPr/>
                    <a:lstStyle/>
                    <a:p>
                      <a:pPr algn="l"/>
                      <a:r>
                        <a:rPr sz="1250" b="0">
                          <a:solidFill>
                            <a:srgbClr val="1A2228"/>
                          </a:solidFill>
                          <a:latin typeface="Calibri"/>
                        </a:rPr>
                        <a:t>0.10</a:t>
                      </a:r>
                    </a:p>
                  </a:txBody>
                  <a:tcPr anchor="ctr" marL="73152" marR="73152" marT="0" marB="0">
                    <a:solidFill>
                      <a:srgbClr val="FAFAF8"/>
                    </a:solidFill>
                  </a:tcPr>
                </a:tc>
                <a:tc>
                  <a:txBody>
                    <a:bodyPr/>
                    <a:lstStyle/>
                    <a:p>
                      <a:pPr algn="ctr"/>
                      <a:r>
                        <a:rPr sz="1250" b="0">
                          <a:solidFill>
                            <a:srgbClr val="1A2228"/>
                          </a:solidFill>
                          <a:latin typeface="Calibri"/>
                        </a:rPr>
                        <a:t>yes</a:t>
                      </a:r>
                    </a:p>
                  </a:txBody>
                  <a:tcPr anchor="ctr" marL="73152" marR="73152" marT="0" marB="0">
                    <a:solidFill>
                      <a:srgbClr val="FAFAF8"/>
                    </a:solidFill>
                  </a:tcPr>
                </a:tc>
                <a:tc>
                  <a:txBody>
                    <a:bodyPr/>
                    <a:lstStyle/>
                    <a:p>
                      <a:pPr algn="ctr"/>
                      <a:r>
                        <a:rPr sz="1250" b="0">
                          <a:solidFill>
                            <a:srgbClr val="1A2228"/>
                          </a:solidFill>
                          <a:latin typeface="Calibri"/>
                        </a:rPr>
                        <a:t>0.1494</a:t>
                      </a:r>
                    </a:p>
                  </a:txBody>
                  <a:tcPr anchor="ctr" marL="73152" marR="73152" marT="0" marB="0">
                    <a:solidFill>
                      <a:srgbClr val="FAFAF8"/>
                    </a:solidFill>
                  </a:tcPr>
                </a:tc>
                <a:tc>
                  <a:txBody>
                    <a:bodyPr/>
                    <a:lstStyle/>
                    <a:p>
                      <a:pPr algn="ctr"/>
                      <a:r>
                        <a:rPr sz="1250" b="0">
                          <a:solidFill>
                            <a:srgbClr val="1A2228"/>
                          </a:solidFill>
                          <a:latin typeface="Calibri"/>
                        </a:rPr>
                        <a:t>9.2%</a:t>
                      </a:r>
                    </a:p>
                  </a:txBody>
                  <a:tcPr anchor="ctr" marL="73152" marR="73152" marT="0" marB="0">
                    <a:solidFill>
                      <a:srgbClr val="FAFAF8"/>
                    </a:solidFill>
                  </a:tcPr>
                </a:tc>
              </a:tr>
              <a:tr h="347472">
                <a:tc>
                  <a:txBody>
                    <a:bodyPr/>
                    <a:lstStyle/>
                    <a:p>
                      <a:pPr algn="l"/>
                      <a:r>
                        <a:rPr sz="1250" b="0">
                          <a:solidFill>
                            <a:srgbClr val="1A2228"/>
                          </a:solidFill>
                          <a:latin typeface="Calibri"/>
                        </a:rPr>
                        <a:t>0.15</a:t>
                      </a:r>
                    </a:p>
                  </a:txBody>
                  <a:tcPr anchor="ctr" marL="73152" marR="73152" marT="0" marB="0">
                    <a:solidFill>
                      <a:srgbClr val="FFFFFF"/>
                    </a:solidFill>
                  </a:tcPr>
                </a:tc>
                <a:tc>
                  <a:txBody>
                    <a:bodyPr/>
                    <a:lstStyle/>
                    <a:p>
                      <a:pPr algn="ctr"/>
                      <a:r>
                        <a:rPr sz="1250" b="0">
                          <a:solidFill>
                            <a:srgbClr val="1A2228"/>
                          </a:solidFill>
                          <a:latin typeface="Calibri"/>
                        </a:rPr>
                        <a:t>yes</a:t>
                      </a:r>
                    </a:p>
                  </a:txBody>
                  <a:tcPr anchor="ctr" marL="73152" marR="73152" marT="0" marB="0">
                    <a:solidFill>
                      <a:srgbClr val="FFFFFF"/>
                    </a:solidFill>
                  </a:tcPr>
                </a:tc>
                <a:tc>
                  <a:txBody>
                    <a:bodyPr/>
                    <a:lstStyle/>
                    <a:p>
                      <a:pPr algn="ctr"/>
                      <a:r>
                        <a:rPr sz="1250" b="0">
                          <a:solidFill>
                            <a:srgbClr val="1A2228"/>
                          </a:solidFill>
                          <a:latin typeface="Calibri"/>
                        </a:rPr>
                        <a:t>0.1516</a:t>
                      </a:r>
                    </a:p>
                  </a:txBody>
                  <a:tcPr anchor="ctr" marL="73152" marR="73152" marT="0" marB="0">
                    <a:solidFill>
                      <a:srgbClr val="FFFFFF"/>
                    </a:solidFill>
                  </a:tcPr>
                </a:tc>
                <a:tc>
                  <a:txBody>
                    <a:bodyPr/>
                    <a:lstStyle/>
                    <a:p>
                      <a:pPr algn="ctr"/>
                      <a:r>
                        <a:rPr sz="1250" b="0">
                          <a:solidFill>
                            <a:srgbClr val="1A2228"/>
                          </a:solidFill>
                          <a:latin typeface="Calibri"/>
                        </a:rPr>
                        <a:t>14.1%</a:t>
                      </a:r>
                    </a:p>
                  </a:txBody>
                  <a:tcPr anchor="ctr" marL="73152" marR="73152" marT="0" marB="0">
                    <a:solidFill>
                      <a:srgbClr val="FFFFFF"/>
                    </a:solidFill>
                  </a:tcPr>
                </a:tc>
              </a:tr>
              <a:tr h="347472">
                <a:tc>
                  <a:txBody>
                    <a:bodyPr/>
                    <a:lstStyle/>
                    <a:p>
                      <a:pPr algn="l"/>
                      <a:r>
                        <a:rPr sz="1250" b="0">
                          <a:solidFill>
                            <a:srgbClr val="1A2228"/>
                          </a:solidFill>
                          <a:latin typeface="Calibri"/>
                        </a:rPr>
                        <a:t>0.20</a:t>
                      </a:r>
                    </a:p>
                  </a:txBody>
                  <a:tcPr anchor="ctr" marL="73152" marR="73152" marT="0" marB="0">
                    <a:solidFill>
                      <a:srgbClr val="FAFAF8"/>
                    </a:solidFill>
                  </a:tcPr>
                </a:tc>
                <a:tc>
                  <a:txBody>
                    <a:bodyPr/>
                    <a:lstStyle/>
                    <a:p>
                      <a:pPr algn="ctr"/>
                      <a:r>
                        <a:rPr sz="1250" b="0">
                          <a:solidFill>
                            <a:srgbClr val="1A2228"/>
                          </a:solidFill>
                          <a:latin typeface="Calibri"/>
                        </a:rPr>
                        <a:t>no</a:t>
                      </a:r>
                    </a:p>
                  </a:txBody>
                  <a:tcPr anchor="ctr" marL="73152" marR="73152" marT="0" marB="0">
                    <a:solidFill>
                      <a:srgbClr val="FAFAF8"/>
                    </a:solidFill>
                  </a:tcPr>
                </a:tc>
                <a:tc>
                  <a:txBody>
                    <a:bodyPr/>
                    <a:lstStyle/>
                    <a:p>
                      <a:pPr algn="ctr"/>
                      <a:r>
                        <a:rPr sz="1250" b="0">
                          <a:solidFill>
                            <a:srgbClr val="1A2228"/>
                          </a:solidFill>
                          <a:latin typeface="Calibri"/>
                        </a:rPr>
                        <a:t>0.1502</a:t>
                      </a:r>
                    </a:p>
                  </a:txBody>
                  <a:tcPr anchor="ctr" marL="73152" marR="73152" marT="0" marB="0">
                    <a:solidFill>
                      <a:srgbClr val="FAFAF8"/>
                    </a:solidFill>
                  </a:tcPr>
                </a:tc>
                <a:tc>
                  <a:txBody>
                    <a:bodyPr/>
                    <a:lstStyle/>
                    <a:p>
                      <a:pPr algn="ctr"/>
                      <a:r>
                        <a:rPr sz="1250" b="0">
                          <a:solidFill>
                            <a:srgbClr val="1A2228"/>
                          </a:solidFill>
                          <a:latin typeface="Calibri"/>
                        </a:rPr>
                        <a:t>17.0%</a:t>
                      </a:r>
                    </a:p>
                  </a:txBody>
                  <a:tcPr anchor="ctr" marL="73152" marR="73152" marT="0" marB="0">
                    <a:solidFill>
                      <a:srgbClr val="FAFAF8"/>
                    </a:solidFill>
                  </a:tcPr>
                </a:tc>
              </a:tr>
              <a:tr h="347472">
                <a:tc>
                  <a:txBody>
                    <a:bodyPr/>
                    <a:lstStyle/>
                    <a:p>
                      <a:pPr algn="l"/>
                      <a:r>
                        <a:rPr sz="1250" b="0">
                          <a:solidFill>
                            <a:srgbClr val="1A2228"/>
                          </a:solidFill>
                          <a:latin typeface="Calibri"/>
                        </a:rPr>
                        <a:t>0.30</a:t>
                      </a:r>
                    </a:p>
                  </a:txBody>
                  <a:tcPr anchor="ctr" marL="73152" marR="73152" marT="0" marB="0">
                    <a:solidFill>
                      <a:srgbClr val="FFFFFF"/>
                    </a:solidFill>
                  </a:tcPr>
                </a:tc>
                <a:tc>
                  <a:txBody>
                    <a:bodyPr/>
                    <a:lstStyle/>
                    <a:p>
                      <a:pPr algn="ctr"/>
                      <a:r>
                        <a:rPr sz="1250" b="0">
                          <a:solidFill>
                            <a:srgbClr val="1A2228"/>
                          </a:solidFill>
                          <a:latin typeface="Calibri"/>
                        </a:rPr>
                        <a:t>no</a:t>
                      </a:r>
                    </a:p>
                  </a:txBody>
                  <a:tcPr anchor="ctr" marL="73152" marR="73152" marT="0" marB="0">
                    <a:solidFill>
                      <a:srgbClr val="FFFFFF"/>
                    </a:solidFill>
                  </a:tcPr>
                </a:tc>
                <a:tc>
                  <a:txBody>
                    <a:bodyPr/>
                    <a:lstStyle/>
                    <a:p>
                      <a:pPr algn="ctr"/>
                      <a:r>
                        <a:rPr sz="1250" b="0">
                          <a:solidFill>
                            <a:srgbClr val="1A2228"/>
                          </a:solidFill>
                          <a:latin typeface="Calibri"/>
                        </a:rPr>
                        <a:t>0.1538</a:t>
                      </a:r>
                    </a:p>
                  </a:txBody>
                  <a:tcPr anchor="ctr" marL="73152" marR="73152" marT="0" marB="0">
                    <a:solidFill>
                      <a:srgbClr val="FFFFFF"/>
                    </a:solidFill>
                  </a:tcPr>
                </a:tc>
                <a:tc>
                  <a:txBody>
                    <a:bodyPr/>
                    <a:lstStyle/>
                    <a:p>
                      <a:pPr algn="ctr"/>
                      <a:r>
                        <a:rPr sz="1250" b="0">
                          <a:solidFill>
                            <a:srgbClr val="1A2228"/>
                          </a:solidFill>
                          <a:latin typeface="Calibri"/>
                        </a:rPr>
                        <a:t>21.8%</a:t>
                      </a:r>
                    </a:p>
                  </a:txBody>
                  <a:tcPr anchor="ctr" marL="73152" marR="73152" marT="0" marB="0">
                    <a:solidFill>
                      <a:srgbClr val="FFFFFF"/>
                    </a:solidFill>
                  </a:tcPr>
                </a:tc>
              </a:tr>
            </a:tbl>
          </a:graphicData>
        </a:graphic>
      </p:graphicFrame>
      <p:sp>
        <p:nvSpPr>
          <p:cNvPr id="8" name="TextBox 7"/>
          <p:cNvSpPr txBox="1"/>
          <p:nvPr/>
        </p:nvSpPr>
        <p:spPr>
          <a:xfrm>
            <a:off x="640080" y="4572000"/>
            <a:ext cx="10881360" cy="73152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Combining the two signals buys 0.0002. At α = 0.05 the measured selective risk is three times the target, and it barely moves across the whole sweep while verification climbs from 4.6% to 21.8%.</a:t>
            </a:r>
          </a:p>
        </p:txBody>
      </p:sp>
      <p:sp>
        <p:nvSpPr>
          <p:cNvPr id="9" name="TextBox 8"/>
          <p:cNvSpPr txBox="1"/>
          <p:nvPr/>
        </p:nvSpPr>
        <p:spPr>
          <a:xfrm>
            <a:off x="640080" y="5349240"/>
            <a:ext cx="10881360" cy="822960"/>
          </a:xfrm>
          <a:prstGeom prst="rect">
            <a:avLst/>
          </a:prstGeom>
          <a:noFill/>
        </p:spPr>
        <p:txBody>
          <a:bodyPr wrap="square" lIns="0" rIns="0" tIns="0" bIns="0">
            <a:spAutoFit/>
          </a:bodyPr>
          <a:lstStyle/>
          <a:p>
            <a:pPr algn="l">
              <a:spcAft>
                <a:spcPts val="600"/>
              </a:spcAft>
            </a:pPr>
            <a:r>
              <a:rPr sz="1500" b="1" i="0">
                <a:solidFill>
                  <a:srgbClr val="B85042"/>
                </a:solidFill>
                <a:latin typeface="Calibri"/>
              </a:rPr>
              <a:t>A conformal guarantee is a statement about the acceptance rule, not about the risk of what it accepts. With an uninformative score the two come apart completely — and nothing in the procedure reports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Which component is at fault? The oracle answers it</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ablation studies — same calibrator, budget and verifier; only the score changes</a:t>
            </a:r>
          </a:p>
        </p:txBody>
      </p:sp>
      <p:graphicFrame>
        <p:nvGraphicFramePr>
          <p:cNvPr id="4" name="Table 3"/>
          <p:cNvGraphicFramePr>
            <a:graphicFrameLocks noGrp="1"/>
          </p:cNvGraphicFramePr>
          <p:nvPr/>
        </p:nvGraphicFramePr>
        <p:xfrm>
          <a:off x="640080" y="1874519"/>
          <a:ext cx="10881360" cy="2304288"/>
        </p:xfrm>
        <a:graphic>
          <a:graphicData uri="http://schemas.openxmlformats.org/drawingml/2006/table">
            <a:tbl>
              <a:tblPr firstRow="1" bandRow="1">
                <a:tableStyleId>{5C22544A-7EE6-4342-B048-85BDC9FD1C3A}</a:tableStyleId>
              </a:tblPr>
              <a:tblGrid>
                <a:gridCol w="3108960"/>
                <a:gridCol w="1554480"/>
                <a:gridCol w="1554480"/>
                <a:gridCol w="2331720"/>
                <a:gridCol w="2331720"/>
              </a:tblGrid>
              <a:tr h="384048">
                <a:tc>
                  <a:txBody>
                    <a:bodyPr/>
                    <a:lstStyle/>
                    <a:p>
                      <a:pPr algn="l"/>
                      <a:r>
                        <a:rPr sz="1200" b="1">
                          <a:solidFill>
                            <a:srgbClr val="FFFFFF"/>
                          </a:solidFill>
                          <a:latin typeface="Calibri"/>
                        </a:rPr>
                        <a:t>Score</a:t>
                      </a:r>
                    </a:p>
                  </a:txBody>
                  <a:tcPr anchor="ctr" marL="73152" marR="73152" marT="0" marB="0">
                    <a:solidFill>
                      <a:srgbClr val="2B3A42"/>
                    </a:solidFill>
                  </a:tcPr>
                </a:tc>
                <a:tc>
                  <a:txBody>
                    <a:bodyPr/>
                    <a:lstStyle/>
                    <a:p>
                      <a:pPr algn="ctr"/>
                      <a:r>
                        <a:rPr sz="1200" b="1">
                          <a:solidFill>
                            <a:srgbClr val="FFFFFF"/>
                          </a:solidFill>
                          <a:latin typeface="Calibri"/>
                        </a:rPr>
                        <a:t>calls/q</a:t>
                      </a:r>
                    </a:p>
                  </a:txBody>
                  <a:tcPr anchor="ctr" marL="73152" marR="73152" marT="0" marB="0">
                    <a:solidFill>
                      <a:srgbClr val="2B3A42"/>
                    </a:solidFill>
                  </a:tcPr>
                </a:tc>
                <a:tc>
                  <a:txBody>
                    <a:bodyPr/>
                    <a:lstStyle/>
                    <a:p>
                      <a:pPr algn="ctr"/>
                      <a:r>
                        <a:rPr sz="1200" b="1">
                          <a:solidFill>
                            <a:srgbClr val="FFFFFF"/>
                          </a:solidFill>
                          <a:latin typeface="Calibri"/>
                        </a:rPr>
                        <a:t>recall</a:t>
                      </a:r>
                    </a:p>
                  </a:txBody>
                  <a:tcPr anchor="ctr" marL="73152" marR="73152" marT="0" marB="0">
                    <a:solidFill>
                      <a:srgbClr val="2B3A42"/>
                    </a:solidFill>
                  </a:tcPr>
                </a:tc>
                <a:tc>
                  <a:txBody>
                    <a:bodyPr/>
                    <a:lstStyle/>
                    <a:p>
                      <a:pPr algn="ctr"/>
                      <a:r>
                        <a:rPr sz="1200" b="1">
                          <a:solidFill>
                            <a:srgbClr val="FFFFFF"/>
                          </a:solidFill>
                          <a:latin typeface="Calibri"/>
                        </a:rPr>
                        <a:t>selective risk</a:t>
                      </a:r>
                    </a:p>
                  </a:txBody>
                  <a:tcPr anchor="ctr" marL="73152" marR="73152" marT="0" marB="0">
                    <a:solidFill>
                      <a:srgbClr val="2B3A42"/>
                    </a:solidFill>
                  </a:tcPr>
                </a:tc>
                <a:tc>
                  <a:txBody>
                    <a:bodyPr/>
                    <a:lstStyle/>
                    <a:p>
                      <a:pPr algn="ctr"/>
                      <a:r>
                        <a:rPr sz="1200" b="1">
                          <a:solidFill>
                            <a:srgbClr val="FFFFFF"/>
                          </a:solidFill>
                          <a:latin typeface="Calibri"/>
                        </a:rPr>
                        <a:t>PROJ accuracy</a:t>
                      </a:r>
                    </a:p>
                  </a:txBody>
                  <a:tcPr anchor="ctr" marL="73152" marR="73152" marT="0" marB="0">
                    <a:solidFill>
                      <a:srgbClr val="2B3A42"/>
                    </a:solidFill>
                  </a:tcPr>
                </a:tc>
              </a:tr>
              <a:tr h="384048">
                <a:tc>
                  <a:txBody>
                    <a:bodyPr/>
                    <a:lstStyle/>
                    <a:p>
                      <a:pPr algn="l"/>
                      <a:r>
                        <a:rPr sz="1300" b="0">
                          <a:solidFill>
                            <a:srgbClr val="1A2228"/>
                          </a:solidFill>
                          <a:latin typeface="Calibri"/>
                        </a:rPr>
                        <a:t>no gate</a:t>
                      </a:r>
                    </a:p>
                  </a:txBody>
                  <a:tcPr anchor="ctr" marL="73152" marR="73152" marT="0" marB="0">
                    <a:solidFill>
                      <a:srgbClr val="FFFFFF"/>
                    </a:solidFill>
                  </a:tcPr>
                </a:tc>
                <a:tc>
                  <a:txBody>
                    <a:bodyPr/>
                    <a:lstStyle/>
                    <a:p>
                      <a:pPr algn="ctr"/>
                      <a:r>
                        <a:rPr sz="1300" b="0">
                          <a:solidFill>
                            <a:srgbClr val="1A2228"/>
                          </a:solidFill>
                          <a:latin typeface="Calibri"/>
                        </a:rPr>
                        <a:t>0.00</a:t>
                      </a:r>
                    </a:p>
                  </a:txBody>
                  <a:tcPr anchor="ctr" marL="73152" marR="73152" marT="0" marB="0">
                    <a:solidFill>
                      <a:srgbClr val="FFFFFF"/>
                    </a:solidFill>
                  </a:tcPr>
                </a:tc>
                <a:tc>
                  <a:txBody>
                    <a:bodyPr/>
                    <a:lstStyle/>
                    <a:p>
                      <a:pPr algn="ctr"/>
                      <a:r>
                        <a:rPr sz="1300" b="0">
                          <a:solidFill>
                            <a:srgbClr val="1A2228"/>
                          </a:solidFill>
                          <a:latin typeface="Calibri"/>
                        </a:rPr>
                        <a:t>—</a:t>
                      </a:r>
                    </a:p>
                  </a:txBody>
                  <a:tcPr anchor="ctr" marL="73152" marR="73152" marT="0" marB="0">
                    <a:solidFill>
                      <a:srgbClr val="FFFFFF"/>
                    </a:solidFill>
                  </a:tcPr>
                </a:tc>
                <a:tc>
                  <a:txBody>
                    <a:bodyPr/>
                    <a:lstStyle/>
                    <a:p>
                      <a:pPr algn="ctr"/>
                      <a:r>
                        <a:rPr sz="1300" b="0">
                          <a:solidFill>
                            <a:srgbClr val="1A2228"/>
                          </a:solidFill>
                          <a:latin typeface="Calibri"/>
                        </a:rPr>
                        <a:t>0.1554</a:t>
                      </a:r>
                    </a:p>
                  </a:txBody>
                  <a:tcPr anchor="ctr" marL="73152" marR="73152" marT="0" marB="0">
                    <a:solidFill>
                      <a:srgbClr val="FFFFFF"/>
                    </a:solidFill>
                  </a:tcPr>
                </a:tc>
                <a:tc>
                  <a:txBody>
                    <a:bodyPr/>
                    <a:lstStyle/>
                    <a:p>
                      <a:pPr algn="ctr"/>
                      <a:r>
                        <a:rPr sz="1300" b="0">
                          <a:solidFill>
                            <a:srgbClr val="1A2228"/>
                          </a:solidFill>
                          <a:latin typeface="Calibri"/>
                        </a:rPr>
                        <a:t>0.8022</a:t>
                      </a:r>
                    </a:p>
                  </a:txBody>
                  <a:tcPr anchor="ctr" marL="73152" marR="73152" marT="0" marB="0">
                    <a:solidFill>
                      <a:srgbClr val="FFFFFF"/>
                    </a:solidFill>
                  </a:tcPr>
                </a:tc>
              </a:tr>
              <a:tr h="384048">
                <a:tc>
                  <a:txBody>
                    <a:bodyPr/>
                    <a:lstStyle/>
                    <a:p>
                      <a:pPr algn="l"/>
                      <a:r>
                        <a:rPr sz="1300" b="0">
                          <a:solidFill>
                            <a:srgbClr val="1A2228"/>
                          </a:solidFill>
                          <a:latin typeface="Calibri"/>
                        </a:rPr>
                        <a:t>real, split conformal</a:t>
                      </a:r>
                    </a:p>
                  </a:txBody>
                  <a:tcPr anchor="ctr" marL="73152" marR="73152" marT="0" marB="0">
                    <a:solidFill>
                      <a:srgbClr val="FAFAF8"/>
                    </a:solidFill>
                  </a:tcPr>
                </a:tc>
                <a:tc>
                  <a:txBody>
                    <a:bodyPr/>
                    <a:lstStyle/>
                    <a:p>
                      <a:pPr algn="ctr"/>
                      <a:r>
                        <a:rPr sz="1300" b="0">
                          <a:solidFill>
                            <a:srgbClr val="1A2228"/>
                          </a:solidFill>
                          <a:latin typeface="Calibri"/>
                        </a:rPr>
                        <a:t>1.09</a:t>
                      </a:r>
                    </a:p>
                  </a:txBody>
                  <a:tcPr anchor="ctr" marL="73152" marR="73152" marT="0" marB="0">
                    <a:solidFill>
                      <a:srgbClr val="FAFAF8"/>
                    </a:solidFill>
                  </a:tcPr>
                </a:tc>
                <a:tc>
                  <a:txBody>
                    <a:bodyPr/>
                    <a:lstStyle/>
                    <a:p>
                      <a:pPr algn="ctr"/>
                      <a:r>
                        <a:rPr sz="1300" b="0">
                          <a:solidFill>
                            <a:srgbClr val="1A2228"/>
                          </a:solidFill>
                          <a:latin typeface="Calibri"/>
                        </a:rPr>
                        <a:t>0.1761</a:t>
                      </a:r>
                    </a:p>
                  </a:txBody>
                  <a:tcPr anchor="ctr" marL="73152" marR="73152" marT="0" marB="0">
                    <a:solidFill>
                      <a:srgbClr val="FAFAF8"/>
                    </a:solidFill>
                  </a:tcPr>
                </a:tc>
                <a:tc>
                  <a:txBody>
                    <a:bodyPr/>
                    <a:lstStyle/>
                    <a:p>
                      <a:pPr algn="ctr"/>
                      <a:r>
                        <a:rPr sz="1300" b="0">
                          <a:solidFill>
                            <a:srgbClr val="1A2228"/>
                          </a:solidFill>
                          <a:latin typeface="Calibri"/>
                        </a:rPr>
                        <a:t>0.1538</a:t>
                      </a:r>
                    </a:p>
                  </a:txBody>
                  <a:tcPr anchor="ctr" marL="73152" marR="73152" marT="0" marB="0">
                    <a:solidFill>
                      <a:srgbClr val="FAFAF8"/>
                    </a:solidFill>
                  </a:tcPr>
                </a:tc>
                <a:tc>
                  <a:txBody>
                    <a:bodyPr/>
                    <a:lstStyle/>
                    <a:p>
                      <a:pPr algn="ctr"/>
                      <a:r>
                        <a:rPr sz="1300" b="0">
                          <a:solidFill>
                            <a:srgbClr val="1A2228"/>
                          </a:solidFill>
                          <a:latin typeface="Calibri"/>
                        </a:rPr>
                        <a:t>0.7912</a:t>
                      </a:r>
                    </a:p>
                  </a:txBody>
                  <a:tcPr anchor="ctr" marL="73152" marR="73152" marT="0" marB="0">
                    <a:solidFill>
                      <a:srgbClr val="FAFAF8"/>
                    </a:solidFill>
                  </a:tcPr>
                </a:tc>
              </a:tr>
              <a:tr h="384048">
                <a:tc>
                  <a:txBody>
                    <a:bodyPr/>
                    <a:lstStyle/>
                    <a:p>
                      <a:pPr algn="l"/>
                      <a:r>
                        <a:rPr sz="1300" b="0">
                          <a:solidFill>
                            <a:srgbClr val="1A2228"/>
                          </a:solidFill>
                          <a:latin typeface="Calibri"/>
                        </a:rPr>
                        <a:t>real, always verify</a:t>
                      </a:r>
                    </a:p>
                  </a:txBody>
                  <a:tcPr anchor="ctr" marL="73152" marR="73152" marT="0" marB="0">
                    <a:solidFill>
                      <a:srgbClr val="FFFFFF"/>
                    </a:solidFill>
                  </a:tcPr>
                </a:tc>
                <a:tc>
                  <a:txBody>
                    <a:bodyPr/>
                    <a:lstStyle/>
                    <a:p>
                      <a:pPr algn="ctr"/>
                      <a:r>
                        <a:rPr sz="1300" b="0">
                          <a:solidFill>
                            <a:srgbClr val="1A2228"/>
                          </a:solidFill>
                          <a:latin typeface="Calibri"/>
                        </a:rPr>
                        <a:t>1.89</a:t>
                      </a:r>
                    </a:p>
                  </a:txBody>
                  <a:tcPr anchor="ctr" marL="73152" marR="73152" marT="0" marB="0">
                    <a:solidFill>
                      <a:srgbClr val="FFFFFF"/>
                    </a:solidFill>
                  </a:tcPr>
                </a:tc>
                <a:tc>
                  <a:txBody>
                    <a:bodyPr/>
                    <a:lstStyle/>
                    <a:p>
                      <a:pPr algn="ctr"/>
                      <a:r>
                        <a:rPr sz="1300" b="0">
                          <a:solidFill>
                            <a:srgbClr val="1A2228"/>
                          </a:solidFill>
                          <a:latin typeface="Calibri"/>
                        </a:rPr>
                        <a:t>0.2606</a:t>
                      </a:r>
                    </a:p>
                  </a:txBody>
                  <a:tcPr anchor="ctr" marL="73152" marR="73152" marT="0" marB="0">
                    <a:solidFill>
                      <a:srgbClr val="FFFFFF"/>
                    </a:solidFill>
                  </a:tcPr>
                </a:tc>
                <a:tc>
                  <a:txBody>
                    <a:bodyPr/>
                    <a:lstStyle/>
                    <a:p>
                      <a:pPr algn="ctr"/>
                      <a:r>
                        <a:rPr sz="1300" b="0">
                          <a:solidFill>
                            <a:srgbClr val="1A2228"/>
                          </a:solidFill>
                          <a:latin typeface="Calibri"/>
                        </a:rPr>
                        <a:t>—</a:t>
                      </a:r>
                    </a:p>
                  </a:txBody>
                  <a:tcPr anchor="ctr" marL="73152" marR="73152" marT="0" marB="0">
                    <a:solidFill>
                      <a:srgbClr val="FFFFFF"/>
                    </a:solidFill>
                  </a:tcPr>
                </a:tc>
                <a:tc>
                  <a:txBody>
                    <a:bodyPr/>
                    <a:lstStyle/>
                    <a:p>
                      <a:pPr algn="ctr"/>
                      <a:r>
                        <a:rPr sz="1300" b="0">
                          <a:solidFill>
                            <a:srgbClr val="1A2228"/>
                          </a:solidFill>
                          <a:latin typeface="Calibri"/>
                        </a:rPr>
                        <a:t>0.7637</a:t>
                      </a:r>
                    </a:p>
                  </a:txBody>
                  <a:tcPr anchor="ctr" marL="73152" marR="73152" marT="0" marB="0">
                    <a:solidFill>
                      <a:srgbClr val="FFFFFF"/>
                    </a:solidFill>
                  </a:tcPr>
                </a:tc>
              </a:tr>
              <a:tr h="384048">
                <a:tc>
                  <a:txBody>
                    <a:bodyPr/>
                    <a:lstStyle/>
                    <a:p>
                      <a:pPr algn="l"/>
                      <a:r>
                        <a:rPr sz="1300" b="0">
                          <a:solidFill>
                            <a:srgbClr val="1A2228"/>
                          </a:solidFill>
                          <a:latin typeface="Calibri"/>
                        </a:rPr>
                        <a:t>probe (AUROC 0.6968)</a:t>
                      </a:r>
                    </a:p>
                  </a:txBody>
                  <a:tcPr anchor="ctr" marL="73152" marR="73152" marT="0" marB="0">
                    <a:solidFill>
                      <a:srgbClr val="FAFAF8"/>
                    </a:solidFill>
                  </a:tcPr>
                </a:tc>
                <a:tc>
                  <a:txBody>
                    <a:bodyPr/>
                    <a:lstStyle/>
                    <a:p>
                      <a:pPr algn="ctr"/>
                      <a:r>
                        <a:rPr sz="1300" b="0">
                          <a:solidFill>
                            <a:srgbClr val="1A2228"/>
                          </a:solidFill>
                          <a:latin typeface="Calibri"/>
                        </a:rPr>
                        <a:t>0.96</a:t>
                      </a:r>
                    </a:p>
                  </a:txBody>
                  <a:tcPr anchor="ctr" marL="73152" marR="73152" marT="0" marB="0">
                    <a:solidFill>
                      <a:srgbClr val="FAFAF8"/>
                    </a:solidFill>
                  </a:tcPr>
                </a:tc>
                <a:tc>
                  <a:txBody>
                    <a:bodyPr/>
                    <a:lstStyle/>
                    <a:p>
                      <a:pPr algn="ctr"/>
                      <a:r>
                        <a:rPr sz="1300" b="0">
                          <a:solidFill>
                            <a:srgbClr val="1A2228"/>
                          </a:solidFill>
                          <a:latin typeface="Calibri"/>
                        </a:rPr>
                        <a:t>0.2465</a:t>
                      </a:r>
                    </a:p>
                  </a:txBody>
                  <a:tcPr anchor="ctr" marL="73152" marR="73152" marT="0" marB="0">
                    <a:solidFill>
                      <a:srgbClr val="FAFAF8"/>
                    </a:solidFill>
                  </a:tcPr>
                </a:tc>
                <a:tc>
                  <a:txBody>
                    <a:bodyPr/>
                    <a:lstStyle/>
                    <a:p>
                      <a:pPr algn="ctr"/>
                      <a:r>
                        <a:rPr sz="1300" b="0">
                          <a:solidFill>
                            <a:srgbClr val="1A2228"/>
                          </a:solidFill>
                          <a:latin typeface="Calibri"/>
                        </a:rPr>
                        <a:t>0.1394</a:t>
                      </a:r>
                    </a:p>
                  </a:txBody>
                  <a:tcPr anchor="ctr" marL="73152" marR="73152" marT="0" marB="0">
                    <a:solidFill>
                      <a:srgbClr val="FAFAF8"/>
                    </a:solidFill>
                  </a:tcPr>
                </a:tc>
                <a:tc>
                  <a:txBody>
                    <a:bodyPr/>
                    <a:lstStyle/>
                    <a:p>
                      <a:pPr algn="ctr"/>
                      <a:r>
                        <a:rPr sz="1300" b="0">
                          <a:solidFill>
                            <a:srgbClr val="1A2228"/>
                          </a:solidFill>
                          <a:latin typeface="Calibri"/>
                        </a:rPr>
                        <a:t>0.7802</a:t>
                      </a:r>
                    </a:p>
                  </a:txBody>
                  <a:tcPr anchor="ctr" marL="73152" marR="73152" marT="0" marB="0">
                    <a:solidFill>
                      <a:srgbClr val="FAFAF8"/>
                    </a:solidFill>
                  </a:tcPr>
                </a:tc>
              </a:tr>
              <a:tr h="384048">
                <a:tc>
                  <a:txBody>
                    <a:bodyPr/>
                    <a:lstStyle/>
                    <a:p>
                      <a:pPr algn="l"/>
                      <a:r>
                        <a:rPr sz="1300" b="1">
                          <a:solidFill>
                            <a:srgbClr val="1A2228"/>
                          </a:solidFill>
                          <a:latin typeface="Calibri"/>
                        </a:rPr>
                        <a:t>ORACLE</a:t>
                      </a:r>
                    </a:p>
                  </a:txBody>
                  <a:tcPr anchor="ctr" marL="73152" marR="73152" marT="0" marB="0">
                    <a:solidFill>
                      <a:srgbClr val="E8E4E0"/>
                    </a:solidFill>
                  </a:tcPr>
                </a:tc>
                <a:tc>
                  <a:txBody>
                    <a:bodyPr/>
                    <a:lstStyle/>
                    <a:p>
                      <a:pPr algn="ctr"/>
                      <a:r>
                        <a:rPr sz="1300" b="1">
                          <a:solidFill>
                            <a:srgbClr val="1A2228"/>
                          </a:solidFill>
                          <a:latin typeface="Calibri"/>
                        </a:rPr>
                        <a:t>0.37</a:t>
                      </a:r>
                    </a:p>
                  </a:txBody>
                  <a:tcPr anchor="ctr" marL="73152" marR="73152" marT="0" marB="0">
                    <a:solidFill>
                      <a:srgbClr val="E8E4E0"/>
                    </a:solidFill>
                  </a:tcPr>
                </a:tc>
                <a:tc>
                  <a:txBody>
                    <a:bodyPr/>
                    <a:lstStyle/>
                    <a:p>
                      <a:pPr algn="ctr"/>
                      <a:r>
                        <a:rPr sz="1300" b="1">
                          <a:solidFill>
                            <a:srgbClr val="1A2228"/>
                          </a:solidFill>
                          <a:latin typeface="Calibri"/>
                        </a:rPr>
                        <a:t>0.4366</a:t>
                      </a:r>
                    </a:p>
                  </a:txBody>
                  <a:tcPr anchor="ctr" marL="73152" marR="73152" marT="0" marB="0">
                    <a:solidFill>
                      <a:srgbClr val="E8E4E0"/>
                    </a:solidFill>
                  </a:tcPr>
                </a:tc>
                <a:tc>
                  <a:txBody>
                    <a:bodyPr/>
                    <a:lstStyle/>
                    <a:p>
                      <a:pPr algn="ctr"/>
                      <a:r>
                        <a:rPr sz="1300" b="1">
                          <a:solidFill>
                            <a:srgbClr val="1A2228"/>
                          </a:solidFill>
                          <a:latin typeface="Calibri"/>
                        </a:rPr>
                        <a:t>0.0885</a:t>
                      </a:r>
                    </a:p>
                  </a:txBody>
                  <a:tcPr anchor="ctr" marL="73152" marR="73152" marT="0" marB="0">
                    <a:solidFill>
                      <a:srgbClr val="E8E4E0"/>
                    </a:solidFill>
                  </a:tcPr>
                </a:tc>
                <a:tc>
                  <a:txBody>
                    <a:bodyPr/>
                    <a:lstStyle/>
                    <a:p>
                      <a:pPr algn="ctr"/>
                      <a:r>
                        <a:rPr sz="1300" b="1">
                          <a:solidFill>
                            <a:srgbClr val="1A2228"/>
                          </a:solidFill>
                          <a:latin typeface="Calibri"/>
                        </a:rPr>
                        <a:t>0.9780</a:t>
                      </a:r>
                    </a:p>
                  </a:txBody>
                  <a:tcPr anchor="ctr" marL="73152" marR="73152" marT="0" marB="0">
                    <a:solidFill>
                      <a:srgbClr val="E8E4E0"/>
                    </a:solidFill>
                  </a:tcPr>
                </a:tc>
              </a:tr>
            </a:tbl>
          </a:graphicData>
        </a:graphic>
      </p:graphicFrame>
      <p:sp>
        <p:nvSpPr>
          <p:cNvPr id="5" name="TextBox 4"/>
          <p:cNvSpPr txBox="1"/>
          <p:nvPr/>
        </p:nvSpPr>
        <p:spPr>
          <a:xfrm>
            <a:off x="640080" y="4297680"/>
            <a:ext cx="10881360" cy="731520"/>
          </a:xfrm>
          <a:prstGeom prst="rect">
            <a:avLst/>
          </a:prstGeom>
          <a:noFill/>
        </p:spPr>
        <p:txBody>
          <a:bodyPr wrap="square" lIns="0" rIns="0" tIns="0" bIns="0">
            <a:spAutoFit/>
          </a:bodyPr>
          <a:lstStyle/>
          <a:p>
            <a:pPr algn="l">
              <a:spcAft>
                <a:spcPts val="600"/>
              </a:spcAft>
            </a:pPr>
            <a:r>
              <a:rPr sz="1500" b="1" i="0">
                <a:solidFill>
                  <a:srgbClr val="2B3A42"/>
                </a:solidFill>
                <a:latin typeface="Calibri"/>
              </a:rPr>
              <a:t>The same verifier, at the same measured 9.87% false-alarm rate, moves projected accuracy from 0.7637 to 0.9780 — 17.6 points above the no-gate baseline — on a fifth of the calls.</a:t>
            </a:r>
          </a:p>
        </p:txBody>
      </p:sp>
      <p:sp>
        <p:nvSpPr>
          <p:cNvPr id="6" name="TextBox 5"/>
          <p:cNvSpPr txBox="1"/>
          <p:nvPr/>
        </p:nvSpPr>
        <p:spPr>
          <a:xfrm>
            <a:off x="640080" y="5029200"/>
            <a:ext cx="10881360" cy="411480"/>
          </a:xfrm>
          <a:prstGeom prst="rect">
            <a:avLst/>
          </a:prstGeom>
          <a:noFill/>
        </p:spPr>
        <p:txBody>
          <a:bodyPr wrap="square" lIns="0" rIns="0" tIns="0" bIns="0">
            <a:spAutoFit/>
          </a:bodyPr>
          <a:lstStyle/>
          <a:p>
            <a:pPr algn="l">
              <a:spcAft>
                <a:spcPts val="600"/>
              </a:spcAft>
            </a:pPr>
            <a:r>
              <a:rPr sz="1700" b="1" i="0">
                <a:solidFill>
                  <a:srgbClr val="3E6E6C"/>
                </a:solidFill>
                <a:latin typeface="Calibri"/>
              </a:rPr>
              <a:t>The verifier was never the defect. It is a good verifier being aimed badly.</a:t>
            </a:r>
          </a:p>
        </p:txBody>
      </p:sp>
      <p:sp>
        <p:nvSpPr>
          <p:cNvPr id="7" name="TextBox 6"/>
          <p:cNvSpPr txBox="1"/>
          <p:nvPr/>
        </p:nvSpPr>
        <p:spPr>
          <a:xfrm>
            <a:off x="640080" y="553212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But the oracle still misses α = 0.05 by 1.8×. At two calls per question over a mean of 5.15 steps, most wrong steps go unverified however perfectly they are ranked. That residual is the budget, not the score.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How good does the score need to be?</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Score quality as a dial: AUROC = Φ(d/√2), everything else held fixed. 13 points × 64 seeds</a:t>
            </a:r>
          </a:p>
        </p:txBody>
      </p:sp>
      <p:graphicFrame>
        <p:nvGraphicFramePr>
          <p:cNvPr id="4" name="Table 3"/>
          <p:cNvGraphicFramePr>
            <a:graphicFrameLocks noGrp="1"/>
          </p:cNvGraphicFramePr>
          <p:nvPr/>
        </p:nvGraphicFramePr>
        <p:xfrm>
          <a:off x="640080" y="1874519"/>
          <a:ext cx="10881356" cy="2432304"/>
        </p:xfrm>
        <a:graphic>
          <a:graphicData uri="http://schemas.openxmlformats.org/drawingml/2006/table">
            <a:tbl>
              <a:tblPr firstRow="1" bandRow="1">
                <a:tableStyleId>{5C22544A-7EE6-4342-B048-85BDC9FD1C3A}</a:tableStyleId>
              </a:tblPr>
              <a:tblGrid>
                <a:gridCol w="1343377"/>
                <a:gridCol w="1343377"/>
                <a:gridCol w="1343377"/>
                <a:gridCol w="1880728"/>
                <a:gridCol w="1477715"/>
                <a:gridCol w="2283742"/>
                <a:gridCol w="1209040"/>
              </a:tblGrid>
              <a:tr h="347472">
                <a:tc>
                  <a:txBody>
                    <a:bodyPr/>
                    <a:lstStyle/>
                    <a:p>
                      <a:pPr algn="l"/>
                      <a:r>
                        <a:rPr sz="1200" b="1">
                          <a:solidFill>
                            <a:srgbClr val="FFFFFF"/>
                          </a:solidFill>
                          <a:latin typeface="Calibri"/>
                        </a:rPr>
                        <a:t>AUROC</a:t>
                      </a:r>
                    </a:p>
                  </a:txBody>
                  <a:tcPr anchor="ctr" marL="73152" marR="73152" marT="0" marB="0">
                    <a:solidFill>
                      <a:srgbClr val="2B3A42"/>
                    </a:solidFill>
                  </a:tcPr>
                </a:tc>
                <a:tc>
                  <a:txBody>
                    <a:bodyPr/>
                    <a:lstStyle/>
                    <a:p>
                      <a:pPr algn="ctr"/>
                      <a:r>
                        <a:rPr sz="1200" b="1">
                          <a:solidFill>
                            <a:srgbClr val="FFFFFF"/>
                          </a:solidFill>
                          <a:latin typeface="Calibri"/>
                        </a:rPr>
                        <a:t>verify %</a:t>
                      </a:r>
                    </a:p>
                  </a:txBody>
                  <a:tcPr anchor="ctr" marL="73152" marR="73152" marT="0" marB="0">
                    <a:solidFill>
                      <a:srgbClr val="2B3A42"/>
                    </a:solidFill>
                  </a:tcPr>
                </a:tc>
                <a:tc>
                  <a:txBody>
                    <a:bodyPr/>
                    <a:lstStyle/>
                    <a:p>
                      <a:pPr algn="ctr"/>
                      <a:r>
                        <a:rPr sz="1200" b="1">
                          <a:solidFill>
                            <a:srgbClr val="FFFFFF"/>
                          </a:solidFill>
                          <a:latin typeface="Calibri"/>
                        </a:rPr>
                        <a:t>sel. risk</a:t>
                      </a:r>
                    </a:p>
                  </a:txBody>
                  <a:tcPr anchor="ctr" marL="73152" marR="73152" marT="0" marB="0">
                    <a:solidFill>
                      <a:srgbClr val="2B3A42"/>
                    </a:solidFill>
                  </a:tcPr>
                </a:tc>
                <a:tc>
                  <a:txBody>
                    <a:bodyPr/>
                    <a:lstStyle/>
                    <a:p>
                      <a:pPr algn="ctr"/>
                      <a:r>
                        <a:rPr sz="1200" b="1">
                          <a:solidFill>
                            <a:srgbClr val="FFFFFF"/>
                          </a:solidFill>
                          <a:latin typeface="Calibri"/>
                        </a:rPr>
                        <a:t>1st-bad recall</a:t>
                      </a:r>
                    </a:p>
                  </a:txBody>
                  <a:tcPr anchor="ctr" marL="73152" marR="73152" marT="0" marB="0">
                    <a:solidFill>
                      <a:srgbClr val="2B3A42"/>
                    </a:solidFill>
                  </a:tcPr>
                </a:tc>
                <a:tc>
                  <a:txBody>
                    <a:bodyPr/>
                    <a:lstStyle/>
                    <a:p>
                      <a:pPr algn="ctr"/>
                      <a:r>
                        <a:rPr sz="1200" b="1">
                          <a:solidFill>
                            <a:srgbClr val="FFFFFF"/>
                          </a:solidFill>
                          <a:latin typeface="Calibri"/>
                        </a:rPr>
                        <a:t>PROJ acc</a:t>
                      </a:r>
                    </a:p>
                  </a:txBody>
                  <a:tcPr anchor="ctr" marL="73152" marR="73152" marT="0" marB="0">
                    <a:solidFill>
                      <a:srgbClr val="2B3A42"/>
                    </a:solidFill>
                  </a:tcPr>
                </a:tc>
                <a:tc>
                  <a:txBody>
                    <a:bodyPr/>
                    <a:lstStyle/>
                    <a:p>
                      <a:pPr algn="ctr"/>
                      <a:r>
                        <a:rPr sz="1200" b="1">
                          <a:solidFill>
                            <a:srgbClr val="FFFFFF"/>
                          </a:solidFill>
                          <a:latin typeface="Calibri"/>
                        </a:rPr>
                        <a:t>95% CI</a:t>
                      </a:r>
                    </a:p>
                  </a:txBody>
                  <a:tcPr anchor="ctr" marL="73152" marR="73152" marT="0" marB="0">
                    <a:solidFill>
                      <a:srgbClr val="2B3A42"/>
                    </a:solidFill>
                  </a:tcPr>
                </a:tc>
                <a:tc>
                  <a:txBody>
                    <a:bodyPr/>
                    <a:lstStyle/>
                    <a:p>
                      <a:pPr algn="ctr"/>
                    </a:p>
                  </a:txBody>
                  <a:tcPr anchor="ctr" marL="73152" marR="73152" marT="0" marB="0">
                    <a:solidFill>
                      <a:srgbClr val="2B3A42"/>
                    </a:solidFill>
                  </a:tcPr>
                </a:tc>
              </a:tr>
              <a:tr h="347472">
                <a:tc>
                  <a:txBody>
                    <a:bodyPr/>
                    <a:lstStyle/>
                    <a:p>
                      <a:pPr algn="l"/>
                      <a:r>
                        <a:rPr sz="1200" b="0">
                          <a:solidFill>
                            <a:srgbClr val="1A2228"/>
                          </a:solidFill>
                          <a:latin typeface="Calibri"/>
                        </a:rPr>
                        <a:t>0.550</a:t>
                      </a:r>
                    </a:p>
                  </a:txBody>
                  <a:tcPr anchor="ctr" marL="73152" marR="73152" marT="0" marB="0">
                    <a:solidFill>
                      <a:srgbClr val="FFFFFF"/>
                    </a:solidFill>
                  </a:tcPr>
                </a:tc>
                <a:tc>
                  <a:txBody>
                    <a:bodyPr/>
                    <a:lstStyle/>
                    <a:p>
                      <a:pPr algn="ctr"/>
                      <a:r>
                        <a:rPr sz="1200" b="0">
                          <a:solidFill>
                            <a:srgbClr val="1A2228"/>
                          </a:solidFill>
                          <a:latin typeface="Calibri"/>
                        </a:rPr>
                        <a:t>22.5%</a:t>
                      </a:r>
                    </a:p>
                  </a:txBody>
                  <a:tcPr anchor="ctr" marL="73152" marR="73152" marT="0" marB="0">
                    <a:solidFill>
                      <a:srgbClr val="FFFFFF"/>
                    </a:solidFill>
                  </a:tcPr>
                </a:tc>
                <a:tc>
                  <a:txBody>
                    <a:bodyPr/>
                    <a:lstStyle/>
                    <a:p>
                      <a:pPr algn="ctr"/>
                      <a:r>
                        <a:rPr sz="1200" b="0">
                          <a:solidFill>
                            <a:srgbClr val="1A2228"/>
                          </a:solidFill>
                          <a:latin typeface="Calibri"/>
                        </a:rPr>
                        <a:t>0.1536</a:t>
                      </a:r>
                    </a:p>
                  </a:txBody>
                  <a:tcPr anchor="ctr" marL="73152" marR="73152" marT="0" marB="0">
                    <a:solidFill>
                      <a:srgbClr val="FFFFFF"/>
                    </a:solidFill>
                  </a:tcPr>
                </a:tc>
                <a:tc>
                  <a:txBody>
                    <a:bodyPr/>
                    <a:lstStyle/>
                    <a:p>
                      <a:pPr algn="ctr"/>
                      <a:r>
                        <a:rPr sz="1200" b="0">
                          <a:solidFill>
                            <a:srgbClr val="1A2228"/>
                          </a:solidFill>
                          <a:latin typeface="Calibri"/>
                        </a:rPr>
                        <a:t>0.2853</a:t>
                      </a:r>
                    </a:p>
                  </a:txBody>
                  <a:tcPr anchor="ctr" marL="73152" marR="73152" marT="0" marB="0">
                    <a:solidFill>
                      <a:srgbClr val="FFFFFF"/>
                    </a:solidFill>
                  </a:tcPr>
                </a:tc>
                <a:tc>
                  <a:txBody>
                    <a:bodyPr/>
                    <a:lstStyle/>
                    <a:p>
                      <a:pPr algn="ctr"/>
                      <a:r>
                        <a:rPr sz="1200" b="0">
                          <a:solidFill>
                            <a:srgbClr val="1A2228"/>
                          </a:solidFill>
                          <a:latin typeface="Calibri"/>
                        </a:rPr>
                        <a:t>0.7782</a:t>
                      </a:r>
                    </a:p>
                  </a:txBody>
                  <a:tcPr anchor="ctr" marL="73152" marR="73152" marT="0" marB="0">
                    <a:solidFill>
                      <a:srgbClr val="FFFFFF"/>
                    </a:solidFill>
                  </a:tcPr>
                </a:tc>
                <a:tc>
                  <a:txBody>
                    <a:bodyPr/>
                    <a:lstStyle/>
                    <a:p>
                      <a:pPr algn="ctr"/>
                      <a:r>
                        <a:rPr sz="1200" b="0">
                          <a:solidFill>
                            <a:srgbClr val="1A2228"/>
                          </a:solidFill>
                          <a:latin typeface="Calibri"/>
                        </a:rPr>
                        <a:t>[0.7725, 0.7840]</a:t>
                      </a:r>
                    </a:p>
                  </a:txBody>
                  <a:tcPr anchor="ctr" marL="73152" marR="73152" marT="0" marB="0">
                    <a:solidFill>
                      <a:srgbClr val="FFFFFF"/>
                    </a:solidFill>
                  </a:tcPr>
                </a:tc>
                <a:tc>
                  <a:txBody>
                    <a:bodyPr/>
                    <a:lstStyle/>
                    <a:p>
                      <a:pPr algn="ctr"/>
                      <a:r>
                        <a:rPr sz="1200" b="0">
                          <a:solidFill>
                            <a:srgbClr val="1A2228"/>
                          </a:solidFill>
                          <a:latin typeface="Calibri"/>
                        </a:rPr>
                        <a:t>net −</a:t>
                      </a:r>
                    </a:p>
                  </a:txBody>
                  <a:tcPr anchor="ctr" marL="73152" marR="73152" marT="0" marB="0">
                    <a:solidFill>
                      <a:srgbClr val="FFFFFF"/>
                    </a:solidFill>
                  </a:tcPr>
                </a:tc>
              </a:tr>
              <a:tr h="347472">
                <a:tc>
                  <a:txBody>
                    <a:bodyPr/>
                    <a:lstStyle/>
                    <a:p>
                      <a:pPr algn="l"/>
                      <a:r>
                        <a:rPr sz="1200" b="0">
                          <a:solidFill>
                            <a:srgbClr val="1A2228"/>
                          </a:solidFill>
                          <a:latin typeface="Calibri"/>
                        </a:rPr>
                        <a:t>0.625</a:t>
                      </a:r>
                    </a:p>
                  </a:txBody>
                  <a:tcPr anchor="ctr" marL="73152" marR="73152" marT="0" marB="0">
                    <a:solidFill>
                      <a:srgbClr val="FAFAF8"/>
                    </a:solidFill>
                  </a:tcPr>
                </a:tc>
                <a:tc>
                  <a:txBody>
                    <a:bodyPr/>
                    <a:lstStyle/>
                    <a:p>
                      <a:pPr algn="ctr"/>
                      <a:r>
                        <a:rPr sz="1200" b="0">
                          <a:solidFill>
                            <a:srgbClr val="1A2228"/>
                          </a:solidFill>
                          <a:latin typeface="Calibri"/>
                        </a:rPr>
                        <a:t>23.1%</a:t>
                      </a:r>
                    </a:p>
                  </a:txBody>
                  <a:tcPr anchor="ctr" marL="73152" marR="73152" marT="0" marB="0">
                    <a:solidFill>
                      <a:srgbClr val="FAFAF8"/>
                    </a:solidFill>
                  </a:tcPr>
                </a:tc>
                <a:tc>
                  <a:txBody>
                    <a:bodyPr/>
                    <a:lstStyle/>
                    <a:p>
                      <a:pPr algn="ctr"/>
                      <a:r>
                        <a:rPr sz="1200" b="0">
                          <a:solidFill>
                            <a:srgbClr val="1A2228"/>
                          </a:solidFill>
                          <a:latin typeface="Calibri"/>
                        </a:rPr>
                        <a:t>0.1463</a:t>
                      </a:r>
                    </a:p>
                  </a:txBody>
                  <a:tcPr anchor="ctr" marL="73152" marR="73152" marT="0" marB="0">
                    <a:solidFill>
                      <a:srgbClr val="FAFAF8"/>
                    </a:solidFill>
                  </a:tcPr>
                </a:tc>
                <a:tc>
                  <a:txBody>
                    <a:bodyPr/>
                    <a:lstStyle/>
                    <a:p>
                      <a:pPr algn="ctr"/>
                      <a:r>
                        <a:rPr sz="1200" b="0">
                          <a:solidFill>
                            <a:srgbClr val="1A2228"/>
                          </a:solidFill>
                          <a:latin typeface="Calibri"/>
                        </a:rPr>
                        <a:t>0.3786</a:t>
                      </a:r>
                    </a:p>
                  </a:txBody>
                  <a:tcPr anchor="ctr" marL="73152" marR="73152" marT="0" marB="0">
                    <a:solidFill>
                      <a:srgbClr val="FAFAF8"/>
                    </a:solidFill>
                  </a:tcPr>
                </a:tc>
                <a:tc>
                  <a:txBody>
                    <a:bodyPr/>
                    <a:lstStyle/>
                    <a:p>
                      <a:pPr algn="ctr"/>
                      <a:r>
                        <a:rPr sz="1200" b="0">
                          <a:solidFill>
                            <a:srgbClr val="1A2228"/>
                          </a:solidFill>
                          <a:latin typeface="Calibri"/>
                        </a:rPr>
                        <a:t>0.7940</a:t>
                      </a:r>
                    </a:p>
                  </a:txBody>
                  <a:tcPr anchor="ctr" marL="73152" marR="73152" marT="0" marB="0">
                    <a:solidFill>
                      <a:srgbClr val="FAFAF8"/>
                    </a:solidFill>
                  </a:tcPr>
                </a:tc>
                <a:tc>
                  <a:txBody>
                    <a:bodyPr/>
                    <a:lstStyle/>
                    <a:p>
                      <a:pPr algn="ctr"/>
                      <a:r>
                        <a:rPr sz="1200" b="0">
                          <a:solidFill>
                            <a:srgbClr val="1A2228"/>
                          </a:solidFill>
                          <a:latin typeface="Calibri"/>
                        </a:rPr>
                        <a:t>[0.7880, 0.8001]</a:t>
                      </a:r>
                    </a:p>
                  </a:txBody>
                  <a:tcPr anchor="ctr" marL="73152" marR="73152" marT="0" marB="0">
                    <a:solidFill>
                      <a:srgbClr val="FAFAF8"/>
                    </a:solidFill>
                  </a:tcPr>
                </a:tc>
                <a:tc>
                  <a:txBody>
                    <a:bodyPr/>
                    <a:lstStyle/>
                    <a:p>
                      <a:pPr algn="ctr"/>
                      <a:r>
                        <a:rPr sz="1200" b="0">
                          <a:solidFill>
                            <a:srgbClr val="1A2228"/>
                          </a:solidFill>
                          <a:latin typeface="Calibri"/>
                        </a:rPr>
                        <a:t>net −</a:t>
                      </a:r>
                    </a:p>
                  </a:txBody>
                  <a:tcPr anchor="ctr" marL="73152" marR="73152" marT="0" marB="0">
                    <a:solidFill>
                      <a:srgbClr val="FAFAF8"/>
                    </a:solidFill>
                  </a:tcPr>
                </a:tc>
              </a:tr>
              <a:tr h="347472">
                <a:tc>
                  <a:txBody>
                    <a:bodyPr/>
                    <a:lstStyle/>
                    <a:p>
                      <a:pPr algn="l"/>
                      <a:r>
                        <a:rPr sz="1200" b="0">
                          <a:solidFill>
                            <a:srgbClr val="1A2228"/>
                          </a:solidFill>
                          <a:latin typeface="Calibri"/>
                        </a:rPr>
                        <a:t>0.650</a:t>
                      </a:r>
                    </a:p>
                  </a:txBody>
                  <a:tcPr anchor="ctr" marL="73152" marR="73152" marT="0" marB="0">
                    <a:solidFill>
                      <a:srgbClr val="FFFFFF"/>
                    </a:solidFill>
                  </a:tcPr>
                </a:tc>
                <a:tc>
                  <a:txBody>
                    <a:bodyPr/>
                    <a:lstStyle/>
                    <a:p>
                      <a:pPr algn="ctr"/>
                      <a:r>
                        <a:rPr sz="1200" b="0">
                          <a:solidFill>
                            <a:srgbClr val="1A2228"/>
                          </a:solidFill>
                          <a:latin typeface="Calibri"/>
                        </a:rPr>
                        <a:t>23.3%</a:t>
                      </a:r>
                    </a:p>
                  </a:txBody>
                  <a:tcPr anchor="ctr" marL="73152" marR="73152" marT="0" marB="0">
                    <a:solidFill>
                      <a:srgbClr val="FFFFFF"/>
                    </a:solidFill>
                  </a:tcPr>
                </a:tc>
                <a:tc>
                  <a:txBody>
                    <a:bodyPr/>
                    <a:lstStyle/>
                    <a:p>
                      <a:pPr algn="ctr"/>
                      <a:r>
                        <a:rPr sz="1200" b="0">
                          <a:solidFill>
                            <a:srgbClr val="1A2228"/>
                          </a:solidFill>
                          <a:latin typeface="Calibri"/>
                        </a:rPr>
                        <a:t>0.1441</a:t>
                      </a:r>
                    </a:p>
                  </a:txBody>
                  <a:tcPr anchor="ctr" marL="73152" marR="73152" marT="0" marB="0">
                    <a:solidFill>
                      <a:srgbClr val="FFFFFF"/>
                    </a:solidFill>
                  </a:tcPr>
                </a:tc>
                <a:tc>
                  <a:txBody>
                    <a:bodyPr/>
                    <a:lstStyle/>
                    <a:p>
                      <a:pPr algn="ctr"/>
                      <a:r>
                        <a:rPr sz="1200" b="0">
                          <a:solidFill>
                            <a:srgbClr val="1A2228"/>
                          </a:solidFill>
                          <a:latin typeface="Calibri"/>
                        </a:rPr>
                        <a:t>0.4111</a:t>
                      </a:r>
                    </a:p>
                  </a:txBody>
                  <a:tcPr anchor="ctr" marL="73152" marR="73152" marT="0" marB="0">
                    <a:solidFill>
                      <a:srgbClr val="FFFFFF"/>
                    </a:solidFill>
                  </a:tcPr>
                </a:tc>
                <a:tc>
                  <a:txBody>
                    <a:bodyPr/>
                    <a:lstStyle/>
                    <a:p>
                      <a:pPr algn="ctr"/>
                      <a:r>
                        <a:rPr sz="1200" b="0">
                          <a:solidFill>
                            <a:srgbClr val="1A2228"/>
                          </a:solidFill>
                          <a:latin typeface="Calibri"/>
                        </a:rPr>
                        <a:t>0.8010</a:t>
                      </a:r>
                    </a:p>
                  </a:txBody>
                  <a:tcPr anchor="ctr" marL="73152" marR="73152" marT="0" marB="0">
                    <a:solidFill>
                      <a:srgbClr val="FFFFFF"/>
                    </a:solidFill>
                  </a:tcPr>
                </a:tc>
                <a:tc>
                  <a:txBody>
                    <a:bodyPr/>
                    <a:lstStyle/>
                    <a:p>
                      <a:pPr algn="ctr"/>
                      <a:r>
                        <a:rPr sz="1200" b="0">
                          <a:solidFill>
                            <a:srgbClr val="1A2228"/>
                          </a:solidFill>
                          <a:latin typeface="Calibri"/>
                        </a:rPr>
                        <a:t>[0.7953, 0.8067]</a:t>
                      </a:r>
                    </a:p>
                  </a:txBody>
                  <a:tcPr anchor="ctr" marL="73152" marR="73152" marT="0" marB="0">
                    <a:solidFill>
                      <a:srgbClr val="FFFFFF"/>
                    </a:solidFill>
                  </a:tcPr>
                </a:tc>
                <a:tc>
                  <a:txBody>
                    <a:bodyPr/>
                    <a:lstStyle/>
                    <a:p>
                      <a:pPr algn="ctr"/>
                      <a:r>
                        <a:rPr sz="1200" b="0">
                          <a:solidFill>
                            <a:srgbClr val="1A2228"/>
                          </a:solidFill>
                          <a:latin typeface="Calibri"/>
                        </a:rPr>
                        <a:t>~same</a:t>
                      </a:r>
                    </a:p>
                  </a:txBody>
                  <a:tcPr anchor="ctr" marL="73152" marR="73152" marT="0" marB="0">
                    <a:solidFill>
                      <a:srgbClr val="FFFFFF"/>
                    </a:solidFill>
                  </a:tcPr>
                </a:tc>
              </a:tr>
              <a:tr h="347472">
                <a:tc>
                  <a:txBody>
                    <a:bodyPr/>
                    <a:lstStyle/>
                    <a:p>
                      <a:pPr algn="l"/>
                      <a:r>
                        <a:rPr sz="1200" b="1">
                          <a:solidFill>
                            <a:srgbClr val="1A2228"/>
                          </a:solidFill>
                          <a:latin typeface="Calibri"/>
                        </a:rPr>
                        <a:t>0.700</a:t>
                      </a:r>
                    </a:p>
                  </a:txBody>
                  <a:tcPr anchor="ctr" marL="73152" marR="73152" marT="0" marB="0">
                    <a:solidFill>
                      <a:srgbClr val="E8E4E0"/>
                    </a:solidFill>
                  </a:tcPr>
                </a:tc>
                <a:tc>
                  <a:txBody>
                    <a:bodyPr/>
                    <a:lstStyle/>
                    <a:p>
                      <a:pPr algn="ctr"/>
                      <a:r>
                        <a:rPr sz="1200" b="1">
                          <a:solidFill>
                            <a:srgbClr val="1A2228"/>
                          </a:solidFill>
                          <a:latin typeface="Calibri"/>
                        </a:rPr>
                        <a:t>23.6%</a:t>
                      </a:r>
                    </a:p>
                  </a:txBody>
                  <a:tcPr anchor="ctr" marL="73152" marR="73152" marT="0" marB="0">
                    <a:solidFill>
                      <a:srgbClr val="E8E4E0"/>
                    </a:solidFill>
                  </a:tcPr>
                </a:tc>
                <a:tc>
                  <a:txBody>
                    <a:bodyPr/>
                    <a:lstStyle/>
                    <a:p>
                      <a:pPr algn="ctr"/>
                      <a:r>
                        <a:rPr sz="1200" b="1">
                          <a:solidFill>
                            <a:srgbClr val="1A2228"/>
                          </a:solidFill>
                          <a:latin typeface="Calibri"/>
                        </a:rPr>
                        <a:t>0.1405</a:t>
                      </a:r>
                    </a:p>
                  </a:txBody>
                  <a:tcPr anchor="ctr" marL="73152" marR="73152" marT="0" marB="0">
                    <a:solidFill>
                      <a:srgbClr val="E8E4E0"/>
                    </a:solidFill>
                  </a:tcPr>
                </a:tc>
                <a:tc>
                  <a:txBody>
                    <a:bodyPr/>
                    <a:lstStyle/>
                    <a:p>
                      <a:pPr algn="ctr"/>
                      <a:r>
                        <a:rPr sz="1200" b="1">
                          <a:solidFill>
                            <a:srgbClr val="1A2228"/>
                          </a:solidFill>
                          <a:latin typeface="Calibri"/>
                        </a:rPr>
                        <a:t>0.4635</a:t>
                      </a:r>
                    </a:p>
                  </a:txBody>
                  <a:tcPr anchor="ctr" marL="73152" marR="73152" marT="0" marB="0">
                    <a:solidFill>
                      <a:srgbClr val="E8E4E0"/>
                    </a:solidFill>
                  </a:tcPr>
                </a:tc>
                <a:tc>
                  <a:txBody>
                    <a:bodyPr/>
                    <a:lstStyle/>
                    <a:p>
                      <a:pPr algn="ctr"/>
                      <a:r>
                        <a:rPr sz="1200" b="1">
                          <a:solidFill>
                            <a:srgbClr val="1A2228"/>
                          </a:solidFill>
                          <a:latin typeface="Calibri"/>
                        </a:rPr>
                        <a:t>0.8119</a:t>
                      </a:r>
                    </a:p>
                  </a:txBody>
                  <a:tcPr anchor="ctr" marL="73152" marR="73152" marT="0" marB="0">
                    <a:solidFill>
                      <a:srgbClr val="E8E4E0"/>
                    </a:solidFill>
                  </a:tcPr>
                </a:tc>
                <a:tc>
                  <a:txBody>
                    <a:bodyPr/>
                    <a:lstStyle/>
                    <a:p>
                      <a:pPr algn="ctr"/>
                      <a:r>
                        <a:rPr sz="1200" b="1">
                          <a:solidFill>
                            <a:srgbClr val="1A2228"/>
                          </a:solidFill>
                          <a:latin typeface="Calibri"/>
                        </a:rPr>
                        <a:t>[0.8057, 0.8181]</a:t>
                      </a:r>
                    </a:p>
                  </a:txBody>
                  <a:tcPr anchor="ctr" marL="73152" marR="73152" marT="0" marB="0">
                    <a:solidFill>
                      <a:srgbClr val="E8E4E0"/>
                    </a:solidFill>
                  </a:tcPr>
                </a:tc>
                <a:tc>
                  <a:txBody>
                    <a:bodyPr/>
                    <a:lstStyle/>
                    <a:p>
                      <a:pPr algn="ctr"/>
                      <a:r>
                        <a:rPr sz="1200" b="1">
                          <a:solidFill>
                            <a:srgbClr val="1A2228"/>
                          </a:solidFill>
                          <a:latin typeface="Calibri"/>
                        </a:rPr>
                        <a:t>net +</a:t>
                      </a:r>
                    </a:p>
                  </a:txBody>
                  <a:tcPr anchor="ctr" marL="73152" marR="73152" marT="0" marB="0">
                    <a:solidFill>
                      <a:srgbClr val="E8E4E0"/>
                    </a:solidFill>
                  </a:tcPr>
                </a:tc>
              </a:tr>
              <a:tr h="347472">
                <a:tc>
                  <a:txBody>
                    <a:bodyPr/>
                    <a:lstStyle/>
                    <a:p>
                      <a:pPr algn="l"/>
                      <a:r>
                        <a:rPr sz="1200" b="0">
                          <a:solidFill>
                            <a:srgbClr val="1A2228"/>
                          </a:solidFill>
                          <a:latin typeface="Calibri"/>
                        </a:rPr>
                        <a:t>0.800</a:t>
                      </a:r>
                    </a:p>
                  </a:txBody>
                  <a:tcPr anchor="ctr" marL="73152" marR="73152" marT="0" marB="0">
                    <a:solidFill>
                      <a:srgbClr val="FFFFFF"/>
                    </a:solidFill>
                  </a:tcPr>
                </a:tc>
                <a:tc>
                  <a:txBody>
                    <a:bodyPr/>
                    <a:lstStyle/>
                    <a:p>
                      <a:pPr algn="ctr"/>
                      <a:r>
                        <a:rPr sz="1200" b="0">
                          <a:solidFill>
                            <a:srgbClr val="1A2228"/>
                          </a:solidFill>
                          <a:latin typeface="Calibri"/>
                        </a:rPr>
                        <a:t>24.1%</a:t>
                      </a:r>
                    </a:p>
                  </a:txBody>
                  <a:tcPr anchor="ctr" marL="73152" marR="73152" marT="0" marB="0">
                    <a:solidFill>
                      <a:srgbClr val="FFFFFF"/>
                    </a:solidFill>
                  </a:tcPr>
                </a:tc>
                <a:tc>
                  <a:txBody>
                    <a:bodyPr/>
                    <a:lstStyle/>
                    <a:p>
                      <a:pPr algn="ctr"/>
                      <a:r>
                        <a:rPr sz="1200" b="0">
                          <a:solidFill>
                            <a:srgbClr val="1A2228"/>
                          </a:solidFill>
                          <a:latin typeface="Calibri"/>
                        </a:rPr>
                        <a:t>0.1335</a:t>
                      </a:r>
                    </a:p>
                  </a:txBody>
                  <a:tcPr anchor="ctr" marL="73152" marR="73152" marT="0" marB="0">
                    <a:solidFill>
                      <a:srgbClr val="FFFFFF"/>
                    </a:solidFill>
                  </a:tcPr>
                </a:tc>
                <a:tc>
                  <a:txBody>
                    <a:bodyPr/>
                    <a:lstStyle/>
                    <a:p>
                      <a:pPr algn="ctr"/>
                      <a:r>
                        <a:rPr sz="1200" b="0">
                          <a:solidFill>
                            <a:srgbClr val="1A2228"/>
                          </a:solidFill>
                          <a:latin typeface="Calibri"/>
                        </a:rPr>
                        <a:t>0.5753</a:t>
                      </a:r>
                    </a:p>
                  </a:txBody>
                  <a:tcPr anchor="ctr" marL="73152" marR="73152" marT="0" marB="0">
                    <a:solidFill>
                      <a:srgbClr val="FFFFFF"/>
                    </a:solidFill>
                  </a:tcPr>
                </a:tc>
                <a:tc>
                  <a:txBody>
                    <a:bodyPr/>
                    <a:lstStyle/>
                    <a:p>
                      <a:pPr algn="ctr"/>
                      <a:r>
                        <a:rPr sz="1200" b="0">
                          <a:solidFill>
                            <a:srgbClr val="1A2228"/>
                          </a:solidFill>
                          <a:latin typeface="Calibri"/>
                        </a:rPr>
                        <a:t>0.8341</a:t>
                      </a:r>
                    </a:p>
                  </a:txBody>
                  <a:tcPr anchor="ctr" marL="73152" marR="73152" marT="0" marB="0">
                    <a:solidFill>
                      <a:srgbClr val="FFFFFF"/>
                    </a:solidFill>
                  </a:tcPr>
                </a:tc>
                <a:tc>
                  <a:txBody>
                    <a:bodyPr/>
                    <a:lstStyle/>
                    <a:p>
                      <a:pPr algn="ctr"/>
                      <a:r>
                        <a:rPr sz="1200" b="0">
                          <a:solidFill>
                            <a:srgbClr val="1A2228"/>
                          </a:solidFill>
                          <a:latin typeface="Calibri"/>
                        </a:rPr>
                        <a:t>[0.8282, 0.8400]</a:t>
                      </a:r>
                    </a:p>
                  </a:txBody>
                  <a:tcPr anchor="ctr" marL="73152" marR="73152" marT="0" marB="0">
                    <a:solidFill>
                      <a:srgbClr val="FFFFFF"/>
                    </a:solidFill>
                  </a:tcPr>
                </a:tc>
                <a:tc>
                  <a:txBody>
                    <a:bodyPr/>
                    <a:lstStyle/>
                    <a:p>
                      <a:pPr algn="ctr"/>
                      <a:r>
                        <a:rPr sz="1200" b="0">
                          <a:solidFill>
                            <a:srgbClr val="1A2228"/>
                          </a:solidFill>
                          <a:latin typeface="Calibri"/>
                        </a:rPr>
                        <a:t>net +</a:t>
                      </a:r>
                    </a:p>
                  </a:txBody>
                  <a:tcPr anchor="ctr" marL="73152" marR="73152" marT="0" marB="0">
                    <a:solidFill>
                      <a:srgbClr val="FFFFFF"/>
                    </a:solidFill>
                  </a:tcPr>
                </a:tc>
              </a:tr>
              <a:tr h="347472">
                <a:tc>
                  <a:txBody>
                    <a:bodyPr/>
                    <a:lstStyle/>
                    <a:p>
                      <a:pPr algn="l"/>
                      <a:r>
                        <a:rPr sz="1200" b="0">
                          <a:solidFill>
                            <a:srgbClr val="1A2228"/>
                          </a:solidFill>
                          <a:latin typeface="Calibri"/>
                        </a:rPr>
                        <a:t>0.990</a:t>
                      </a:r>
                    </a:p>
                  </a:txBody>
                  <a:tcPr anchor="ctr" marL="73152" marR="73152" marT="0" marB="0">
                    <a:solidFill>
                      <a:srgbClr val="FAFAF8"/>
                    </a:solidFill>
                  </a:tcPr>
                </a:tc>
                <a:tc>
                  <a:txBody>
                    <a:bodyPr/>
                    <a:lstStyle/>
                    <a:p>
                      <a:pPr algn="ctr"/>
                      <a:r>
                        <a:rPr sz="1200" b="0">
                          <a:solidFill>
                            <a:srgbClr val="1A2228"/>
                          </a:solidFill>
                          <a:latin typeface="Calibri"/>
                        </a:rPr>
                        <a:t>24.6%</a:t>
                      </a:r>
                    </a:p>
                  </a:txBody>
                  <a:tcPr anchor="ctr" marL="73152" marR="73152" marT="0" marB="0">
                    <a:solidFill>
                      <a:srgbClr val="FAFAF8"/>
                    </a:solidFill>
                  </a:tcPr>
                </a:tc>
                <a:tc>
                  <a:txBody>
                    <a:bodyPr/>
                    <a:lstStyle/>
                    <a:p>
                      <a:pPr algn="ctr"/>
                      <a:r>
                        <a:rPr sz="1200" b="0">
                          <a:solidFill>
                            <a:srgbClr val="1A2228"/>
                          </a:solidFill>
                          <a:latin typeface="Calibri"/>
                        </a:rPr>
                        <a:t>0.1258</a:t>
                      </a:r>
                    </a:p>
                  </a:txBody>
                  <a:tcPr anchor="ctr" marL="73152" marR="73152" marT="0" marB="0">
                    <a:solidFill>
                      <a:srgbClr val="FAFAF8"/>
                    </a:solidFill>
                  </a:tcPr>
                </a:tc>
                <a:tc>
                  <a:txBody>
                    <a:bodyPr/>
                    <a:lstStyle/>
                    <a:p>
                      <a:pPr algn="ctr"/>
                      <a:r>
                        <a:rPr sz="1200" b="0">
                          <a:solidFill>
                            <a:srgbClr val="1A2228"/>
                          </a:solidFill>
                          <a:latin typeface="Calibri"/>
                        </a:rPr>
                        <a:t>0.7736</a:t>
                      </a:r>
                    </a:p>
                  </a:txBody>
                  <a:tcPr anchor="ctr" marL="73152" marR="73152" marT="0" marB="0">
                    <a:solidFill>
                      <a:srgbClr val="FAFAF8"/>
                    </a:solidFill>
                  </a:tcPr>
                </a:tc>
                <a:tc>
                  <a:txBody>
                    <a:bodyPr/>
                    <a:lstStyle/>
                    <a:p>
                      <a:pPr algn="ctr"/>
                      <a:r>
                        <a:rPr sz="1200" b="0">
                          <a:solidFill>
                            <a:srgbClr val="1A2228"/>
                          </a:solidFill>
                          <a:latin typeface="Calibri"/>
                        </a:rPr>
                        <a:t>0.8712</a:t>
                      </a:r>
                    </a:p>
                  </a:txBody>
                  <a:tcPr anchor="ctr" marL="73152" marR="73152" marT="0" marB="0">
                    <a:solidFill>
                      <a:srgbClr val="FAFAF8"/>
                    </a:solidFill>
                  </a:tcPr>
                </a:tc>
                <a:tc>
                  <a:txBody>
                    <a:bodyPr/>
                    <a:lstStyle/>
                    <a:p>
                      <a:pPr algn="ctr"/>
                      <a:r>
                        <a:rPr sz="1200" b="0">
                          <a:solidFill>
                            <a:srgbClr val="1A2228"/>
                          </a:solidFill>
                          <a:latin typeface="Calibri"/>
                        </a:rPr>
                        <a:t>[0.8650, 0.8775]</a:t>
                      </a:r>
                    </a:p>
                  </a:txBody>
                  <a:tcPr anchor="ctr" marL="73152" marR="73152" marT="0" marB="0">
                    <a:solidFill>
                      <a:srgbClr val="FAFAF8"/>
                    </a:solidFill>
                  </a:tcPr>
                </a:tc>
                <a:tc>
                  <a:txBody>
                    <a:bodyPr/>
                    <a:lstStyle/>
                    <a:p>
                      <a:pPr algn="ctr"/>
                      <a:r>
                        <a:rPr sz="1200" b="0">
                          <a:solidFill>
                            <a:srgbClr val="1A2228"/>
                          </a:solidFill>
                          <a:latin typeface="Calibri"/>
                        </a:rPr>
                        <a:t>net +</a:t>
                      </a:r>
                    </a:p>
                  </a:txBody>
                  <a:tcPr anchor="ctr" marL="73152" marR="73152" marT="0" marB="0">
                    <a:solidFill>
                      <a:srgbClr val="FAFAF8"/>
                    </a:solidFill>
                  </a:tcPr>
                </a:tc>
              </a:tr>
            </a:tbl>
          </a:graphicData>
        </a:graphic>
      </p:graphicFrame>
      <p:sp>
        <p:nvSpPr>
          <p:cNvPr id="5" name="TextBox 4"/>
          <p:cNvSpPr txBox="1"/>
          <p:nvPr/>
        </p:nvSpPr>
        <p:spPr>
          <a:xfrm>
            <a:off x="640080" y="4572000"/>
            <a:ext cx="10881360" cy="731520"/>
          </a:xfrm>
          <a:prstGeom prst="rect">
            <a:avLst/>
          </a:prstGeom>
          <a:noFill/>
        </p:spPr>
        <p:txBody>
          <a:bodyPr wrap="square" lIns="0" rIns="0" tIns="0" bIns="0">
            <a:spAutoFit/>
          </a:bodyPr>
          <a:lstStyle/>
          <a:p>
            <a:pPr algn="l">
              <a:spcAft>
                <a:spcPts val="600"/>
              </a:spcAft>
            </a:pPr>
            <a:r>
              <a:rPr sz="1450" b="0" i="0">
                <a:solidFill>
                  <a:srgbClr val="1A2228"/>
                </a:solidFill>
                <a:latin typeface="Calibri"/>
              </a:rPr>
              <a:t>The crossing is at AUROC ≈ 0.65 — below the probe that already exists. 0.6968 sits inside the [0.625, 0.700] band the sweep cannot resolve, so the probe is at the boundary, not past it.</a:t>
            </a:r>
          </a:p>
        </p:txBody>
      </p:sp>
      <p:sp>
        <p:nvSpPr>
          <p:cNvPr id="6" name="TextBox 5"/>
          <p:cNvSpPr txBox="1"/>
          <p:nvPr/>
        </p:nvSpPr>
        <p:spPr>
          <a:xfrm>
            <a:off x="640080" y="5349240"/>
            <a:ext cx="5303520" cy="365760"/>
          </a:xfrm>
          <a:prstGeom prst="rect">
            <a:avLst/>
          </a:prstGeom>
          <a:noFill/>
        </p:spPr>
        <p:txBody>
          <a:bodyPr wrap="square" lIns="0" rIns="0" tIns="0" bIns="0">
            <a:spAutoFit/>
          </a:bodyPr>
          <a:lstStyle/>
          <a:p>
            <a:pPr algn="l">
              <a:spcAft>
                <a:spcPts val="600"/>
              </a:spcAft>
            </a:pPr>
            <a:r>
              <a:rPr sz="1600" b="1" i="0">
                <a:solidFill>
                  <a:srgbClr val="B85042"/>
                </a:solidFill>
                <a:latin typeface="Calibri"/>
              </a:rPr>
              <a:t>The threshold is made entirely of false alarms.</a:t>
            </a:r>
          </a:p>
        </p:txBody>
      </p:sp>
      <p:sp>
        <p:nvSpPr>
          <p:cNvPr id="7" name="TextBox 6"/>
          <p:cNvSpPr txBox="1"/>
          <p:nvPr/>
        </p:nvSpPr>
        <p:spPr>
          <a:xfrm>
            <a:off x="640080" y="5715000"/>
            <a:ext cx="10881360" cy="822960"/>
          </a:xfrm>
          <a:prstGeom prst="rect">
            <a:avLst/>
          </a:prstGeom>
          <a:noFill/>
        </p:spPr>
        <p:txBody>
          <a:bodyPr wrap="square" lIns="0" rIns="0" tIns="0" bIns="0">
            <a:spAutoFit/>
          </a:bodyPr>
          <a:lstStyle/>
          <a:p>
            <a:pPr algn="l">
              <a:spcAft>
                <a:spcPts val="600"/>
              </a:spcAft>
            </a:pPr>
            <a:r>
              <a:rPr sz="1350" b="0" i="0">
                <a:solidFill>
                  <a:srgbClr val="1A2228"/>
                </a:solidFill>
                <a:latin typeface="Calibri"/>
              </a:rPr>
              <a:t>At FA = 0 the same verifier is worth having at every score quality tested, down to 0.55. Halving a verifier's false-alarm rate lowers the score quality you need more than raising its detection rate would — though detection was never varied, so that comparison is an argument, not a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AUROC is the wrong figure of merit for a step score</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Verification pinned at 19.1% so only the ranking differs</a:t>
            </a:r>
          </a:p>
        </p:txBody>
      </p:sp>
      <p:graphicFrame>
        <p:nvGraphicFramePr>
          <p:cNvPr id="4" name="Table 3"/>
          <p:cNvGraphicFramePr>
            <a:graphicFrameLocks noGrp="1"/>
          </p:cNvGraphicFramePr>
          <p:nvPr/>
        </p:nvGraphicFramePr>
        <p:xfrm>
          <a:off x="640080" y="1874519"/>
          <a:ext cx="10881359" cy="1207008"/>
        </p:xfrm>
        <a:graphic>
          <a:graphicData uri="http://schemas.openxmlformats.org/drawingml/2006/table">
            <a:tbl>
              <a:tblPr firstRow="1" bandRow="1">
                <a:tableStyleId>{5C22544A-7EE6-4342-B048-85BDC9FD1C3A}</a:tableStyleId>
              </a:tblPr>
              <a:tblGrid>
                <a:gridCol w="2538983"/>
                <a:gridCol w="1450848"/>
                <a:gridCol w="1450848"/>
                <a:gridCol w="1450848"/>
                <a:gridCol w="2176272"/>
                <a:gridCol w="1813560"/>
              </a:tblGrid>
              <a:tr h="402336">
                <a:tc>
                  <a:txBody>
                    <a:bodyPr/>
                    <a:lstStyle/>
                    <a:p>
                      <a:pPr algn="l"/>
                    </a:p>
                  </a:txBody>
                  <a:tcPr anchor="ctr" marL="73152" marR="73152" marT="0" marB="0">
                    <a:solidFill>
                      <a:srgbClr val="2B3A42"/>
                    </a:solidFill>
                  </a:tcPr>
                </a:tc>
                <a:tc>
                  <a:txBody>
                    <a:bodyPr/>
                    <a:lstStyle/>
                    <a:p>
                      <a:pPr algn="ctr"/>
                      <a:r>
                        <a:rPr sz="1200" b="1">
                          <a:solidFill>
                            <a:srgbClr val="FFFFFF"/>
                          </a:solidFill>
                          <a:latin typeface="Calibri"/>
                        </a:rPr>
                        <a:t>AUROC</a:t>
                      </a:r>
                    </a:p>
                  </a:txBody>
                  <a:tcPr anchor="ctr" marL="73152" marR="73152" marT="0" marB="0">
                    <a:solidFill>
                      <a:srgbClr val="2B3A42"/>
                    </a:solidFill>
                  </a:tcPr>
                </a:tc>
                <a:tc>
                  <a:txBody>
                    <a:bodyPr/>
                    <a:lstStyle/>
                    <a:p>
                      <a:pPr algn="ctr"/>
                      <a:r>
                        <a:rPr sz="1200" b="1">
                          <a:solidFill>
                            <a:srgbClr val="FFFFFF"/>
                          </a:solidFill>
                          <a:latin typeface="Calibri"/>
                        </a:rPr>
                        <a:t>calls/q</a:t>
                      </a:r>
                    </a:p>
                  </a:txBody>
                  <a:tcPr anchor="ctr" marL="73152" marR="73152" marT="0" marB="0">
                    <a:solidFill>
                      <a:srgbClr val="2B3A42"/>
                    </a:solidFill>
                  </a:tcPr>
                </a:tc>
                <a:tc>
                  <a:txBody>
                    <a:bodyPr/>
                    <a:lstStyle/>
                    <a:p>
                      <a:pPr algn="ctr"/>
                      <a:r>
                        <a:rPr sz="1200" b="1">
                          <a:solidFill>
                            <a:srgbClr val="FFFFFF"/>
                          </a:solidFill>
                          <a:latin typeface="Calibri"/>
                        </a:rPr>
                        <a:t>recall</a:t>
                      </a:r>
                    </a:p>
                  </a:txBody>
                  <a:tcPr anchor="ctr" marL="73152" marR="73152" marT="0" marB="0">
                    <a:solidFill>
                      <a:srgbClr val="2B3A42"/>
                    </a:solidFill>
                  </a:tcPr>
                </a:tc>
                <a:tc>
                  <a:txBody>
                    <a:bodyPr/>
                    <a:lstStyle/>
                    <a:p>
                      <a:pPr algn="ctr"/>
                      <a:r>
                        <a:rPr sz="1200" b="1">
                          <a:solidFill>
                            <a:srgbClr val="FFFFFF"/>
                          </a:solidFill>
                          <a:latin typeface="Calibri"/>
                        </a:rPr>
                        <a:t>1st-bad recall</a:t>
                      </a:r>
                    </a:p>
                  </a:txBody>
                  <a:tcPr anchor="ctr" marL="73152" marR="73152" marT="0" marB="0">
                    <a:solidFill>
                      <a:srgbClr val="2B3A42"/>
                    </a:solidFill>
                  </a:tcPr>
                </a:tc>
                <a:tc>
                  <a:txBody>
                    <a:bodyPr/>
                    <a:lstStyle/>
                    <a:p>
                      <a:pPr algn="ctr"/>
                      <a:r>
                        <a:rPr sz="1200" b="1">
                          <a:solidFill>
                            <a:srgbClr val="FFFFFF"/>
                          </a:solidFill>
                          <a:latin typeface="Calibri"/>
                        </a:rPr>
                        <a:t>PROJ acc</a:t>
                      </a:r>
                    </a:p>
                  </a:txBody>
                  <a:tcPr anchor="ctr" marL="73152" marR="73152" marT="0" marB="0">
                    <a:solidFill>
                      <a:srgbClr val="2B3A42"/>
                    </a:solidFill>
                  </a:tcPr>
                </a:tc>
              </a:tr>
              <a:tr h="402336">
                <a:tc>
                  <a:txBody>
                    <a:bodyPr/>
                    <a:lstStyle/>
                    <a:p>
                      <a:pPr algn="l"/>
                      <a:r>
                        <a:rPr sz="1350" b="0">
                          <a:solidFill>
                            <a:srgbClr val="1A2228"/>
                          </a:solidFill>
                          <a:latin typeface="Calibri"/>
                        </a:rPr>
                        <a:t>synthetic score</a:t>
                      </a:r>
                    </a:p>
                  </a:txBody>
                  <a:tcPr anchor="ctr" marL="73152" marR="73152" marT="0" marB="0">
                    <a:solidFill>
                      <a:srgbClr val="FFFFFF"/>
                    </a:solidFill>
                  </a:tcPr>
                </a:tc>
                <a:tc>
                  <a:txBody>
                    <a:bodyPr/>
                    <a:lstStyle/>
                    <a:p>
                      <a:pPr algn="ctr"/>
                      <a:r>
                        <a:rPr sz="1350" b="0">
                          <a:solidFill>
                            <a:srgbClr val="1A2228"/>
                          </a:solidFill>
                          <a:latin typeface="Calibri"/>
                        </a:rPr>
                        <a:t>0.6974</a:t>
                      </a:r>
                    </a:p>
                  </a:txBody>
                  <a:tcPr anchor="ctr" marL="73152" marR="73152" marT="0" marB="0">
                    <a:solidFill>
                      <a:srgbClr val="FFFFFF"/>
                    </a:solidFill>
                  </a:tcPr>
                </a:tc>
                <a:tc>
                  <a:txBody>
                    <a:bodyPr/>
                    <a:lstStyle/>
                    <a:p>
                      <a:pPr algn="ctr"/>
                      <a:r>
                        <a:rPr sz="1350" b="0">
                          <a:solidFill>
                            <a:srgbClr val="1A2228"/>
                          </a:solidFill>
                          <a:latin typeface="Calibri"/>
                        </a:rPr>
                        <a:t>0.79</a:t>
                      </a:r>
                    </a:p>
                  </a:txBody>
                  <a:tcPr anchor="ctr" marL="73152" marR="73152" marT="0" marB="0">
                    <a:solidFill>
                      <a:srgbClr val="FFFFFF"/>
                    </a:solidFill>
                  </a:tcPr>
                </a:tc>
                <a:tc>
                  <a:txBody>
                    <a:bodyPr/>
                    <a:lstStyle/>
                    <a:p>
                      <a:pPr algn="ctr"/>
                      <a:r>
                        <a:rPr sz="1350" b="0">
                          <a:solidFill>
                            <a:srgbClr val="1A2228"/>
                          </a:solidFill>
                          <a:latin typeface="Calibri"/>
                        </a:rPr>
                        <a:t>0.2416</a:t>
                      </a:r>
                    </a:p>
                  </a:txBody>
                  <a:tcPr anchor="ctr" marL="73152" marR="73152" marT="0" marB="0">
                    <a:solidFill>
                      <a:srgbClr val="FFFFFF"/>
                    </a:solidFill>
                  </a:tcPr>
                </a:tc>
                <a:tc>
                  <a:txBody>
                    <a:bodyPr/>
                    <a:lstStyle/>
                    <a:p>
                      <a:pPr algn="ctr"/>
                      <a:r>
                        <a:rPr sz="1350" b="0">
                          <a:solidFill>
                            <a:srgbClr val="1A2228"/>
                          </a:solidFill>
                          <a:latin typeface="Calibri"/>
                        </a:rPr>
                        <a:t>0.3413</a:t>
                      </a:r>
                    </a:p>
                  </a:txBody>
                  <a:tcPr anchor="ctr" marL="73152" marR="73152" marT="0" marB="0">
                    <a:solidFill>
                      <a:srgbClr val="FFFFFF"/>
                    </a:solidFill>
                  </a:tcPr>
                </a:tc>
                <a:tc>
                  <a:txBody>
                    <a:bodyPr/>
                    <a:lstStyle/>
                    <a:p>
                      <a:pPr algn="ctr"/>
                      <a:r>
                        <a:rPr sz="1350" b="0">
                          <a:solidFill>
                            <a:srgbClr val="1A2228"/>
                          </a:solidFill>
                          <a:latin typeface="Calibri"/>
                        </a:rPr>
                        <a:t>0.8206</a:t>
                      </a:r>
                    </a:p>
                  </a:txBody>
                  <a:tcPr anchor="ctr" marL="73152" marR="73152" marT="0" marB="0">
                    <a:solidFill>
                      <a:srgbClr val="FFFFFF"/>
                    </a:solidFill>
                  </a:tcPr>
                </a:tc>
              </a:tr>
              <a:tr h="402336">
                <a:tc>
                  <a:txBody>
                    <a:bodyPr/>
                    <a:lstStyle/>
                    <a:p>
                      <a:pPr algn="l"/>
                      <a:r>
                        <a:rPr sz="1350" b="0">
                          <a:solidFill>
                            <a:srgbClr val="1A2228"/>
                          </a:solidFill>
                          <a:latin typeface="Calibri"/>
                        </a:rPr>
                        <a:t>probe, layer 25</a:t>
                      </a:r>
                    </a:p>
                  </a:txBody>
                  <a:tcPr anchor="ctr" marL="73152" marR="73152" marT="0" marB="0">
                    <a:solidFill>
                      <a:srgbClr val="FAFAF8"/>
                    </a:solidFill>
                  </a:tcPr>
                </a:tc>
                <a:tc>
                  <a:txBody>
                    <a:bodyPr/>
                    <a:lstStyle/>
                    <a:p>
                      <a:pPr algn="ctr"/>
                      <a:r>
                        <a:rPr sz="1350" b="0">
                          <a:solidFill>
                            <a:srgbClr val="1A2228"/>
                          </a:solidFill>
                          <a:latin typeface="Calibri"/>
                        </a:rPr>
                        <a:t>0.6968</a:t>
                      </a:r>
                    </a:p>
                  </a:txBody>
                  <a:tcPr anchor="ctr" marL="73152" marR="73152" marT="0" marB="0">
                    <a:solidFill>
                      <a:srgbClr val="FAFAF8"/>
                    </a:solidFill>
                  </a:tcPr>
                </a:tc>
                <a:tc>
                  <a:txBody>
                    <a:bodyPr/>
                    <a:lstStyle/>
                    <a:p>
                      <a:pPr algn="ctr"/>
                      <a:r>
                        <a:rPr sz="1350" b="0">
                          <a:solidFill>
                            <a:srgbClr val="1A2228"/>
                          </a:solidFill>
                          <a:latin typeface="Calibri"/>
                        </a:rPr>
                        <a:t>0.96</a:t>
                      </a:r>
                    </a:p>
                  </a:txBody>
                  <a:tcPr anchor="ctr" marL="73152" marR="73152" marT="0" marB="0">
                    <a:solidFill>
                      <a:srgbClr val="FAFAF8"/>
                    </a:solidFill>
                  </a:tcPr>
                </a:tc>
                <a:tc>
                  <a:txBody>
                    <a:bodyPr/>
                    <a:lstStyle/>
                    <a:p>
                      <a:pPr algn="ctr"/>
                      <a:r>
                        <a:rPr sz="1350" b="0">
                          <a:solidFill>
                            <a:srgbClr val="1A2228"/>
                          </a:solidFill>
                          <a:latin typeface="Calibri"/>
                        </a:rPr>
                        <a:t>0.2465</a:t>
                      </a:r>
                    </a:p>
                  </a:txBody>
                  <a:tcPr anchor="ctr" marL="73152" marR="73152" marT="0" marB="0">
                    <a:solidFill>
                      <a:srgbClr val="FAFAF8"/>
                    </a:solidFill>
                  </a:tcPr>
                </a:tc>
                <a:tc>
                  <a:txBody>
                    <a:bodyPr/>
                    <a:lstStyle/>
                    <a:p>
                      <a:pPr algn="ctr"/>
                      <a:r>
                        <a:rPr sz="1350" b="0">
                          <a:solidFill>
                            <a:srgbClr val="1A2228"/>
                          </a:solidFill>
                          <a:latin typeface="Calibri"/>
                        </a:rPr>
                        <a:t>0.3077</a:t>
                      </a:r>
                    </a:p>
                  </a:txBody>
                  <a:tcPr anchor="ctr" marL="73152" marR="73152" marT="0" marB="0">
                    <a:solidFill>
                      <a:srgbClr val="FAFAF8"/>
                    </a:solidFill>
                  </a:tcPr>
                </a:tc>
                <a:tc>
                  <a:txBody>
                    <a:bodyPr/>
                    <a:lstStyle/>
                    <a:p>
                      <a:pPr algn="ctr"/>
                      <a:r>
                        <a:rPr sz="1350" b="0">
                          <a:solidFill>
                            <a:srgbClr val="1A2228"/>
                          </a:solidFill>
                          <a:latin typeface="Calibri"/>
                        </a:rPr>
                        <a:t>0.7802</a:t>
                      </a:r>
                    </a:p>
                  </a:txBody>
                  <a:tcPr anchor="ctr" marL="73152" marR="73152" marT="0" marB="0">
                    <a:solidFill>
                      <a:srgbClr val="FAFAF8"/>
                    </a:solidFill>
                  </a:tcPr>
                </a:tc>
              </a:tr>
            </a:tbl>
          </a:graphicData>
        </a:graphic>
      </p:graphicFrame>
      <p:sp>
        <p:nvSpPr>
          <p:cNvPr id="5" name="TextBox 4"/>
          <p:cNvSpPr txBox="1"/>
          <p:nvPr/>
        </p:nvSpPr>
        <p:spPr>
          <a:xfrm>
            <a:off x="640080" y="3337560"/>
            <a:ext cx="10881360" cy="640080"/>
          </a:xfrm>
          <a:prstGeom prst="rect">
            <a:avLst/>
          </a:prstGeom>
          <a:noFill/>
        </p:spPr>
        <p:txBody>
          <a:bodyPr wrap="square" lIns="0" rIns="0" tIns="0" bIns="0">
            <a:spAutoFit/>
          </a:bodyPr>
          <a:lstStyle/>
          <a:p>
            <a:pPr algn="l">
              <a:spcAft>
                <a:spcPts val="600"/>
              </a:spcAft>
            </a:pPr>
            <a:r>
              <a:rPr sz="1500" b="0" i="0">
                <a:solidFill>
                  <a:srgbClr val="1A2228"/>
                </a:solidFill>
                <a:latin typeface="Calibri"/>
              </a:rPr>
              <a:t>Two scores of near-identical AUROC, differing by 0.04 projected accuracy. The probe sits at the 0th percentile of 64 synthetic draws at the same AUROC.</a:t>
            </a:r>
          </a:p>
        </p:txBody>
      </p:sp>
      <p:sp>
        <p:nvSpPr>
          <p:cNvPr id="6" name="TextBox 5"/>
          <p:cNvSpPr txBox="1"/>
          <p:nvPr/>
        </p:nvSpPr>
        <p:spPr>
          <a:xfrm>
            <a:off x="640080" y="4069080"/>
            <a:ext cx="5486400" cy="822960"/>
          </a:xfrm>
          <a:prstGeom prst="rect">
            <a:avLst/>
          </a:prstGeom>
          <a:noFill/>
        </p:spPr>
        <p:txBody>
          <a:bodyPr wrap="square" lIns="0" rIns="0" tIns="0" bIns="0">
            <a:spAutoFit/>
          </a:bodyPr>
          <a:lstStyle/>
          <a:p>
            <a:pPr algn="l">
              <a:spcAft>
                <a:spcPts val="600"/>
              </a:spcAft>
            </a:pPr>
            <a:r>
              <a:rPr sz="1500" b="0" i="0">
                <a:solidFill>
                  <a:srgbClr val="2B3A42"/>
                </a:solidFill>
                <a:latin typeface="Courier New"/>
              </a:rPr>
              <a:t>corr(step position, probe score)      +0.1813</a:t>
            </a:r>
          </a:p>
          <a:p>
            <a:pPr algn="l">
              <a:spcAft>
                <a:spcPts val="600"/>
              </a:spcAft>
            </a:pPr>
            <a:r>
              <a:rPr sz="1500" b="0" i="0">
                <a:solidFill>
                  <a:srgbClr val="2B3A42"/>
                </a:solidFill>
                <a:latin typeface="Courier New"/>
              </a:rPr>
              <a:t>corr(step position, composite score)  −0.2766</a:t>
            </a:r>
          </a:p>
        </p:txBody>
      </p:sp>
      <p:sp>
        <p:nvSpPr>
          <p:cNvPr id="7" name="TextBox 6"/>
          <p:cNvSpPr txBox="1"/>
          <p:nvPr/>
        </p:nvSpPr>
        <p:spPr>
          <a:xfrm>
            <a:off x="640080" y="502920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The probe flags late steps. Local error rises with position, so a score that chases positional difficulty is rewarded on AUROC — but the projection only pays for the FIRST bad step, because everything downstream inherits corruption that repairing a later step does not undo.</a:t>
            </a:r>
          </a:p>
        </p:txBody>
      </p:sp>
      <p:sp>
        <p:nvSpPr>
          <p:cNvPr id="8" name="TextBox 7"/>
          <p:cNvSpPr txBox="1"/>
          <p:nvPr/>
        </p:nvSpPr>
        <p:spPr>
          <a:xfrm>
            <a:off x="640080" y="5897880"/>
            <a:ext cx="10881360" cy="457200"/>
          </a:xfrm>
          <a:prstGeom prst="rect">
            <a:avLst/>
          </a:prstGeom>
          <a:noFill/>
        </p:spPr>
        <p:txBody>
          <a:bodyPr wrap="square" lIns="0" rIns="0" tIns="0" bIns="0">
            <a:spAutoFit/>
          </a:bodyPr>
          <a:lstStyle/>
          <a:p>
            <a:pPr algn="l">
              <a:spcAft>
                <a:spcPts val="600"/>
              </a:spcAft>
            </a:pPr>
            <a:r>
              <a:rPr sz="1600" b="1" i="0">
                <a:solidFill>
                  <a:srgbClr val="B85042"/>
                </a:solidFill>
                <a:latin typeface="Calibri"/>
              </a:rPr>
              <a:t>Rank by AUROC to compare with the literature. Select on first-bad-step recall.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Statistical rigor</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multiple runs/seeds, confidence intervals, significance</a:t>
            </a:r>
          </a:p>
        </p:txBody>
      </p:sp>
      <p:sp>
        <p:nvSpPr>
          <p:cNvPr id="4" name="TextBox 3"/>
          <p:cNvSpPr txBox="1"/>
          <p:nvPr/>
        </p:nvSpPr>
        <p:spPr>
          <a:xfrm>
            <a:off x="640080" y="1828800"/>
            <a:ext cx="265176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64</a:t>
            </a:r>
          </a:p>
        </p:txBody>
      </p:sp>
      <p:sp>
        <p:nvSpPr>
          <p:cNvPr id="5" name="TextBox 4"/>
          <p:cNvSpPr txBox="1"/>
          <p:nvPr/>
        </p:nvSpPr>
        <p:spPr>
          <a:xfrm>
            <a:off x="64008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seeds per grid point</a:t>
            </a:r>
          </a:p>
          <a:p>
            <a:pPr algn="l">
              <a:spcAft>
                <a:spcPts val="600"/>
              </a:spcAft>
            </a:pPr>
            <a:r>
              <a:rPr sz="1200" b="0" i="0">
                <a:solidFill>
                  <a:srgbClr val="6E7B82"/>
                </a:solidFill>
                <a:latin typeface="Calibri"/>
              </a:rPr>
              <a:t>in the score-quality sweep</a:t>
            </a:r>
          </a:p>
        </p:txBody>
      </p:sp>
      <p:sp>
        <p:nvSpPr>
          <p:cNvPr id="6" name="TextBox 5"/>
          <p:cNvSpPr txBox="1"/>
          <p:nvPr/>
        </p:nvSpPr>
        <p:spPr>
          <a:xfrm>
            <a:off x="3474720" y="1828800"/>
            <a:ext cx="2651760" cy="658368"/>
          </a:xfrm>
          <a:prstGeom prst="rect">
            <a:avLst/>
          </a:prstGeom>
          <a:noFill/>
        </p:spPr>
        <p:txBody>
          <a:bodyPr wrap="square" lIns="0" rIns="0" tIns="0" bIns="0">
            <a:spAutoFit/>
          </a:bodyPr>
          <a:lstStyle/>
          <a:p>
            <a:pPr algn="l">
              <a:spcAft>
                <a:spcPts val="600"/>
              </a:spcAft>
            </a:pPr>
            <a:r>
              <a:rPr sz="3400" b="1" i="0">
                <a:solidFill>
                  <a:srgbClr val="2B3A42"/>
                </a:solidFill>
                <a:latin typeface="Cambria"/>
              </a:rPr>
              <a:t>13 × 64</a:t>
            </a:r>
          </a:p>
        </p:txBody>
      </p:sp>
      <p:sp>
        <p:nvSpPr>
          <p:cNvPr id="7" name="TextBox 6"/>
          <p:cNvSpPr txBox="1"/>
          <p:nvPr/>
        </p:nvSpPr>
        <p:spPr>
          <a:xfrm>
            <a:off x="347472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grid points × seeds</a:t>
            </a:r>
          </a:p>
          <a:p>
            <a:pPr algn="l">
              <a:spcAft>
                <a:spcPts val="600"/>
              </a:spcAft>
            </a:pPr>
            <a:r>
              <a:rPr sz="1200" b="0" i="0">
                <a:solidFill>
                  <a:srgbClr val="6E7B82"/>
                </a:solidFill>
                <a:latin typeface="Calibri"/>
              </a:rPr>
              <a:t>832 gate runs</a:t>
            </a:r>
          </a:p>
        </p:txBody>
      </p:sp>
      <p:sp>
        <p:nvSpPr>
          <p:cNvPr id="8" name="TextBox 7"/>
          <p:cNvSpPr txBox="1"/>
          <p:nvPr/>
        </p:nvSpPr>
        <p:spPr>
          <a:xfrm>
            <a:off x="6309360" y="1828800"/>
            <a:ext cx="2651760" cy="658368"/>
          </a:xfrm>
          <a:prstGeom prst="rect">
            <a:avLst/>
          </a:prstGeom>
          <a:noFill/>
        </p:spPr>
        <p:txBody>
          <a:bodyPr wrap="square" lIns="0" rIns="0" tIns="0" bIns="0">
            <a:spAutoFit/>
          </a:bodyPr>
          <a:lstStyle/>
          <a:p>
            <a:pPr algn="l">
              <a:spcAft>
                <a:spcPts val="600"/>
              </a:spcAft>
            </a:pPr>
            <a:r>
              <a:rPr sz="3400" b="1" i="0">
                <a:solidFill>
                  <a:srgbClr val="3E6E6C"/>
                </a:solidFill>
                <a:latin typeface="Cambria"/>
              </a:rPr>
              <a:t>Wilson</a:t>
            </a:r>
          </a:p>
        </p:txBody>
      </p:sp>
      <p:sp>
        <p:nvSpPr>
          <p:cNvPr id="9" name="TextBox 8"/>
          <p:cNvSpPr txBox="1"/>
          <p:nvPr/>
        </p:nvSpPr>
        <p:spPr>
          <a:xfrm>
            <a:off x="630936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intervals on every</a:t>
            </a:r>
          </a:p>
          <a:p>
            <a:pPr algn="l">
              <a:spcAft>
                <a:spcPts val="600"/>
              </a:spcAft>
            </a:pPr>
            <a:r>
              <a:rPr sz="1200" b="0" i="0">
                <a:solidFill>
                  <a:srgbClr val="6E7B82"/>
                </a:solidFill>
                <a:latin typeface="Calibri"/>
              </a:rPr>
              <a:t>proportion reported</a:t>
            </a:r>
          </a:p>
        </p:txBody>
      </p:sp>
      <p:sp>
        <p:nvSpPr>
          <p:cNvPr id="10" name="TextBox 9"/>
          <p:cNvSpPr txBox="1"/>
          <p:nvPr/>
        </p:nvSpPr>
        <p:spPr>
          <a:xfrm>
            <a:off x="9144000" y="1828800"/>
            <a:ext cx="2651760" cy="658368"/>
          </a:xfrm>
          <a:prstGeom prst="rect">
            <a:avLst/>
          </a:prstGeom>
          <a:noFill/>
        </p:spPr>
        <p:txBody>
          <a:bodyPr wrap="square" lIns="0" rIns="0" tIns="0" bIns="0">
            <a:spAutoFit/>
          </a:bodyPr>
          <a:lstStyle/>
          <a:p>
            <a:pPr algn="l">
              <a:spcAft>
                <a:spcPts val="600"/>
              </a:spcAft>
            </a:pPr>
            <a:r>
              <a:rPr sz="3400" b="1" i="0">
                <a:solidFill>
                  <a:srgbClr val="3E6E6C"/>
                </a:solidFill>
                <a:latin typeface="Cambria"/>
              </a:rPr>
              <a:t>clustered</a:t>
            </a:r>
          </a:p>
        </p:txBody>
      </p:sp>
      <p:sp>
        <p:nvSpPr>
          <p:cNvPr id="11" name="TextBox 10"/>
          <p:cNvSpPr txBox="1"/>
          <p:nvPr/>
        </p:nvSpPr>
        <p:spPr>
          <a:xfrm>
            <a:off x="914400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bootstrap — steps within</a:t>
            </a:r>
          </a:p>
          <a:p>
            <a:pPr algn="l">
              <a:spcAft>
                <a:spcPts val="600"/>
              </a:spcAft>
            </a:pPr>
            <a:r>
              <a:rPr sz="1200" b="0" i="0">
                <a:solidFill>
                  <a:srgbClr val="6E7B82"/>
                </a:solidFill>
                <a:latin typeface="Calibri"/>
              </a:rPr>
              <a:t>a solution are not independent</a:t>
            </a:r>
          </a:p>
        </p:txBody>
      </p:sp>
      <p:sp>
        <p:nvSpPr>
          <p:cNvPr id="12" name="TextBox 11"/>
          <p:cNvSpPr txBox="1"/>
          <p:nvPr/>
        </p:nvSpPr>
        <p:spPr>
          <a:xfrm>
            <a:off x="640080" y="3383280"/>
            <a:ext cx="10881360" cy="365760"/>
          </a:xfrm>
          <a:prstGeom prst="rect">
            <a:avLst/>
          </a:prstGeom>
          <a:noFill/>
        </p:spPr>
        <p:txBody>
          <a:bodyPr wrap="square" lIns="0" rIns="0" tIns="0" bIns="0">
            <a:spAutoFit/>
          </a:bodyPr>
          <a:lstStyle/>
          <a:p>
            <a:pPr algn="l">
              <a:spcAft>
                <a:spcPts val="600"/>
              </a:spcAft>
            </a:pPr>
            <a:r>
              <a:rPr sz="1700" b="1" i="0">
                <a:solidFill>
                  <a:srgbClr val="2B3A42"/>
                </a:solidFill>
                <a:latin typeface="Cambria"/>
              </a:rPr>
              <a:t>What the intervals changed</a:t>
            </a:r>
          </a:p>
        </p:txBody>
      </p:sp>
      <p:graphicFrame>
        <p:nvGraphicFramePr>
          <p:cNvPr id="13" name="Table 12"/>
          <p:cNvGraphicFramePr>
            <a:graphicFrameLocks noGrp="1"/>
          </p:cNvGraphicFramePr>
          <p:nvPr/>
        </p:nvGraphicFramePr>
        <p:xfrm>
          <a:off x="640080" y="3840480"/>
          <a:ext cx="10881360" cy="2194560"/>
        </p:xfrm>
        <a:graphic>
          <a:graphicData uri="http://schemas.openxmlformats.org/drawingml/2006/table">
            <a:tbl>
              <a:tblPr firstRow="1" bandRow="1">
                <a:tableStyleId>{5C22544A-7EE6-4342-B048-85BDC9FD1C3A}</a:tableStyleId>
              </a:tblPr>
              <a:tblGrid>
                <a:gridCol w="4284000"/>
                <a:gridCol w="1884960"/>
                <a:gridCol w="2570400"/>
                <a:gridCol w="2142000"/>
              </a:tblGrid>
              <a:tr h="365760">
                <a:tc>
                  <a:txBody>
                    <a:bodyPr/>
                    <a:lstStyle/>
                    <a:p>
                      <a:pPr algn="l"/>
                      <a:r>
                        <a:rPr sz="1200" b="1">
                          <a:solidFill>
                            <a:srgbClr val="FFFFFF"/>
                          </a:solidFill>
                          <a:latin typeface="Calibri"/>
                        </a:rPr>
                        <a:t>Effect</a:t>
                      </a:r>
                    </a:p>
                  </a:txBody>
                  <a:tcPr anchor="ctr" marL="73152" marR="73152" marT="0" marB="0">
                    <a:solidFill>
                      <a:srgbClr val="2B3A42"/>
                    </a:solidFill>
                  </a:tcPr>
                </a:tc>
                <a:tc>
                  <a:txBody>
                    <a:bodyPr/>
                    <a:lstStyle/>
                    <a:p>
                      <a:pPr algn="ctr"/>
                      <a:r>
                        <a:rPr sz="1200" b="1">
                          <a:solidFill>
                            <a:srgbClr val="FFFFFF"/>
                          </a:solidFill>
                          <a:latin typeface="Calibri"/>
                        </a:rPr>
                        <a:t>Estimate</a:t>
                      </a:r>
                    </a:p>
                  </a:txBody>
                  <a:tcPr anchor="ctr" marL="73152" marR="73152" marT="0" marB="0">
                    <a:solidFill>
                      <a:srgbClr val="2B3A42"/>
                    </a:solidFill>
                  </a:tcPr>
                </a:tc>
                <a:tc>
                  <a:txBody>
                    <a:bodyPr/>
                    <a:lstStyle/>
                    <a:p>
                      <a:pPr algn="ctr"/>
                      <a:r>
                        <a:rPr sz="1200" b="1">
                          <a:solidFill>
                            <a:srgbClr val="FFFFFF"/>
                          </a:solidFill>
                          <a:latin typeface="Calibri"/>
                        </a:rPr>
                        <a:t>95% CI</a:t>
                      </a:r>
                    </a:p>
                  </a:txBody>
                  <a:tcPr anchor="ctr" marL="73152" marR="73152" marT="0" marB="0">
                    <a:solidFill>
                      <a:srgbClr val="2B3A42"/>
                    </a:solidFill>
                  </a:tcPr>
                </a:tc>
                <a:tc>
                  <a:txBody>
                    <a:bodyPr/>
                    <a:lstStyle/>
                    <a:p>
                      <a:pPr algn="ctr"/>
                      <a:r>
                        <a:rPr sz="1200" b="1">
                          <a:solidFill>
                            <a:srgbClr val="FFFFFF"/>
                          </a:solidFill>
                          <a:latin typeface="Calibri"/>
                        </a:rPr>
                        <a:t>Verdict</a:t>
                      </a:r>
                    </a:p>
                  </a:txBody>
                  <a:tcPr anchor="ctr" marL="73152" marR="73152" marT="0" marB="0">
                    <a:solidFill>
                      <a:srgbClr val="2B3A42"/>
                    </a:solidFill>
                  </a:tcPr>
                </a:tc>
              </a:tr>
              <a:tr h="365760">
                <a:tc>
                  <a:txBody>
                    <a:bodyPr/>
                    <a:lstStyle/>
                    <a:p>
                      <a:pPr algn="l"/>
                      <a:r>
                        <a:rPr sz="1250" b="0">
                          <a:solidFill>
                            <a:srgbClr val="1A2228"/>
                          </a:solidFill>
                          <a:latin typeface="Calibri"/>
                        </a:rPr>
                        <a:t>Probe: doubling training data</a:t>
                      </a:r>
                    </a:p>
                  </a:txBody>
                  <a:tcPr anchor="ctr" marL="73152" marR="73152" marT="0" marB="0">
                    <a:solidFill>
                      <a:srgbClr val="FFFFFF"/>
                    </a:solidFill>
                  </a:tcPr>
                </a:tc>
                <a:tc>
                  <a:txBody>
                    <a:bodyPr/>
                    <a:lstStyle/>
                    <a:p>
                      <a:pPr algn="ctr"/>
                      <a:r>
                        <a:rPr sz="1250" b="0">
                          <a:solidFill>
                            <a:srgbClr val="1A2228"/>
                          </a:solidFill>
                          <a:latin typeface="Calibri"/>
                        </a:rPr>
                        <a:t>+0.0105</a:t>
                      </a:r>
                    </a:p>
                  </a:txBody>
                  <a:tcPr anchor="ctr" marL="73152" marR="73152" marT="0" marB="0">
                    <a:solidFill>
                      <a:srgbClr val="FFFFFF"/>
                    </a:solidFill>
                  </a:tcPr>
                </a:tc>
                <a:tc>
                  <a:txBody>
                    <a:bodyPr/>
                    <a:lstStyle/>
                    <a:p>
                      <a:pPr algn="ctr"/>
                      <a:r>
                        <a:rPr sz="1250" b="0">
                          <a:solidFill>
                            <a:srgbClr val="1A2228"/>
                          </a:solidFill>
                          <a:latin typeface="Calibri"/>
                        </a:rPr>
                        <a:t>[−0.035, +0.057]</a:t>
                      </a:r>
                    </a:p>
                  </a:txBody>
                  <a:tcPr anchor="ctr" marL="73152" marR="73152" marT="0" marB="0">
                    <a:solidFill>
                      <a:srgbClr val="FFFFFF"/>
                    </a:solidFill>
                  </a:tcPr>
                </a:tc>
                <a:tc>
                  <a:txBody>
                    <a:bodyPr/>
                    <a:lstStyle/>
                    <a:p>
                      <a:pPr algn="ctr"/>
                      <a:r>
                        <a:rPr sz="1250" b="0">
                          <a:solidFill>
                            <a:srgbClr val="B85042"/>
                          </a:solidFill>
                          <a:latin typeface="Calibri"/>
                        </a:rPr>
                        <a:t>spans zero</a:t>
                      </a:r>
                    </a:p>
                  </a:txBody>
                  <a:tcPr anchor="ctr" marL="73152" marR="73152" marT="0" marB="0">
                    <a:solidFill>
                      <a:srgbClr val="FFFFFF"/>
                    </a:solidFill>
                  </a:tcPr>
                </a:tc>
              </a:tr>
              <a:tr h="365760">
                <a:tc>
                  <a:txBody>
                    <a:bodyPr/>
                    <a:lstStyle/>
                    <a:p>
                      <a:pPr algn="l"/>
                      <a:r>
                        <a:rPr sz="1250" b="0">
                          <a:solidFill>
                            <a:srgbClr val="1A2228"/>
                          </a:solidFill>
                          <a:latin typeface="Calibri"/>
                        </a:rPr>
                        <a:t>Probe: non-linear head at matched layer</a:t>
                      </a:r>
                    </a:p>
                  </a:txBody>
                  <a:tcPr anchor="ctr" marL="73152" marR="73152" marT="0" marB="0">
                    <a:solidFill>
                      <a:srgbClr val="FAFAF8"/>
                    </a:solidFill>
                  </a:tcPr>
                </a:tc>
                <a:tc>
                  <a:txBody>
                    <a:bodyPr/>
                    <a:lstStyle/>
                    <a:p>
                      <a:pPr algn="ctr"/>
                      <a:r>
                        <a:rPr sz="1250" b="0">
                          <a:solidFill>
                            <a:srgbClr val="1A2228"/>
                          </a:solidFill>
                          <a:latin typeface="Calibri"/>
                        </a:rPr>
                        <a:t>+0.0051</a:t>
                      </a:r>
                    </a:p>
                  </a:txBody>
                  <a:tcPr anchor="ctr" marL="73152" marR="73152" marT="0" marB="0">
                    <a:solidFill>
                      <a:srgbClr val="FAFAF8"/>
                    </a:solidFill>
                  </a:tcPr>
                </a:tc>
                <a:tc>
                  <a:txBody>
                    <a:bodyPr/>
                    <a:lstStyle/>
                    <a:p>
                      <a:pPr algn="ctr"/>
                      <a:r>
                        <a:rPr sz="1250" b="0">
                          <a:solidFill>
                            <a:srgbClr val="1A2228"/>
                          </a:solidFill>
                          <a:latin typeface="Calibri"/>
                        </a:rPr>
                        <a:t>[−0.031, +0.042]</a:t>
                      </a:r>
                    </a:p>
                  </a:txBody>
                  <a:tcPr anchor="ctr" marL="73152" marR="73152" marT="0" marB="0">
                    <a:solidFill>
                      <a:srgbClr val="FAFAF8"/>
                    </a:solidFill>
                  </a:tcPr>
                </a:tc>
                <a:tc>
                  <a:txBody>
                    <a:bodyPr/>
                    <a:lstStyle/>
                    <a:p>
                      <a:pPr algn="ctr"/>
                      <a:r>
                        <a:rPr sz="1250" b="0">
                          <a:solidFill>
                            <a:srgbClr val="B85042"/>
                          </a:solidFill>
                          <a:latin typeface="Calibri"/>
                        </a:rPr>
                        <a:t>spans zero</a:t>
                      </a:r>
                    </a:p>
                  </a:txBody>
                  <a:tcPr anchor="ctr" marL="73152" marR="73152" marT="0" marB="0">
                    <a:solidFill>
                      <a:srgbClr val="FAFAF8"/>
                    </a:solidFill>
                  </a:tcPr>
                </a:tc>
              </a:tr>
              <a:tr h="365760">
                <a:tc>
                  <a:txBody>
                    <a:bodyPr/>
                    <a:lstStyle/>
                    <a:p>
                      <a:pPr algn="l"/>
                      <a:r>
                        <a:rPr sz="1250" b="0">
                          <a:solidFill>
                            <a:srgbClr val="1A2228"/>
                          </a:solidFill>
                          <a:latin typeface="Calibri"/>
                        </a:rPr>
                        <a:t>Entailment vs numeric equivalence</a:t>
                      </a:r>
                    </a:p>
                  </a:txBody>
                  <a:tcPr anchor="ctr" marL="73152" marR="73152" marT="0" marB="0">
                    <a:solidFill>
                      <a:srgbClr val="FFFFFF"/>
                    </a:solidFill>
                  </a:tcPr>
                </a:tc>
                <a:tc>
                  <a:txBody>
                    <a:bodyPr/>
                    <a:lstStyle/>
                    <a:p>
                      <a:pPr algn="ctr"/>
                      <a:r>
                        <a:rPr sz="1250" b="0">
                          <a:solidFill>
                            <a:srgbClr val="1A2228"/>
                          </a:solidFill>
                          <a:latin typeface="Calibri"/>
                        </a:rPr>
                        <a:t>−0.0114</a:t>
                      </a:r>
                    </a:p>
                  </a:txBody>
                  <a:tcPr anchor="ctr" marL="73152" marR="73152" marT="0" marB="0">
                    <a:solidFill>
                      <a:srgbClr val="FFFFFF"/>
                    </a:solidFill>
                  </a:tcPr>
                </a:tc>
                <a:tc>
                  <a:txBody>
                    <a:bodyPr/>
                    <a:lstStyle/>
                    <a:p>
                      <a:pPr algn="ctr"/>
                      <a:r>
                        <a:rPr sz="1250" b="0">
                          <a:solidFill>
                            <a:srgbClr val="1A2228"/>
                          </a:solidFill>
                          <a:latin typeface="Calibri"/>
                        </a:rPr>
                        <a:t>[−0.087, +0.059]</a:t>
                      </a:r>
                    </a:p>
                  </a:txBody>
                  <a:tcPr anchor="ctr" marL="73152" marR="73152" marT="0" marB="0">
                    <a:solidFill>
                      <a:srgbClr val="FFFFFF"/>
                    </a:solidFill>
                  </a:tcPr>
                </a:tc>
                <a:tc>
                  <a:txBody>
                    <a:bodyPr/>
                    <a:lstStyle/>
                    <a:p>
                      <a:pPr algn="ctr"/>
                      <a:r>
                        <a:rPr sz="1250" b="0">
                          <a:solidFill>
                            <a:srgbClr val="B85042"/>
                          </a:solidFill>
                          <a:latin typeface="Calibri"/>
                        </a:rPr>
                        <a:t>not a ranking</a:t>
                      </a:r>
                    </a:p>
                  </a:txBody>
                  <a:tcPr anchor="ctr" marL="73152" marR="73152" marT="0" marB="0">
                    <a:solidFill>
                      <a:srgbClr val="FFFFFF"/>
                    </a:solidFill>
                  </a:tcPr>
                </a:tc>
              </a:tr>
              <a:tr h="365760">
                <a:tc>
                  <a:txBody>
                    <a:bodyPr/>
                    <a:lstStyle/>
                    <a:p>
                      <a:pPr algn="l"/>
                      <a:r>
                        <a:rPr sz="1250" b="0">
                          <a:solidFill>
                            <a:srgbClr val="1A2228"/>
                          </a:solidFill>
                          <a:latin typeface="Calibri"/>
                        </a:rPr>
                        <a:t>First-bad target vs pooled probe</a:t>
                      </a:r>
                    </a:p>
                  </a:txBody>
                  <a:tcPr anchor="ctr" marL="73152" marR="73152" marT="0" marB="0">
                    <a:solidFill>
                      <a:srgbClr val="FAFAF8"/>
                    </a:solidFill>
                  </a:tcPr>
                </a:tc>
                <a:tc>
                  <a:txBody>
                    <a:bodyPr/>
                    <a:lstStyle/>
                    <a:p>
                      <a:pPr algn="ctr"/>
                      <a:r>
                        <a:rPr sz="1250" b="0">
                          <a:solidFill>
                            <a:srgbClr val="1A2228"/>
                          </a:solidFill>
                          <a:latin typeface="Calibri"/>
                        </a:rPr>
                        <a:t>+0.2216</a:t>
                      </a:r>
                    </a:p>
                  </a:txBody>
                  <a:tcPr anchor="ctr" marL="73152" marR="73152" marT="0" marB="0">
                    <a:solidFill>
                      <a:srgbClr val="FAFAF8"/>
                    </a:solidFill>
                  </a:tcPr>
                </a:tc>
                <a:tc>
                  <a:txBody>
                    <a:bodyPr/>
                    <a:lstStyle/>
                    <a:p>
                      <a:pPr algn="ctr"/>
                      <a:r>
                        <a:rPr sz="1250" b="0">
                          <a:solidFill>
                            <a:srgbClr val="1A2228"/>
                          </a:solidFill>
                          <a:latin typeface="Calibri"/>
                        </a:rPr>
                        <a:t>[+0.051, +0.390]</a:t>
                      </a:r>
                    </a:p>
                  </a:txBody>
                  <a:tcPr anchor="ctr" marL="73152" marR="73152" marT="0" marB="0">
                    <a:solidFill>
                      <a:srgbClr val="FAFAF8"/>
                    </a:solidFill>
                  </a:tcPr>
                </a:tc>
                <a:tc>
                  <a:txBody>
                    <a:bodyPr/>
                    <a:lstStyle/>
                    <a:p>
                      <a:pPr algn="ctr"/>
                      <a:r>
                        <a:rPr sz="1250" b="0">
                          <a:solidFill>
                            <a:srgbClr val="B85042"/>
                          </a:solidFill>
                          <a:latin typeface="Calibri"/>
                        </a:rPr>
                        <a:t>excludes zero</a:t>
                      </a:r>
                    </a:p>
                  </a:txBody>
                  <a:tcPr anchor="ctr" marL="73152" marR="73152" marT="0" marB="0">
                    <a:solidFill>
                      <a:srgbClr val="FAFAF8"/>
                    </a:solidFill>
                  </a:tcPr>
                </a:tc>
              </a:tr>
              <a:tr h="365760">
                <a:tc>
                  <a:txBody>
                    <a:bodyPr/>
                    <a:lstStyle/>
                    <a:p>
                      <a:pPr algn="l"/>
                      <a:r>
                        <a:rPr sz="1250" b="0">
                          <a:solidFill>
                            <a:srgbClr val="1A2228"/>
                          </a:solidFill>
                          <a:latin typeface="Calibri"/>
                        </a:rPr>
                        <a:t>First-bad target vs published probe</a:t>
                      </a:r>
                    </a:p>
                  </a:txBody>
                  <a:tcPr anchor="ctr" marL="73152" marR="73152" marT="0" marB="0">
                    <a:solidFill>
                      <a:srgbClr val="FFFFFF"/>
                    </a:solidFill>
                  </a:tcPr>
                </a:tc>
                <a:tc>
                  <a:txBody>
                    <a:bodyPr/>
                    <a:lstStyle/>
                    <a:p>
                      <a:pPr algn="ctr"/>
                      <a:r>
                        <a:rPr sz="1250" b="0">
                          <a:solidFill>
                            <a:srgbClr val="1A2228"/>
                          </a:solidFill>
                          <a:latin typeface="Calibri"/>
                        </a:rPr>
                        <a:t>+0.1412</a:t>
                      </a:r>
                    </a:p>
                  </a:txBody>
                  <a:tcPr anchor="ctr" marL="73152" marR="73152" marT="0" marB="0">
                    <a:solidFill>
                      <a:srgbClr val="FFFFFF"/>
                    </a:solidFill>
                  </a:tcPr>
                </a:tc>
                <a:tc>
                  <a:txBody>
                    <a:bodyPr/>
                    <a:lstStyle/>
                    <a:p>
                      <a:pPr algn="ctr"/>
                      <a:r>
                        <a:rPr sz="1250" b="0">
                          <a:solidFill>
                            <a:srgbClr val="1A2228"/>
                          </a:solidFill>
                          <a:latin typeface="Calibri"/>
                        </a:rPr>
                        <a:t>[−0.065, +0.333]</a:t>
                      </a:r>
                    </a:p>
                  </a:txBody>
                  <a:tcPr anchor="ctr" marL="73152" marR="73152" marT="0" marB="0">
                    <a:solidFill>
                      <a:srgbClr val="FFFFFF"/>
                    </a:solidFill>
                  </a:tcPr>
                </a:tc>
                <a:tc>
                  <a:txBody>
                    <a:bodyPr/>
                    <a:lstStyle/>
                    <a:p>
                      <a:pPr algn="ctr"/>
                      <a:r>
                        <a:rPr sz="1250" b="0">
                          <a:solidFill>
                            <a:srgbClr val="B85042"/>
                          </a:solidFill>
                          <a:latin typeface="Calibri"/>
                        </a:rPr>
                        <a:t>spans zero</a:t>
                      </a:r>
                    </a:p>
                  </a:txBody>
                  <a:tcPr anchor="ctr" marL="73152" marR="73152" marT="0" marB="0">
                    <a:solidFill>
                      <a:srgbClr val="FFFFFF"/>
                    </a:solidFill>
                  </a:tcPr>
                </a:tc>
              </a:tr>
            </a:tbl>
          </a:graphicData>
        </a:graphic>
      </p:graphicFrame>
      <p:sp>
        <p:nvSpPr>
          <p:cNvPr id="14" name="TextBox 13"/>
          <p:cNvSpPr txBox="1"/>
          <p:nvPr/>
        </p:nvSpPr>
        <p:spPr>
          <a:xfrm>
            <a:off x="640080" y="6144768"/>
            <a:ext cx="10881360" cy="548640"/>
          </a:xfrm>
          <a:prstGeom prst="rect">
            <a:avLst/>
          </a:prstGeom>
          <a:noFill/>
        </p:spPr>
        <p:txBody>
          <a:bodyPr wrap="square" lIns="0" rIns="0" tIns="0" bIns="0">
            <a:spAutoFit/>
          </a:bodyPr>
          <a:lstStyle/>
          <a:p>
            <a:pPr algn="l">
              <a:spcAft>
                <a:spcPts val="600"/>
              </a:spcAft>
            </a:pPr>
            <a:r>
              <a:rPr sz="1350" b="0" i="1">
                <a:solidFill>
                  <a:srgbClr val="6E7B82"/>
                </a:solidFill>
                <a:latin typeface="Calibri"/>
              </a:rPr>
              <a:t>Every one of these was reported as an effect in an earlier draft. The intervals are why they are not reported that way now.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836675"/>
          </a:xfrm>
          <a:prstGeom prst="rect">
            <a:avLst/>
          </a:prstGeom>
          <a:noFill/>
        </p:spPr>
        <p:txBody>
          <a:bodyPr wrap="square" lIns="0" rIns="0" tIns="0" bIns="0">
            <a:spAutoFit/>
          </a:bodyPr>
          <a:lstStyle/>
          <a:p>
            <a:pPr algn="l">
              <a:spcAft>
                <a:spcPts val="0"/>
              </a:spcAft>
            </a:pPr>
            <a:r>
              <a:rPr sz="2700" b="1" i="0">
                <a:solidFill>
                  <a:srgbClr val="2B3A42"/>
                </a:solidFill>
                <a:latin typeface="Cambria"/>
              </a:rPr>
              <a:t>Measurement discipline — three faults that each produced a confident wrong answer</a:t>
            </a:r>
          </a:p>
        </p:txBody>
      </p:sp>
      <p:sp>
        <p:nvSpPr>
          <p:cNvPr id="3" name="TextBox 2"/>
          <p:cNvSpPr txBox="1"/>
          <p:nvPr/>
        </p:nvSpPr>
        <p:spPr>
          <a:xfrm>
            <a:off x="640080" y="1339596"/>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error analysis and failure cases, not just success metrics</a:t>
            </a:r>
          </a:p>
        </p:txBody>
      </p:sp>
      <p:graphicFrame>
        <p:nvGraphicFramePr>
          <p:cNvPr id="4" name="Table 3"/>
          <p:cNvGraphicFramePr>
            <a:graphicFrameLocks noGrp="1"/>
          </p:cNvGraphicFramePr>
          <p:nvPr/>
        </p:nvGraphicFramePr>
        <p:xfrm>
          <a:off x="640080" y="1828800"/>
          <a:ext cx="10881358" cy="2267712"/>
        </p:xfrm>
        <a:graphic>
          <a:graphicData uri="http://schemas.openxmlformats.org/drawingml/2006/table">
            <a:tbl>
              <a:tblPr firstRow="1" bandRow="1">
                <a:tableStyleId>{5C22544A-7EE6-4342-B048-85BDC9FD1C3A}</a:tableStyleId>
              </a:tblPr>
              <a:tblGrid>
                <a:gridCol w="2929596"/>
                <a:gridCol w="3766624"/>
                <a:gridCol w="4185138"/>
              </a:tblGrid>
              <a:tr h="566928">
                <a:tc>
                  <a:txBody>
                    <a:bodyPr/>
                    <a:lstStyle/>
                    <a:p>
                      <a:pPr algn="l"/>
                      <a:r>
                        <a:rPr sz="1200" b="1">
                          <a:solidFill>
                            <a:srgbClr val="FFFFFF"/>
                          </a:solidFill>
                          <a:latin typeface="Calibri"/>
                        </a:rPr>
                        <a:t>Fault</a:t>
                      </a:r>
                    </a:p>
                  </a:txBody>
                  <a:tcPr anchor="ctr" marL="73152" marR="73152" marT="0" marB="0">
                    <a:solidFill>
                      <a:srgbClr val="2B3A42"/>
                    </a:solidFill>
                  </a:tcPr>
                </a:tc>
                <a:tc>
                  <a:txBody>
                    <a:bodyPr/>
                    <a:lstStyle/>
                    <a:p>
                      <a:pPr algn="ctr"/>
                      <a:r>
                        <a:rPr sz="1200" b="1">
                          <a:solidFill>
                            <a:srgbClr val="FFFFFF"/>
                          </a:solidFill>
                          <a:latin typeface="Calibri"/>
                        </a:rPr>
                        <a:t>Symptom</a:t>
                      </a:r>
                    </a:p>
                  </a:txBody>
                  <a:tcPr anchor="ctr" marL="73152" marR="73152" marT="0" marB="0">
                    <a:solidFill>
                      <a:srgbClr val="2B3A42"/>
                    </a:solidFill>
                  </a:tcPr>
                </a:tc>
                <a:tc>
                  <a:txBody>
                    <a:bodyPr/>
                    <a:lstStyle/>
                    <a:p>
                      <a:pPr algn="ctr"/>
                      <a:r>
                        <a:rPr sz="1200" b="1">
                          <a:solidFill>
                            <a:srgbClr val="FFFFFF"/>
                          </a:solidFill>
                          <a:latin typeface="Calibri"/>
                        </a:rPr>
                        <a:t>Cause</a:t>
                      </a:r>
                    </a:p>
                  </a:txBody>
                  <a:tcPr anchor="ctr" marL="73152" marR="73152" marT="0" marB="0">
                    <a:solidFill>
                      <a:srgbClr val="2B3A42"/>
                    </a:solidFill>
                  </a:tcPr>
                </a:tc>
              </a:tr>
              <a:tr h="566928">
                <a:tc>
                  <a:txBody>
                    <a:bodyPr/>
                    <a:lstStyle/>
                    <a:p>
                      <a:pPr algn="l"/>
                      <a:r>
                        <a:rPr sz="1200" b="0">
                          <a:solidFill>
                            <a:srgbClr val="1A2228"/>
                          </a:solidFill>
                          <a:latin typeface="Calibri"/>
                        </a:rPr>
                        <a:t>Wrong output logits</a:t>
                      </a:r>
                    </a:p>
                  </a:txBody>
                  <a:tcPr anchor="ctr" marL="73152" marR="73152" marT="0" marB="0">
                    <a:solidFill>
                      <a:srgbClr val="FFFFFF"/>
                    </a:solidFill>
                  </a:tcPr>
                </a:tc>
                <a:tc>
                  <a:txBody>
                    <a:bodyPr/>
                    <a:lstStyle/>
                    <a:p>
                      <a:pPr algn="ctr"/>
                      <a:r>
                        <a:rPr sz="1200" b="0">
                          <a:solidFill>
                            <a:srgbClr val="1A2228"/>
                          </a:solidFill>
                          <a:latin typeface="Calibri"/>
                        </a:rPr>
                        <a:t>PRM flagged 94.9% of controls — steps carrying its own training labels</a:t>
                      </a:r>
                    </a:p>
                  </a:txBody>
                  <a:tcPr anchor="ctr" marL="73152" marR="73152" marT="0" marB="0">
                    <a:solidFill>
                      <a:srgbClr val="FFFFFF"/>
                    </a:solidFill>
                  </a:tcPr>
                </a:tc>
                <a:tc>
                  <a:txBody>
                    <a:bodyPr/>
                    <a:lstStyle/>
                    <a:p>
                      <a:pPr algn="ctr"/>
                      <a:r>
                        <a:rPr sz="1200" b="0">
                          <a:solidFill>
                            <a:srgbClr val="1A2228"/>
                          </a:solidFill>
                          <a:latin typeface="Calibri"/>
                        </a:rPr>
                        <a:t>tok.encode gave ▁+ = 648 locally, + = 28806 on Kaggle</a:t>
                      </a:r>
                    </a:p>
                  </a:txBody>
                  <a:tcPr anchor="ctr" marL="73152" marR="73152" marT="0" marB="0">
                    <a:solidFill>
                      <a:srgbClr val="FFFFFF"/>
                    </a:solidFill>
                  </a:tcPr>
                </a:tc>
              </a:tr>
              <a:tr h="566928">
                <a:tc>
                  <a:txBody>
                    <a:bodyPr/>
                    <a:lstStyle/>
                    <a:p>
                      <a:pPr algn="l"/>
                      <a:r>
                        <a:rPr sz="1200" b="0">
                          <a:solidFill>
                            <a:srgbClr val="1A2228"/>
                          </a:solidFill>
                          <a:latin typeface="Calibri"/>
                        </a:rPr>
                        <a:t>Wrong input positions</a:t>
                      </a:r>
                    </a:p>
                  </a:txBody>
                  <a:tcPr anchor="ctr" marL="73152" marR="73152" marT="0" marB="0">
                    <a:solidFill>
                      <a:srgbClr val="FAFAF8"/>
                    </a:solidFill>
                  </a:tcPr>
                </a:tc>
                <a:tc>
                  <a:txBody>
                    <a:bodyPr/>
                    <a:lstStyle/>
                    <a:p>
                      <a:pPr algn="ctr"/>
                      <a:r>
                        <a:rPr sz="1200" b="0">
                          <a:solidFill>
                            <a:srgbClr val="1A2228"/>
                          </a:solidFill>
                          <a:latin typeface="Calibri"/>
                        </a:rPr>
                        <a:t>every score came back NaN</a:t>
                      </a:r>
                    </a:p>
                  </a:txBody>
                  <a:tcPr anchor="ctr" marL="73152" marR="73152" marT="0" marB="0">
                    <a:solidFill>
                      <a:srgbClr val="FAFAF8"/>
                    </a:solidFill>
                  </a:tcPr>
                </a:tc>
                <a:tc>
                  <a:txBody>
                    <a:bodyPr/>
                    <a:lstStyle/>
                    <a:p>
                      <a:pPr algn="ctr"/>
                      <a:r>
                        <a:rPr sz="1200" b="0">
                          <a:solidFill>
                            <a:srgbClr val="1A2228"/>
                          </a:solidFill>
                          <a:latin typeface="Calibri"/>
                        </a:rPr>
                        <a:t>the ки step-tag id is an input id; Kaggle encoded it differently</a:t>
                      </a:r>
                    </a:p>
                  </a:txBody>
                  <a:tcPr anchor="ctr" marL="73152" marR="73152" marT="0" marB="0">
                    <a:solidFill>
                      <a:srgbClr val="FAFAF8"/>
                    </a:solidFill>
                  </a:tcPr>
                </a:tc>
              </a:tr>
              <a:tr h="566928">
                <a:tc>
                  <a:txBody>
                    <a:bodyPr/>
                    <a:lstStyle/>
                    <a:p>
                      <a:pPr algn="l"/>
                      <a:r>
                        <a:rPr sz="1200" b="0">
                          <a:solidFill>
                            <a:srgbClr val="1A2228"/>
                          </a:solidFill>
                          <a:latin typeface="Calibri"/>
                        </a:rPr>
                        <a:t>Right padding in batched generation</a:t>
                      </a:r>
                    </a:p>
                  </a:txBody>
                  <a:tcPr anchor="ctr" marL="73152" marR="73152" marT="0" marB="0">
                    <a:solidFill>
                      <a:srgbClr val="FFFFFF"/>
                    </a:solidFill>
                  </a:tcPr>
                </a:tc>
                <a:tc>
                  <a:txBody>
                    <a:bodyPr/>
                    <a:lstStyle/>
                    <a:p>
                      <a:pPr algn="ctr"/>
                      <a:r>
                        <a:rPr sz="1200" b="0">
                          <a:solidFill>
                            <a:srgbClr val="1A2228"/>
                          </a:solidFill>
                          <a:latin typeface="Calibri"/>
                        </a:rPr>
                        <a:t>judge result 0.1933 → 0.2283 once fixed</a:t>
                      </a:r>
                    </a:p>
                  </a:txBody>
                  <a:tcPr anchor="ctr" marL="73152" marR="73152" marT="0" marB="0">
                    <a:solidFill>
                      <a:srgbClr val="FFFFFF"/>
                    </a:solidFill>
                  </a:tcPr>
                </a:tc>
                <a:tc>
                  <a:txBody>
                    <a:bodyPr/>
                    <a:lstStyle/>
                    <a:p>
                      <a:pPr algn="ctr"/>
                      <a:r>
                        <a:rPr sz="1200" b="0">
                          <a:solidFill>
                            <a:srgbClr val="1A2228"/>
                          </a:solidFill>
                          <a:latin typeface="Calibri"/>
                        </a:rPr>
                        <a:t>pad tokens inserted between prompt and continuation</a:t>
                      </a:r>
                    </a:p>
                  </a:txBody>
                  <a:tcPr anchor="ctr" marL="73152" marR="73152" marT="0" marB="0">
                    <a:solidFill>
                      <a:srgbClr val="FFFFFF"/>
                    </a:solidFill>
                  </a:tcPr>
                </a:tc>
              </a:tr>
            </a:tbl>
          </a:graphicData>
        </a:graphic>
      </p:graphicFrame>
      <p:sp>
        <p:nvSpPr>
          <p:cNvPr id="5" name="TextBox 4"/>
          <p:cNvSpPr txBox="1"/>
          <p:nvPr/>
        </p:nvSpPr>
        <p:spPr>
          <a:xfrm>
            <a:off x="640080" y="4114800"/>
            <a:ext cx="10881360" cy="457200"/>
          </a:xfrm>
          <a:prstGeom prst="rect">
            <a:avLst/>
          </a:prstGeom>
          <a:noFill/>
        </p:spPr>
        <p:txBody>
          <a:bodyPr wrap="square" lIns="0" rIns="0" tIns="0" bIns="0">
            <a:spAutoFit/>
          </a:bodyPr>
          <a:lstStyle/>
          <a:p>
            <a:pPr algn="l">
              <a:spcAft>
                <a:spcPts val="600"/>
              </a:spcAft>
            </a:pPr>
            <a:r>
              <a:rPr sz="1500" b="1" i="0">
                <a:solidFill>
                  <a:srgbClr val="B85042"/>
                </a:solidFill>
                <a:latin typeface="Calibri"/>
              </a:rPr>
              <a:t>The first completed run reported the OPPOSITE conclusion — negative net scope — and it was entirely an artifact.</a:t>
            </a:r>
          </a:p>
        </p:txBody>
      </p:sp>
      <p:sp>
        <p:nvSpPr>
          <p:cNvPr id="6" name="TextBox 5"/>
          <p:cNvSpPr txBox="1"/>
          <p:nvPr/>
        </p:nvSpPr>
        <p:spPr>
          <a:xfrm>
            <a:off x="640080" y="4663440"/>
            <a:ext cx="10881360" cy="73152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A validation gate now scores 400 steps with known labels before any real measurement and aborts below 0.15 separation. It caught three successive broken configurations before the fourth passed at 0.5788.</a:t>
            </a:r>
          </a:p>
        </p:txBody>
      </p:sp>
      <p:sp>
        <p:nvSpPr>
          <p:cNvPr id="7" name="TextBox 6"/>
          <p:cNvSpPr txBox="1"/>
          <p:nvPr/>
        </p:nvSpPr>
        <p:spPr>
          <a:xfrm>
            <a:off x="640080" y="5440680"/>
            <a:ext cx="10881360" cy="640080"/>
          </a:xfrm>
          <a:prstGeom prst="rect">
            <a:avLst/>
          </a:prstGeom>
          <a:noFill/>
        </p:spPr>
        <p:txBody>
          <a:bodyPr wrap="square" lIns="0" rIns="0" tIns="0" bIns="0">
            <a:spAutoFit/>
          </a:bodyPr>
          <a:lstStyle/>
          <a:p>
            <a:pPr algn="l">
              <a:spcAft>
                <a:spcPts val="600"/>
              </a:spcAft>
            </a:pPr>
            <a:r>
              <a:rPr sz="1550" b="1" i="0">
                <a:solidFill>
                  <a:srgbClr val="2B3A42"/>
                </a:solidFill>
                <a:latin typeface="Cambria"/>
              </a:rPr>
              <a:t>On a borrowed model, the harness must prove it can reproduce that model's known behaviour before any novel number from it is believed.</a:t>
            </a:r>
          </a:p>
        </p:txBody>
      </p:sp>
      <p:sp>
        <p:nvSpPr>
          <p:cNvPr id="8" name="TextBox 7"/>
          <p:cNvSpPr txBox="1"/>
          <p:nvPr/>
        </p:nvSpPr>
        <p:spPr>
          <a:xfrm>
            <a:off x="640080" y="6126480"/>
            <a:ext cx="10881360" cy="457200"/>
          </a:xfrm>
          <a:prstGeom prst="rect">
            <a:avLst/>
          </a:prstGeom>
          <a:noFill/>
        </p:spPr>
        <p:txBody>
          <a:bodyPr wrap="square" lIns="0" rIns="0" tIns="0" bIns="0">
            <a:spAutoFit/>
          </a:bodyPr>
          <a:lstStyle/>
          <a:p>
            <a:pPr algn="l">
              <a:spcAft>
                <a:spcPts val="600"/>
              </a:spcAft>
            </a:pPr>
            <a:r>
              <a:rPr sz="1300" b="0" i="1">
                <a:solidFill>
                  <a:srgbClr val="6E7B82"/>
                </a:solidFill>
                <a:latin typeface="Calibri"/>
              </a:rPr>
              <a:t>Roughly 75 numerical errors were found in this project by recomputation. Every one is fixed; the guards that catch each class are in the repo.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What was refuted — including this thesis's own claims</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limitations honestly discussed, no overclaiming</a:t>
            </a:r>
          </a:p>
        </p:txBody>
      </p:sp>
      <p:graphicFrame>
        <p:nvGraphicFramePr>
          <p:cNvPr id="4" name="Table 3"/>
          <p:cNvGraphicFramePr>
            <a:graphicFrameLocks noGrp="1"/>
          </p:cNvGraphicFramePr>
          <p:nvPr/>
        </p:nvGraphicFramePr>
        <p:xfrm>
          <a:off x="640080" y="1828800"/>
          <a:ext cx="10881359" cy="3072384"/>
        </p:xfrm>
        <a:graphic>
          <a:graphicData uri="http://schemas.openxmlformats.org/drawingml/2006/table">
            <a:tbl>
              <a:tblPr firstRow="1" bandRow="1">
                <a:tableStyleId>{5C22544A-7EE6-4342-B048-85BDC9FD1C3A}</a:tableStyleId>
              </a:tblPr>
              <a:tblGrid>
                <a:gridCol w="4030133"/>
                <a:gridCol w="2418080"/>
                <a:gridCol w="4433146"/>
              </a:tblGrid>
              <a:tr h="384048">
                <a:tc>
                  <a:txBody>
                    <a:bodyPr/>
                    <a:lstStyle/>
                    <a:p>
                      <a:pPr algn="l"/>
                      <a:r>
                        <a:rPr sz="1200" b="1">
                          <a:solidFill>
                            <a:srgbClr val="FFFFFF"/>
                          </a:solidFill>
                          <a:latin typeface="Calibri"/>
                        </a:rPr>
                        <a:t>Claim</a:t>
                      </a:r>
                    </a:p>
                  </a:txBody>
                  <a:tcPr anchor="ctr" marL="73152" marR="73152" marT="0" marB="0">
                    <a:solidFill>
                      <a:srgbClr val="2B3A42"/>
                    </a:solidFill>
                  </a:tcPr>
                </a:tc>
                <a:tc>
                  <a:txBody>
                    <a:bodyPr/>
                    <a:lstStyle/>
                    <a:p>
                      <a:pPr algn="ctr"/>
                      <a:r>
                        <a:rPr sz="1200" b="1">
                          <a:solidFill>
                            <a:srgbClr val="FFFFFF"/>
                          </a:solidFill>
                          <a:latin typeface="Calibri"/>
                        </a:rPr>
                        <a:t>Source</a:t>
                      </a:r>
                    </a:p>
                  </a:txBody>
                  <a:tcPr anchor="ctr" marL="73152" marR="73152" marT="0" marB="0">
                    <a:solidFill>
                      <a:srgbClr val="2B3A42"/>
                    </a:solidFill>
                  </a:tcPr>
                </a:tc>
                <a:tc>
                  <a:txBody>
                    <a:bodyPr/>
                    <a:lstStyle/>
                    <a:p>
                      <a:pPr algn="ctr"/>
                      <a:r>
                        <a:rPr sz="1200" b="1">
                          <a:solidFill>
                            <a:srgbClr val="FFFFFF"/>
                          </a:solidFill>
                          <a:latin typeface="Calibri"/>
                        </a:rPr>
                        <a:t>Outcome</a:t>
                      </a:r>
                    </a:p>
                  </a:txBody>
                  <a:tcPr anchor="ctr" marL="73152" marR="73152" marT="0" marB="0">
                    <a:solidFill>
                      <a:srgbClr val="2B3A42"/>
                    </a:solidFill>
                  </a:tcPr>
                </a:tc>
              </a:tr>
              <a:tr h="384048">
                <a:tc>
                  <a:txBody>
                    <a:bodyPr/>
                    <a:lstStyle/>
                    <a:p>
                      <a:pPr algn="l"/>
                      <a:r>
                        <a:rPr sz="1200" b="0">
                          <a:solidFill>
                            <a:srgbClr val="1A2228"/>
                          </a:solidFill>
                          <a:latin typeface="Calibri"/>
                        </a:rPr>
                        <a:t>A calibrated gate controls risk</a:t>
                      </a:r>
                    </a:p>
                  </a:txBody>
                  <a:tcPr anchor="ctr" marL="73152" marR="73152" marT="0" marB="0">
                    <a:solidFill>
                      <a:srgbClr val="FFFFFF"/>
                    </a:solidFill>
                  </a:tcPr>
                </a:tc>
                <a:tc>
                  <a:txBody>
                    <a:bodyPr/>
                    <a:lstStyle/>
                    <a:p>
                      <a:pPr algn="ctr"/>
                      <a:r>
                        <a:rPr sz="1200" b="0">
                          <a:solidFill>
                            <a:srgbClr val="1A2228"/>
                          </a:solidFill>
                          <a:latin typeface="Calibri"/>
                        </a:rPr>
                        <a:t>the whole premise</a:t>
                      </a:r>
                    </a:p>
                  </a:txBody>
                  <a:tcPr anchor="ctr" marL="73152" marR="73152" marT="0" marB="0">
                    <a:solidFill>
                      <a:srgbClr val="FFFFFF"/>
                    </a:solidFill>
                  </a:tcPr>
                </a:tc>
                <a:tc>
                  <a:txBody>
                    <a:bodyPr/>
                    <a:lstStyle/>
                    <a:p>
                      <a:pPr algn="ctr"/>
                      <a:r>
                        <a:rPr sz="1200" b="0">
                          <a:solidFill>
                            <a:srgbClr val="B85042"/>
                          </a:solidFill>
                          <a:latin typeface="Calibri"/>
                        </a:rPr>
                        <a:t>REFUTED — misses α by 3×</a:t>
                      </a:r>
                    </a:p>
                  </a:txBody>
                  <a:tcPr anchor="ctr" marL="73152" marR="73152" marT="0" marB="0">
                    <a:solidFill>
                      <a:srgbClr val="FFFFFF"/>
                    </a:solidFill>
                  </a:tcPr>
                </a:tc>
              </a:tr>
              <a:tr h="384048">
                <a:tc>
                  <a:txBody>
                    <a:bodyPr/>
                    <a:lstStyle/>
                    <a:p>
                      <a:pPr algn="l"/>
                      <a:r>
                        <a:rPr sz="1200" b="0">
                          <a:solidFill>
                            <a:srgbClr val="1A2228"/>
                          </a:solidFill>
                          <a:latin typeface="Calibri"/>
                        </a:rPr>
                        <a:t>The three failures are independent</a:t>
                      </a:r>
                    </a:p>
                  </a:txBody>
                  <a:tcPr anchor="ctr" marL="73152" marR="73152" marT="0" marB="0">
                    <a:solidFill>
                      <a:srgbClr val="FAFAF8"/>
                    </a:solidFill>
                  </a:tcPr>
                </a:tc>
                <a:tc>
                  <a:txBody>
                    <a:bodyPr/>
                    <a:lstStyle/>
                    <a:p>
                      <a:pPr algn="ctr"/>
                      <a:r>
                        <a:rPr sz="1200" b="0">
                          <a:solidFill>
                            <a:srgbClr val="1A2228"/>
                          </a:solidFill>
                          <a:latin typeface="Calibri"/>
                        </a:rPr>
                        <a:t>ch. 8 first draft</a:t>
                      </a:r>
                    </a:p>
                  </a:txBody>
                  <a:tcPr anchor="ctr" marL="73152" marR="73152" marT="0" marB="0">
                    <a:solidFill>
                      <a:srgbClr val="FAFAF8"/>
                    </a:solidFill>
                  </a:tcPr>
                </a:tc>
                <a:tc>
                  <a:txBody>
                    <a:bodyPr/>
                    <a:lstStyle/>
                    <a:p>
                      <a:pPr algn="ctr"/>
                      <a:r>
                        <a:rPr sz="1200" b="0">
                          <a:solidFill>
                            <a:srgbClr val="B85042"/>
                          </a:solidFill>
                          <a:latin typeface="Calibri"/>
                        </a:rPr>
                        <a:t>PARTLY WRONG — verifier is downstream of the score</a:t>
                      </a:r>
                    </a:p>
                  </a:txBody>
                  <a:tcPr anchor="ctr" marL="73152" marR="73152" marT="0" marB="0">
                    <a:solidFill>
                      <a:srgbClr val="FAFAF8"/>
                    </a:solidFill>
                  </a:tcPr>
                </a:tc>
              </a:tr>
              <a:tr h="384048">
                <a:tc>
                  <a:txBody>
                    <a:bodyPr/>
                    <a:lstStyle/>
                    <a:p>
                      <a:pPr algn="l"/>
                      <a:r>
                        <a:rPr sz="1200" b="0">
                          <a:solidFill>
                            <a:srgbClr val="1A2228"/>
                          </a:solidFill>
                          <a:latin typeface="Calibri"/>
                        </a:rPr>
                        <a:t>Corruption is near-absorbing</a:t>
                      </a:r>
                    </a:p>
                  </a:txBody>
                  <a:tcPr anchor="ctr" marL="73152" marR="73152" marT="0" marB="0">
                    <a:solidFill>
                      <a:srgbClr val="FFFFFF"/>
                    </a:solidFill>
                  </a:tcPr>
                </a:tc>
                <a:tc>
                  <a:txBody>
                    <a:bodyPr/>
                    <a:lstStyle/>
                    <a:p>
                      <a:pPr algn="ctr"/>
                      <a:r>
                        <a:rPr sz="1200" b="0">
                          <a:solidFill>
                            <a:srgbClr val="1A2228"/>
                          </a:solidFill>
                          <a:latin typeface="Calibri"/>
                        </a:rPr>
                        <a:t>this thesis, ch. 5</a:t>
                      </a:r>
                    </a:p>
                  </a:txBody>
                  <a:tcPr anchor="ctr" marL="73152" marR="73152" marT="0" marB="0">
                    <a:solidFill>
                      <a:srgbClr val="FFFFFF"/>
                    </a:solidFill>
                  </a:tcPr>
                </a:tc>
                <a:tc>
                  <a:txBody>
                    <a:bodyPr/>
                    <a:lstStyle/>
                    <a:p>
                      <a:pPr algn="ctr"/>
                      <a:r>
                        <a:rPr sz="1200" b="0">
                          <a:solidFill>
                            <a:srgbClr val="B85042"/>
                          </a:solidFill>
                          <a:latin typeface="Calibri"/>
                        </a:rPr>
                        <a:t>GENERATOR-SPECIFIC, and monotone</a:t>
                      </a:r>
                    </a:p>
                  </a:txBody>
                  <a:tcPr anchor="ctr" marL="73152" marR="73152" marT="0" marB="0">
                    <a:solidFill>
                      <a:srgbClr val="FFFFFF"/>
                    </a:solidFill>
                  </a:tcPr>
                </a:tc>
              </a:tr>
              <a:tr h="384048">
                <a:tc>
                  <a:txBody>
                    <a:bodyPr/>
                    <a:lstStyle/>
                    <a:p>
                      <a:pPr algn="l"/>
                      <a:r>
                        <a:rPr sz="1200" b="0">
                          <a:solidFill>
                            <a:srgbClr val="1A2228"/>
                          </a:solidFill>
                          <a:latin typeface="Calibri"/>
                        </a:rPr>
                        <a:t>net = scope − FA is the figure of merit</a:t>
                      </a:r>
                    </a:p>
                  </a:txBody>
                  <a:tcPr anchor="ctr" marL="73152" marR="73152" marT="0" marB="0">
                    <a:solidFill>
                      <a:srgbClr val="FAFAF8"/>
                    </a:solidFill>
                  </a:tcPr>
                </a:tc>
                <a:tc>
                  <a:txBody>
                    <a:bodyPr/>
                    <a:lstStyle/>
                    <a:p>
                      <a:pPr algn="ctr"/>
                      <a:r>
                        <a:rPr sz="1200" b="0">
                          <a:solidFill>
                            <a:srgbClr val="1A2228"/>
                          </a:solidFill>
                          <a:latin typeface="Calibri"/>
                        </a:rPr>
                        <a:t>this thesis, ch. 6</a:t>
                      </a:r>
                    </a:p>
                  </a:txBody>
                  <a:tcPr anchor="ctr" marL="73152" marR="73152" marT="0" marB="0">
                    <a:solidFill>
                      <a:srgbClr val="FAFAF8"/>
                    </a:solidFill>
                  </a:tcPr>
                </a:tc>
                <a:tc>
                  <a:txBody>
                    <a:bodyPr/>
                    <a:lstStyle/>
                    <a:p>
                      <a:pPr algn="ctr"/>
                      <a:r>
                        <a:rPr sz="1200" b="0">
                          <a:solidFill>
                            <a:srgbClr val="B85042"/>
                          </a:solidFill>
                          <a:latin typeface="Calibri"/>
                        </a:rPr>
                        <a:t>CORRECTED — base-rate error</a:t>
                      </a:r>
                    </a:p>
                  </a:txBody>
                  <a:tcPr anchor="ctr" marL="73152" marR="73152" marT="0" marB="0">
                    <a:solidFill>
                      <a:srgbClr val="FAFAF8"/>
                    </a:solidFill>
                  </a:tcPr>
                </a:tc>
              </a:tr>
              <a:tr h="384048">
                <a:tc>
                  <a:txBody>
                    <a:bodyPr/>
                    <a:lstStyle/>
                    <a:p>
                      <a:pPr algn="l"/>
                      <a:r>
                        <a:rPr sz="1200" b="0">
                          <a:solidFill>
                            <a:srgbClr val="1A2228"/>
                          </a:solidFill>
                          <a:latin typeface="Calibri"/>
                        </a:rPr>
                        <a:t>0.6968 is a floor, pending more data</a:t>
                      </a:r>
                    </a:p>
                  </a:txBody>
                  <a:tcPr anchor="ctr" marL="73152" marR="73152" marT="0" marB="0">
                    <a:solidFill>
                      <a:srgbClr val="FFFFFF"/>
                    </a:solidFill>
                  </a:tcPr>
                </a:tc>
                <a:tc>
                  <a:txBody>
                    <a:bodyPr/>
                    <a:lstStyle/>
                    <a:p>
                      <a:pPr algn="ctr"/>
                      <a:r>
                        <a:rPr sz="1200" b="0">
                          <a:solidFill>
                            <a:srgbClr val="1A2228"/>
                          </a:solidFill>
                          <a:latin typeface="Calibri"/>
                        </a:rPr>
                        <a:t>this thesis, ch. 8.6</a:t>
                      </a:r>
                    </a:p>
                  </a:txBody>
                  <a:tcPr anchor="ctr" marL="73152" marR="73152" marT="0" marB="0">
                    <a:solidFill>
                      <a:srgbClr val="FFFFFF"/>
                    </a:solidFill>
                  </a:tcPr>
                </a:tc>
                <a:tc>
                  <a:txBody>
                    <a:bodyPr/>
                    <a:lstStyle/>
                    <a:p>
                      <a:pPr algn="ctr"/>
                      <a:r>
                        <a:rPr sz="1200" b="0">
                          <a:solidFill>
                            <a:srgbClr val="B85042"/>
                          </a:solidFill>
                          <a:latin typeface="Calibri"/>
                        </a:rPr>
                        <a:t>UNSUPPORTED — curve was on the selection split</a:t>
                      </a:r>
                    </a:p>
                  </a:txBody>
                  <a:tcPr anchor="ctr" marL="73152" marR="73152" marT="0" marB="0">
                    <a:solidFill>
                      <a:srgbClr val="FFFFFF"/>
                    </a:solidFill>
                  </a:tcPr>
                </a:tc>
              </a:tr>
              <a:tr h="384048">
                <a:tc>
                  <a:txBody>
                    <a:bodyPr/>
                    <a:lstStyle/>
                    <a:p>
                      <a:pPr algn="l"/>
                      <a:r>
                        <a:rPr sz="1200" b="0">
                          <a:solidFill>
                            <a:srgbClr val="1A2228"/>
                          </a:solidFill>
                          <a:latin typeface="Calibri"/>
                        </a:rPr>
                        <a:t>A non-linear probe is the right instrument</a:t>
                      </a:r>
                    </a:p>
                  </a:txBody>
                  <a:tcPr anchor="ctr" marL="73152" marR="73152" marT="0" marB="0">
                    <a:solidFill>
                      <a:srgbClr val="FAFAF8"/>
                    </a:solidFill>
                  </a:tcPr>
                </a:tc>
                <a:tc>
                  <a:txBody>
                    <a:bodyPr/>
                    <a:lstStyle/>
                    <a:p>
                      <a:pPr algn="ctr"/>
                      <a:r>
                        <a:rPr sz="1200" b="0">
                          <a:solidFill>
                            <a:srgbClr val="1A2228"/>
                          </a:solidFill>
                          <a:latin typeface="Calibri"/>
                        </a:rPr>
                        <a:t>ch. 8.6 and ch. 10</a:t>
                      </a:r>
                    </a:p>
                  </a:txBody>
                  <a:tcPr anchor="ctr" marL="73152" marR="73152" marT="0" marB="0">
                    <a:solidFill>
                      <a:srgbClr val="FAFAF8"/>
                    </a:solidFill>
                  </a:tcPr>
                </a:tc>
                <a:tc>
                  <a:txBody>
                    <a:bodyPr/>
                    <a:lstStyle/>
                    <a:p>
                      <a:pPr algn="ctr"/>
                      <a:r>
                        <a:rPr sz="1200" b="0">
                          <a:solidFill>
                            <a:srgbClr val="B85042"/>
                          </a:solidFill>
                          <a:latin typeface="Calibri"/>
                        </a:rPr>
                        <a:t>NULL — +0.0051, sign flips by layer</a:t>
                      </a:r>
                    </a:p>
                  </a:txBody>
                  <a:tcPr anchor="ctr" marL="73152" marR="73152" marT="0" marB="0">
                    <a:solidFill>
                      <a:srgbClr val="FAFAF8"/>
                    </a:solidFill>
                  </a:tcPr>
                </a:tc>
              </a:tr>
              <a:tr h="384048">
                <a:tc>
                  <a:txBody>
                    <a:bodyPr/>
                    <a:lstStyle/>
                    <a:p>
                      <a:pPr algn="l"/>
                      <a:r>
                        <a:rPr sz="1200" b="0">
                          <a:solidFill>
                            <a:srgbClr val="1A2228"/>
                          </a:solidFill>
                          <a:latin typeface="Calibri"/>
                        </a:rPr>
                        <a:t>AUROC is the figure of merit</a:t>
                      </a:r>
                    </a:p>
                  </a:txBody>
                  <a:tcPr anchor="ctr" marL="73152" marR="73152" marT="0" marB="0">
                    <a:solidFill>
                      <a:srgbClr val="FFFFFF"/>
                    </a:solidFill>
                  </a:tcPr>
                </a:tc>
                <a:tc>
                  <a:txBody>
                    <a:bodyPr/>
                    <a:lstStyle/>
                    <a:p>
                      <a:pPr algn="ctr"/>
                      <a:r>
                        <a:rPr sz="1200" b="0">
                          <a:solidFill>
                            <a:srgbClr val="1A2228"/>
                          </a:solidFill>
                          <a:latin typeface="Calibri"/>
                        </a:rPr>
                        <a:t>implicit throughout</a:t>
                      </a:r>
                    </a:p>
                  </a:txBody>
                  <a:tcPr anchor="ctr" marL="73152" marR="73152" marT="0" marB="0">
                    <a:solidFill>
                      <a:srgbClr val="FFFFFF"/>
                    </a:solidFill>
                  </a:tcPr>
                </a:tc>
                <a:tc>
                  <a:txBody>
                    <a:bodyPr/>
                    <a:lstStyle/>
                    <a:p>
                      <a:pPr algn="ctr"/>
                      <a:r>
                        <a:rPr sz="1200" b="0">
                          <a:solidFill>
                            <a:srgbClr val="B85042"/>
                          </a:solidFill>
                          <a:latin typeface="Calibri"/>
                        </a:rPr>
                        <a:t>REFUTED — first-bad recall is</a:t>
                      </a:r>
                    </a:p>
                  </a:txBody>
                  <a:tcPr anchor="ctr" marL="73152" marR="73152" marT="0" marB="0">
                    <a:solidFill>
                      <a:srgbClr val="FFFFFF"/>
                    </a:solidFill>
                  </a:tcPr>
                </a:tc>
              </a:tr>
            </a:tbl>
          </a:graphicData>
        </a:graphic>
      </p:graphicFrame>
      <p:sp>
        <p:nvSpPr>
          <p:cNvPr id="5" name="TextBox 4"/>
          <p:cNvSpPr txBox="1"/>
          <p:nvPr/>
        </p:nvSpPr>
        <p:spPr>
          <a:xfrm>
            <a:off x="640080" y="4892040"/>
            <a:ext cx="10881360" cy="731520"/>
          </a:xfrm>
          <a:prstGeom prst="rect">
            <a:avLst/>
          </a:prstGeom>
          <a:noFill/>
        </p:spPr>
        <p:txBody>
          <a:bodyPr wrap="square" lIns="0" rIns="0" tIns="0" bIns="0">
            <a:spAutoFit/>
          </a:bodyPr>
          <a:lstStyle/>
          <a:p>
            <a:pPr algn="l">
              <a:spcAft>
                <a:spcPts val="600"/>
              </a:spcAft>
            </a:pPr>
            <a:r>
              <a:rPr sz="1500" b="1" i="0">
                <a:solidFill>
                  <a:srgbClr val="2B3A42"/>
                </a:solidFill>
                <a:latin typeface="Calibri"/>
              </a:rPr>
              <a:t>This thesis refuted more claims than it established, including most of its own. Each refutation that rests on a measurement carries a regression test, so it cannot quietly stop reproducing.</a:t>
            </a:r>
          </a:p>
        </p:txBody>
      </p:sp>
      <p:sp>
        <p:nvSpPr>
          <p:cNvPr id="6" name="TextBox 5"/>
          <p:cNvSpPr txBox="1"/>
          <p:nvPr/>
        </p:nvSpPr>
        <p:spPr>
          <a:xfrm>
            <a:off x="640080" y="5669280"/>
            <a:ext cx="10881360" cy="731520"/>
          </a:xfrm>
          <a:prstGeom prst="rect">
            <a:avLst/>
          </a:prstGeom>
          <a:noFill/>
        </p:spPr>
        <p:txBody>
          <a:bodyPr wrap="square" lIns="0" rIns="0" tIns="0" bIns="0">
            <a:spAutoFit/>
          </a:bodyPr>
          <a:lstStyle/>
          <a:p>
            <a:pPr algn="l">
              <a:spcAft>
                <a:spcPts val="600"/>
              </a:spcAft>
            </a:pPr>
            <a:r>
              <a:rPr sz="1350" b="0" i="0">
                <a:solidFill>
                  <a:srgbClr val="6E7B82"/>
                </a:solidFill>
                <a:latin typeface="Calibri"/>
              </a:rPr>
              <a:t>Four labels are used and kept distinct: REFUTED (a measurement contradicts it), UNSUPPORTED (the evidence was invalid — neither established nor ruled out), NULL (measured, indistinguishable from zero), and MEASURED.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Contribution to knowledge</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what is new, what is better, by how much</a:t>
            </a:r>
          </a:p>
        </p:txBody>
      </p:sp>
      <p:sp>
        <p:nvSpPr>
          <p:cNvPr id="4" name="TextBox 3"/>
          <p:cNvSpPr txBox="1"/>
          <p:nvPr/>
        </p:nvSpPr>
        <p:spPr>
          <a:xfrm>
            <a:off x="640080" y="1828800"/>
            <a:ext cx="10881360" cy="3840480"/>
          </a:xfrm>
          <a:prstGeom prst="rect">
            <a:avLst/>
          </a:prstGeom>
          <a:noFill/>
        </p:spPr>
        <p:txBody>
          <a:bodyPr wrap="square" lIns="0" rIns="0" tIns="0" bIns="0">
            <a:spAutoFit/>
          </a:bodyPr>
          <a:lstStyle/>
          <a:p>
            <a:pPr>
              <a:spcAft>
                <a:spcPts val="1300"/>
              </a:spcAft>
            </a:pPr>
            <a:r>
              <a:rPr sz="1400" b="1">
                <a:solidFill>
                  <a:srgbClr val="1A2228"/>
                </a:solidFill>
                <a:latin typeface="Calibri"/>
              </a:rPr>
              <a:t>The certified quantity is not the quantity of interest. </a:t>
            </a:r>
            <a:r>
              <a:rPr sz="1400">
                <a:solidFill>
                  <a:srgbClr val="1A2228"/>
                </a:solidFill>
                <a:latin typeface="Calibri"/>
              </a:rPr>
              <a:t>78.5% of globally-wrong steps are arithmetically perfect, on 93,129 labelled steps.</a:t>
            </a:r>
          </a:p>
          <a:p>
            <a:pPr>
              <a:spcAft>
                <a:spcPts val="1300"/>
              </a:spcAft>
            </a:pPr>
            <a:r>
              <a:rPr sz="1400" b="1">
                <a:solidFill>
                  <a:srgbClr val="1A2228"/>
                </a:solidFill>
                <a:latin typeface="Calibri"/>
              </a:rPr>
              <a:t>The gap widens as generators improve. </a:t>
            </a:r>
            <a:r>
              <a:rPr sz="1400">
                <a:solidFill>
                  <a:srgbClr val="1A2228"/>
                </a:solidFill>
                <a:latin typeface="Calibri"/>
              </a:rPr>
              <a:t>0.7848 → 0.8738 → 0.9040 across three models, monotone in accuracy, Mistral's interval disjoint from both others. A deterministic verifier gets LESS useful as models improve.</a:t>
            </a:r>
          </a:p>
          <a:p>
            <a:pPr>
              <a:spcAft>
                <a:spcPts val="1300"/>
              </a:spcAft>
            </a:pPr>
            <a:r>
              <a:rPr sz="1400" b="1">
                <a:solidFill>
                  <a:srgbClr val="1A2228"/>
                </a:solidFill>
                <a:latin typeface="Calibri"/>
              </a:rPr>
              <a:t>Reach requires independence AND task specialisation. </a:t>
            </a:r>
            <a:r>
              <a:rPr sz="1400">
                <a:solidFill>
                  <a:srgbClr val="1A2228"/>
                </a:solidFill>
                <a:latin typeface="Calibri"/>
              </a:rPr>
              <a:t>0.0000 / 0.2283 / 0.9033 across four verifier classes; neither property alone suffices.</a:t>
            </a:r>
          </a:p>
          <a:p>
            <a:pPr>
              <a:spcAft>
                <a:spcPts val="1300"/>
              </a:spcAft>
            </a:pPr>
            <a:r>
              <a:rPr sz="1400" b="1">
                <a:solidFill>
                  <a:srgbClr val="1A2228"/>
                </a:solidFill>
                <a:latin typeface="Calibri"/>
              </a:rPr>
              <a:t>"Verify early" is false, and the useful signal is ancestor count. </a:t>
            </a:r>
            <a:r>
              <a:rPr sz="1400">
                <a:solidFill>
                  <a:srgbClr val="1A2228"/>
                </a:solidFill>
                <a:latin typeface="Calibri"/>
              </a:rPr>
              <a:t>Front-loading is worst at every scope &gt; 0; corr(position, error) = +0.950.</a:t>
            </a:r>
          </a:p>
          <a:p>
            <a:pPr>
              <a:spcAft>
                <a:spcPts val="1300"/>
              </a:spcAft>
            </a:pPr>
            <a:r>
              <a:rPr sz="1400" b="1">
                <a:solidFill>
                  <a:srgbClr val="1A2228"/>
                </a:solidFill>
                <a:latin typeface="Calibri"/>
              </a:rPr>
              <a:t>The failure is attributable, not merely observed. </a:t>
            </a:r>
            <a:r>
              <a:rPr sz="1400">
                <a:solidFill>
                  <a:srgbClr val="1A2228"/>
                </a:solidFill>
                <a:latin typeface="Calibri"/>
              </a:rPr>
              <a:t>An oracle takes risk 0.154 → 0.089 and accuracy 0.79 → 0.98 on a third of the calls, showing the verifier is downstream of the score. Two bottlenecks survive: signal and budget.</a:t>
            </a:r>
          </a:p>
          <a:p>
            <a:pPr>
              <a:spcAft>
                <a:spcPts val="1300"/>
              </a:spcAft>
            </a:pPr>
            <a:r>
              <a:rPr sz="1400" b="1">
                <a:solidFill>
                  <a:srgbClr val="1A2228"/>
                </a:solidFill>
                <a:latin typeface="Calibri"/>
              </a:rPr>
              <a:t>AUROC is not a sufficient figure of merit. </a:t>
            </a:r>
            <a:r>
              <a:rPr sz="1400">
                <a:solidFill>
                  <a:srgbClr val="1A2228"/>
                </a:solidFill>
                <a:latin typeface="Calibri"/>
              </a:rPr>
              <a:t>Equal-AUROC scores differ by 0.04 projected accuracy, because only the first bad step can be repaired.</a:t>
            </a:r>
          </a:p>
        </p:txBody>
      </p:sp>
      <p:sp>
        <p:nvSpPr>
          <p:cNvPr id="5" name="TextBox 4"/>
          <p:cNvSpPr txBox="1"/>
          <p:nvPr/>
        </p:nvSpPr>
        <p:spPr>
          <a:xfrm>
            <a:off x="640080" y="5852160"/>
            <a:ext cx="10881360" cy="548640"/>
          </a:xfrm>
          <a:prstGeom prst="rect">
            <a:avLst/>
          </a:prstGeom>
          <a:noFill/>
        </p:spPr>
        <p:txBody>
          <a:bodyPr wrap="square" lIns="0" rIns="0" tIns="0" bIns="0">
            <a:spAutoFit/>
          </a:bodyPr>
          <a:lstStyle/>
          <a:p>
            <a:pPr algn="l">
              <a:spcAft>
                <a:spcPts val="600"/>
              </a:spcAft>
            </a:pPr>
            <a:r>
              <a:rPr sz="1500" b="1" i="0">
                <a:solidFill>
                  <a:srgbClr val="3E6E6C"/>
                </a:solidFill>
                <a:latin typeface="Calibri"/>
              </a:rPr>
              <a:t>A claim about the design space rather than about one system — and falsifiable in the only way that matters: a signal that ranks step error would break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Limitations</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limitations honestly discussed — stated before being asked</a:t>
            </a:r>
          </a:p>
        </p:txBody>
      </p:sp>
      <p:sp>
        <p:nvSpPr>
          <p:cNvPr id="4" name="TextBox 3"/>
          <p:cNvSpPr txBox="1"/>
          <p:nvPr/>
        </p:nvSpPr>
        <p:spPr>
          <a:xfrm>
            <a:off x="640080" y="1874519"/>
            <a:ext cx="5303520" cy="3840480"/>
          </a:xfrm>
          <a:prstGeom prst="rect">
            <a:avLst/>
          </a:prstGeom>
          <a:noFill/>
        </p:spPr>
        <p:txBody>
          <a:bodyPr wrap="square" lIns="0" rIns="0" tIns="0" bIns="0">
            <a:spAutoFit/>
          </a:bodyPr>
          <a:lstStyle/>
          <a:p>
            <a:pPr>
              <a:spcAft>
                <a:spcPts val="1400"/>
              </a:spcAft>
            </a:pPr>
            <a:r>
              <a:rPr sz="1350" b="1">
                <a:solidFill>
                  <a:srgbClr val="1A2228"/>
                </a:solidFill>
                <a:latin typeface="Calibri"/>
              </a:rPr>
              <a:t>Sample size. </a:t>
            </a:r>
            <a:r>
              <a:rPr sz="1350">
                <a:solidFill>
                  <a:srgbClr val="1A2228"/>
                </a:solidFill>
                <a:latin typeface="Calibri"/>
              </a:rPr>
              <a:t>182 test questions, 925 test steps. The headline gap is far outside sampling noise; between-condition differences are not.</a:t>
            </a:r>
          </a:p>
          <a:p>
            <a:pPr>
              <a:spcAft>
                <a:spcPts val="1400"/>
              </a:spcAft>
            </a:pPr>
            <a:r>
              <a:rPr sz="1350" b="1">
                <a:solidFill>
                  <a:srgbClr val="1A2228"/>
                </a:solidFill>
                <a:latin typeface="Calibri"/>
              </a:rPr>
              <a:t>108 first-bad steps exist in the whole corpus, </a:t>
            </a:r>
            <a:r>
              <a:rPr sz="1350">
                <a:solidFill>
                  <a:srgbClr val="1A2228"/>
                </a:solidFill>
                <a:latin typeface="Calibri"/>
              </a:rPr>
              <a:t>40 in test. That is the binding constraint on §8.6's only constructive result.</a:t>
            </a:r>
          </a:p>
          <a:p>
            <a:pPr>
              <a:spcAft>
                <a:spcPts val="1400"/>
              </a:spcAft>
            </a:pPr>
            <a:r>
              <a:rPr sz="1350" b="1">
                <a:solidFill>
                  <a:srgbClr val="1A2228"/>
                </a:solidFill>
                <a:latin typeface="Calibri"/>
              </a:rPr>
              <a:t>A "step" is not model-invariant. </a:t>
            </a:r>
            <a:r>
              <a:rPr sz="1350">
                <a:solidFill>
                  <a:srgbClr val="1A2228"/>
                </a:solidFill>
                <a:latin typeface="Calibri"/>
              </a:rPr>
              <a:t>Math-Shepherd's step is one calculator operation; Qwen writes 5.15 per solution, 59% of them narration. Per-step rates across generators are rates over different units.</a:t>
            </a:r>
          </a:p>
        </p:txBody>
      </p:sp>
      <p:sp>
        <p:nvSpPr>
          <p:cNvPr id="5" name="TextBox 4"/>
          <p:cNvSpPr txBox="1"/>
          <p:nvPr/>
        </p:nvSpPr>
        <p:spPr>
          <a:xfrm>
            <a:off x="6309360" y="1874519"/>
            <a:ext cx="5212080" cy="3840480"/>
          </a:xfrm>
          <a:prstGeom prst="rect">
            <a:avLst/>
          </a:prstGeom>
          <a:noFill/>
        </p:spPr>
        <p:txBody>
          <a:bodyPr wrap="square" lIns="0" rIns="0" tIns="0" bIns="0">
            <a:spAutoFit/>
          </a:bodyPr>
          <a:lstStyle/>
          <a:p>
            <a:pPr>
              <a:spcAft>
                <a:spcPts val="1400"/>
              </a:spcAft>
            </a:pPr>
            <a:r>
              <a:rPr sz="1350" b="1">
                <a:solidFill>
                  <a:srgbClr val="1A2228"/>
                </a:solidFill>
                <a:latin typeface="Calibri"/>
              </a:rPr>
              <a:t>Projected, not measured, accuracy. </a:t>
            </a:r>
            <a:r>
              <a:rPr sz="1350">
                <a:solidFill>
                  <a:srgbClr val="1A2228"/>
                </a:solidFill>
                <a:latin typeface="Calibri"/>
              </a:rPr>
              <a:t>The corpus is fixed, so gating cannot change what the model wrote. Final-answer accuracy is projected under an explicit repair model and labelled PROJECTED throughout.</a:t>
            </a:r>
          </a:p>
          <a:p>
            <a:pPr>
              <a:spcAft>
                <a:spcPts val="1400"/>
              </a:spcAft>
            </a:pPr>
            <a:r>
              <a:rPr sz="1350" b="1">
                <a:solidFill>
                  <a:srgbClr val="1A2228"/>
                </a:solidFill>
                <a:latin typeface="Calibri"/>
              </a:rPr>
              <a:t>Derived graphs carry 5.7% edge error, </a:t>
            </a:r>
            <a:r>
              <a:rPr sz="1350">
                <a:solidFill>
                  <a:srgbClr val="1A2228"/>
                </a:solidFill>
                <a:latin typeface="Calibri"/>
              </a:rPr>
              <a:t>hand-validated — and that is a lower bound, since dependencies routed through unannotated lines are invisible to any operand-matching scheme.</a:t>
            </a:r>
          </a:p>
          <a:p>
            <a:pPr>
              <a:spcAft>
                <a:spcPts val="1400"/>
              </a:spcAft>
            </a:pPr>
            <a:r>
              <a:rPr sz="1350" b="1">
                <a:solidFill>
                  <a:srgbClr val="1A2228"/>
                </a:solidFill>
                <a:latin typeface="Calibri"/>
              </a:rPr>
              <a:t>Three generators, one band. </a:t>
            </a:r>
            <a:r>
              <a:rPr sz="1350">
                <a:solidFill>
                  <a:srgbClr val="1A2228"/>
                </a:solidFill>
                <a:latin typeface="Calibri"/>
              </a:rPr>
              <a:t>All 7–8B instruction-tuned models on GSM8K. Nothing here establishes the relationship continues to a 70B model or to a different task.</a:t>
            </a:r>
          </a:p>
        </p:txBody>
      </p:sp>
      <p:sp>
        <p:nvSpPr>
          <p:cNvPr id="6" name="TextBox 5"/>
          <p:cNvSpPr txBox="1"/>
          <p:nvPr/>
        </p:nvSpPr>
        <p:spPr>
          <a:xfrm>
            <a:off x="640080" y="5943600"/>
            <a:ext cx="10881360" cy="457200"/>
          </a:xfrm>
          <a:prstGeom prst="rect">
            <a:avLst/>
          </a:prstGeom>
          <a:noFill/>
        </p:spPr>
        <p:txBody>
          <a:bodyPr wrap="square" lIns="0" rIns="0" tIns="0" bIns="0">
            <a:spAutoFit/>
          </a:bodyPr>
          <a:lstStyle/>
          <a:p>
            <a:pPr algn="l">
              <a:spcAft>
                <a:spcPts val="600"/>
              </a:spcAft>
            </a:pPr>
            <a:r>
              <a:rPr sz="1500" b="1" i="0">
                <a:solidFill>
                  <a:srgbClr val="2B3A42"/>
                </a:solidFill>
                <a:latin typeface="Calibri"/>
              </a:rPr>
              <a:t>Every number in this thesis is labelled MEASURED or PROJECTED, and the two are never blended.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Reproducibility</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code repository finalized, documented, reproducible</a:t>
            </a:r>
          </a:p>
        </p:txBody>
      </p:sp>
      <p:sp>
        <p:nvSpPr>
          <p:cNvPr id="4" name="TextBox 3"/>
          <p:cNvSpPr txBox="1"/>
          <p:nvPr/>
        </p:nvSpPr>
        <p:spPr>
          <a:xfrm>
            <a:off x="640080" y="1828800"/>
            <a:ext cx="2651760" cy="658368"/>
          </a:xfrm>
          <a:prstGeom prst="rect">
            <a:avLst/>
          </a:prstGeom>
          <a:noFill/>
        </p:spPr>
        <p:txBody>
          <a:bodyPr wrap="square" lIns="0" rIns="0" tIns="0" bIns="0">
            <a:spAutoFit/>
          </a:bodyPr>
          <a:lstStyle/>
          <a:p>
            <a:pPr algn="l">
              <a:spcAft>
                <a:spcPts val="600"/>
              </a:spcAft>
            </a:pPr>
            <a:r>
              <a:rPr sz="3800" b="1" i="0">
                <a:solidFill>
                  <a:srgbClr val="2B3A42"/>
                </a:solidFill>
                <a:latin typeface="Cambria"/>
              </a:rPr>
              <a:t>360</a:t>
            </a:r>
          </a:p>
        </p:txBody>
      </p:sp>
      <p:sp>
        <p:nvSpPr>
          <p:cNvPr id="5" name="TextBox 4"/>
          <p:cNvSpPr txBox="1"/>
          <p:nvPr/>
        </p:nvSpPr>
        <p:spPr>
          <a:xfrm>
            <a:off x="64008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tests — no GPU,</a:t>
            </a:r>
          </a:p>
          <a:p>
            <a:pPr algn="l">
              <a:spcAft>
                <a:spcPts val="600"/>
              </a:spcAft>
            </a:pPr>
            <a:r>
              <a:rPr sz="1200" b="0" i="0">
                <a:solidFill>
                  <a:srgbClr val="6E7B82"/>
                </a:solidFill>
                <a:latin typeface="Calibri"/>
              </a:rPr>
              <a:t>no network required</a:t>
            </a:r>
          </a:p>
        </p:txBody>
      </p:sp>
      <p:sp>
        <p:nvSpPr>
          <p:cNvPr id="6" name="TextBox 5"/>
          <p:cNvSpPr txBox="1"/>
          <p:nvPr/>
        </p:nvSpPr>
        <p:spPr>
          <a:xfrm>
            <a:off x="3474720" y="1828800"/>
            <a:ext cx="2651760" cy="658368"/>
          </a:xfrm>
          <a:prstGeom prst="rect">
            <a:avLst/>
          </a:prstGeom>
          <a:noFill/>
        </p:spPr>
        <p:txBody>
          <a:bodyPr wrap="square" lIns="0" rIns="0" tIns="0" bIns="0">
            <a:spAutoFit/>
          </a:bodyPr>
          <a:lstStyle/>
          <a:p>
            <a:pPr algn="l">
              <a:spcAft>
                <a:spcPts val="600"/>
              </a:spcAft>
            </a:pPr>
            <a:r>
              <a:rPr sz="3800" b="1" i="0">
                <a:solidFill>
                  <a:srgbClr val="2B3A42"/>
                </a:solidFill>
                <a:latin typeface="Cambria"/>
              </a:rPr>
              <a:t>89</a:t>
            </a:r>
          </a:p>
        </p:txBody>
      </p:sp>
      <p:sp>
        <p:nvSpPr>
          <p:cNvPr id="7" name="TextBox 6"/>
          <p:cNvSpPr txBox="1"/>
          <p:nvPr/>
        </p:nvSpPr>
        <p:spPr>
          <a:xfrm>
            <a:off x="347472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pages, 10 chapters,</a:t>
            </a:r>
          </a:p>
          <a:p>
            <a:pPr algn="l">
              <a:spcAft>
                <a:spcPts val="600"/>
              </a:spcAft>
            </a:pPr>
            <a:r>
              <a:rPr sz="1200" b="0" i="0">
                <a:solidFill>
                  <a:srgbClr val="6E7B82"/>
                </a:solidFill>
                <a:latin typeface="Calibri"/>
              </a:rPr>
              <a:t>compiles from source</a:t>
            </a:r>
          </a:p>
        </p:txBody>
      </p:sp>
      <p:sp>
        <p:nvSpPr>
          <p:cNvPr id="8" name="TextBox 7"/>
          <p:cNvSpPr txBox="1"/>
          <p:nvPr/>
        </p:nvSpPr>
        <p:spPr>
          <a:xfrm>
            <a:off x="6309360" y="1828800"/>
            <a:ext cx="2651760" cy="658368"/>
          </a:xfrm>
          <a:prstGeom prst="rect">
            <a:avLst/>
          </a:prstGeom>
          <a:noFill/>
        </p:spPr>
        <p:txBody>
          <a:bodyPr wrap="square" lIns="0" rIns="0" tIns="0" bIns="0">
            <a:spAutoFit/>
          </a:bodyPr>
          <a:lstStyle/>
          <a:p>
            <a:pPr algn="l">
              <a:spcAft>
                <a:spcPts val="600"/>
              </a:spcAft>
            </a:pPr>
            <a:r>
              <a:rPr sz="3800" b="1" i="0">
                <a:solidFill>
                  <a:srgbClr val="2B3A42"/>
                </a:solidFill>
                <a:latin typeface="Cambria"/>
              </a:rPr>
              <a:t>21</a:t>
            </a:r>
          </a:p>
        </p:txBody>
      </p:sp>
      <p:sp>
        <p:nvSpPr>
          <p:cNvPr id="9" name="TextBox 8"/>
          <p:cNvSpPr txBox="1"/>
          <p:nvPr/>
        </p:nvSpPr>
        <p:spPr>
          <a:xfrm>
            <a:off x="630936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references, every</a:t>
            </a:r>
          </a:p>
          <a:p>
            <a:pPr algn="l">
              <a:spcAft>
                <a:spcPts val="600"/>
              </a:spcAft>
            </a:pPr>
            <a:r>
              <a:rPr sz="1200" b="0" i="0">
                <a:solidFill>
                  <a:srgbClr val="6E7B82"/>
                </a:solidFill>
                <a:latin typeface="Calibri"/>
              </a:rPr>
              <a:t>arXiv id verified</a:t>
            </a:r>
          </a:p>
        </p:txBody>
      </p:sp>
      <p:sp>
        <p:nvSpPr>
          <p:cNvPr id="10" name="TextBox 9"/>
          <p:cNvSpPr txBox="1"/>
          <p:nvPr/>
        </p:nvSpPr>
        <p:spPr>
          <a:xfrm>
            <a:off x="9144000" y="1828800"/>
            <a:ext cx="2651760" cy="658368"/>
          </a:xfrm>
          <a:prstGeom prst="rect">
            <a:avLst/>
          </a:prstGeom>
          <a:noFill/>
        </p:spPr>
        <p:txBody>
          <a:bodyPr wrap="square" lIns="0" rIns="0" tIns="0" bIns="0">
            <a:spAutoFit/>
          </a:bodyPr>
          <a:lstStyle/>
          <a:p>
            <a:pPr algn="l">
              <a:spcAft>
                <a:spcPts val="600"/>
              </a:spcAft>
            </a:pPr>
            <a:r>
              <a:rPr sz="3800" b="1" i="0">
                <a:solidFill>
                  <a:srgbClr val="2B3A42"/>
                </a:solidFill>
                <a:latin typeface="Cambria"/>
              </a:rPr>
              <a:t>15</a:t>
            </a:r>
          </a:p>
        </p:txBody>
      </p:sp>
      <p:sp>
        <p:nvSpPr>
          <p:cNvPr id="11" name="TextBox 10"/>
          <p:cNvSpPr txBox="1"/>
          <p:nvPr/>
        </p:nvSpPr>
        <p:spPr>
          <a:xfrm>
            <a:off x="9144000" y="2487168"/>
            <a:ext cx="2651760" cy="640080"/>
          </a:xfrm>
          <a:prstGeom prst="rect">
            <a:avLst/>
          </a:prstGeom>
          <a:noFill/>
        </p:spPr>
        <p:txBody>
          <a:bodyPr wrap="square" lIns="0" rIns="0" tIns="0" bIns="0">
            <a:spAutoFit/>
          </a:bodyPr>
          <a:lstStyle/>
          <a:p>
            <a:pPr algn="l">
              <a:spcAft>
                <a:spcPts val="600"/>
              </a:spcAft>
            </a:pPr>
            <a:r>
              <a:rPr sz="1200" b="0" i="0">
                <a:solidFill>
                  <a:srgbClr val="6E7B82"/>
                </a:solidFill>
                <a:latin typeface="Calibri"/>
              </a:rPr>
              <a:t>figures, regenerated</a:t>
            </a:r>
          </a:p>
          <a:p>
            <a:pPr algn="l">
              <a:spcAft>
                <a:spcPts val="600"/>
              </a:spcAft>
            </a:pPr>
            <a:r>
              <a:rPr sz="1200" b="0" i="0">
                <a:solidFill>
                  <a:srgbClr val="6E7B82"/>
                </a:solidFill>
                <a:latin typeface="Calibri"/>
              </a:rPr>
              <a:t>by two scripts</a:t>
            </a:r>
          </a:p>
        </p:txBody>
      </p:sp>
      <p:sp>
        <p:nvSpPr>
          <p:cNvPr id="12" name="TextBox 11"/>
          <p:cNvSpPr txBox="1"/>
          <p:nvPr/>
        </p:nvSpPr>
        <p:spPr>
          <a:xfrm>
            <a:off x="640080" y="3429000"/>
            <a:ext cx="10881360" cy="365760"/>
          </a:xfrm>
          <a:prstGeom prst="rect">
            <a:avLst/>
          </a:prstGeom>
          <a:noFill/>
        </p:spPr>
        <p:txBody>
          <a:bodyPr wrap="square" lIns="0" rIns="0" tIns="0" bIns="0">
            <a:spAutoFit/>
          </a:bodyPr>
          <a:lstStyle/>
          <a:p>
            <a:pPr algn="l">
              <a:spcAft>
                <a:spcPts val="600"/>
              </a:spcAft>
            </a:pPr>
            <a:r>
              <a:rPr sz="1700" b="1" i="0">
                <a:solidFill>
                  <a:srgbClr val="2B3A42"/>
                </a:solidFill>
                <a:latin typeface="Cambria"/>
              </a:rPr>
              <a:t>Guards that stop numbers drifting</a:t>
            </a:r>
          </a:p>
        </p:txBody>
      </p:sp>
      <p:graphicFrame>
        <p:nvGraphicFramePr>
          <p:cNvPr id="13" name="Table 12"/>
          <p:cNvGraphicFramePr>
            <a:graphicFrameLocks noGrp="1"/>
          </p:cNvGraphicFramePr>
          <p:nvPr/>
        </p:nvGraphicFramePr>
        <p:xfrm>
          <a:off x="640080" y="3886200"/>
          <a:ext cx="10881360" cy="2560320"/>
        </p:xfrm>
        <a:graphic>
          <a:graphicData uri="http://schemas.openxmlformats.org/drawingml/2006/table">
            <a:tbl>
              <a:tblPr firstRow="1" bandRow="1">
                <a:tableStyleId>{5C22544A-7EE6-4342-B048-85BDC9FD1C3A}</a:tableStyleId>
              </a:tblPr>
              <a:tblGrid>
                <a:gridCol w="4533900"/>
                <a:gridCol w="6347460"/>
              </a:tblGrid>
              <a:tr h="320040">
                <a:tc>
                  <a:txBody>
                    <a:bodyPr/>
                    <a:lstStyle/>
                    <a:p>
                      <a:pPr algn="l"/>
                      <a:r>
                        <a:rPr sz="1200" b="1">
                          <a:solidFill>
                            <a:srgbClr val="FFFFFF"/>
                          </a:solidFill>
                          <a:latin typeface="Calibri"/>
                        </a:rPr>
                        <a:t>Guard</a:t>
                      </a:r>
                    </a:p>
                  </a:txBody>
                  <a:tcPr anchor="ctr" marL="73152" marR="73152" marT="0" marB="0">
                    <a:solidFill>
                      <a:srgbClr val="2B3A42"/>
                    </a:solidFill>
                  </a:tcPr>
                </a:tc>
                <a:tc>
                  <a:txBody>
                    <a:bodyPr/>
                    <a:lstStyle/>
                    <a:p>
                      <a:pPr algn="ctr"/>
                      <a:r>
                        <a:rPr sz="1200" b="1">
                          <a:solidFill>
                            <a:srgbClr val="FFFFFF"/>
                          </a:solidFill>
                          <a:latin typeface="Calibri"/>
                        </a:rPr>
                        <a:t>What it prevents</a:t>
                      </a:r>
                    </a:p>
                  </a:txBody>
                  <a:tcPr anchor="ctr" marL="73152" marR="73152" marT="0" marB="0">
                    <a:solidFill>
                      <a:srgbClr val="2B3A42"/>
                    </a:solidFill>
                  </a:tcPr>
                </a:tc>
              </a:tr>
              <a:tr h="320040">
                <a:tc>
                  <a:txBody>
                    <a:bodyPr/>
                    <a:lstStyle/>
                    <a:p>
                      <a:pPr algn="l"/>
                      <a:r>
                        <a:rPr sz="1200" b="0">
                          <a:solidFill>
                            <a:srgbClr val="1A2228"/>
                          </a:solidFill>
                          <a:latin typeface="Calibri"/>
                        </a:rPr>
                        <a:t>regression tests on every refuted claim</a:t>
                      </a:r>
                    </a:p>
                  </a:txBody>
                  <a:tcPr anchor="ctr" marL="73152" marR="73152" marT="0" marB="0">
                    <a:solidFill>
                      <a:srgbClr val="FFFFFF"/>
                    </a:solidFill>
                  </a:tcPr>
                </a:tc>
                <a:tc>
                  <a:txBody>
                    <a:bodyPr/>
                    <a:lstStyle/>
                    <a:p>
                      <a:pPr algn="ctr"/>
                      <a:r>
                        <a:rPr sz="1200" b="0">
                          <a:solidFill>
                            <a:srgbClr val="1A2228"/>
                          </a:solidFill>
                          <a:latin typeface="Calibri"/>
                        </a:rPr>
                        <a:t>a refutation quietly stopping reproducing</a:t>
                      </a:r>
                    </a:p>
                  </a:txBody>
                  <a:tcPr anchor="ctr" marL="73152" marR="73152" marT="0" marB="0">
                    <a:solidFill>
                      <a:srgbClr val="FFFFFF"/>
                    </a:solidFill>
                  </a:tcPr>
                </a:tc>
              </a:tr>
              <a:tr h="320040">
                <a:tc>
                  <a:txBody>
                    <a:bodyPr/>
                    <a:lstStyle/>
                    <a:p>
                      <a:pPr algn="l"/>
                      <a:r>
                        <a:rPr sz="1200" b="0">
                          <a:solidFill>
                            <a:srgbClr val="1A2228"/>
                          </a:solidFill>
                          <a:latin typeface="Calibri"/>
                        </a:rPr>
                        <a:t>check_citations.py</a:t>
                      </a:r>
                    </a:p>
                  </a:txBody>
                  <a:tcPr anchor="ctr" marL="73152" marR="73152" marT="0" marB="0">
                    <a:solidFill>
                      <a:srgbClr val="FAFAF8"/>
                    </a:solidFill>
                  </a:tcPr>
                </a:tc>
                <a:tc>
                  <a:txBody>
                    <a:bodyPr/>
                    <a:lstStyle/>
                    <a:p>
                      <a:pPr algn="ctr"/>
                      <a:r>
                        <a:rPr sz="1200" b="0">
                          <a:solidFill>
                            <a:srgbClr val="1A2228"/>
                          </a:solidFill>
                          <a:latin typeface="Calibri"/>
                        </a:rPr>
                        <a:t>a cited arXiv id with no bibliography entry</a:t>
                      </a:r>
                    </a:p>
                  </a:txBody>
                  <a:tcPr anchor="ctr" marL="73152" marR="73152" marT="0" marB="0">
                    <a:solidFill>
                      <a:srgbClr val="FAFAF8"/>
                    </a:solidFill>
                  </a:tcPr>
                </a:tc>
              </a:tr>
              <a:tr h="320040">
                <a:tc>
                  <a:txBody>
                    <a:bodyPr/>
                    <a:lstStyle/>
                    <a:p>
                      <a:pPr algn="l"/>
                      <a:r>
                        <a:rPr sz="1200" b="0">
                          <a:solidFill>
                            <a:srgbClr val="1A2228"/>
                          </a:solidFill>
                          <a:latin typeface="Calibri"/>
                        </a:rPr>
                        <a:t>check_crossrefs.py</a:t>
                      </a:r>
                    </a:p>
                  </a:txBody>
                  <a:tcPr anchor="ctr" marL="73152" marR="73152" marT="0" marB="0">
                    <a:solidFill>
                      <a:srgbClr val="FFFFFF"/>
                    </a:solidFill>
                  </a:tcPr>
                </a:tc>
                <a:tc>
                  <a:txBody>
                    <a:bodyPr/>
                    <a:lstStyle/>
                    <a:p>
                      <a:pPr algn="ctr"/>
                      <a:r>
                        <a:rPr sz="1200" b="0">
                          <a:solidFill>
                            <a:srgbClr val="1A2228"/>
                          </a:solidFill>
                          <a:latin typeface="Calibri"/>
                        </a:rPr>
                        <a:t>a reference resolving to the wrong chapter after a renumber</a:t>
                      </a:r>
                    </a:p>
                  </a:txBody>
                  <a:tcPr anchor="ctr" marL="73152" marR="73152" marT="0" marB="0">
                    <a:solidFill>
                      <a:srgbClr val="FFFFFF"/>
                    </a:solidFill>
                  </a:tcPr>
                </a:tc>
              </a:tr>
              <a:tr h="320040">
                <a:tc>
                  <a:txBody>
                    <a:bodyPr/>
                    <a:lstStyle/>
                    <a:p>
                      <a:pPr algn="l"/>
                      <a:r>
                        <a:rPr sz="1200" b="0">
                          <a:solidFill>
                            <a:srgbClr val="1A2228"/>
                          </a:solidFill>
                          <a:latin typeface="Calibri"/>
                        </a:rPr>
                        <a:t>check_prose.py --baseline/--compare</a:t>
                      </a:r>
                    </a:p>
                  </a:txBody>
                  <a:tcPr anchor="ctr" marL="73152" marR="73152" marT="0" marB="0">
                    <a:solidFill>
                      <a:srgbClr val="FAFAF8"/>
                    </a:solidFill>
                  </a:tcPr>
                </a:tc>
                <a:tc>
                  <a:txBody>
                    <a:bodyPr/>
                    <a:lstStyle/>
                    <a:p>
                      <a:pPr algn="ctr"/>
                      <a:r>
                        <a:rPr sz="1200" b="0">
                          <a:solidFill>
                            <a:srgbClr val="1A2228"/>
                          </a:solidFill>
                          <a:latin typeface="Calibri"/>
                        </a:rPr>
                        <a:t>an editing pass silently moving a number</a:t>
                      </a:r>
                    </a:p>
                  </a:txBody>
                  <a:tcPr anchor="ctr" marL="73152" marR="73152" marT="0" marB="0">
                    <a:solidFill>
                      <a:srgbClr val="FAFAF8"/>
                    </a:solidFill>
                  </a:tcPr>
                </a:tc>
              </a:tr>
              <a:tr h="320040">
                <a:tc>
                  <a:txBody>
                    <a:bodyPr/>
                    <a:lstStyle/>
                    <a:p>
                      <a:pPr algn="l"/>
                      <a:r>
                        <a:rPr sz="1200" b="0">
                          <a:solidFill>
                            <a:srgbClr val="1A2228"/>
                          </a:solidFill>
                          <a:latin typeface="Calibri"/>
                        </a:rPr>
                        <a:t>annotation-rate and solve-rate gates</a:t>
                      </a:r>
                    </a:p>
                  </a:txBody>
                  <a:tcPr anchor="ctr" marL="73152" marR="73152" marT="0" marB="0">
                    <a:solidFill>
                      <a:srgbClr val="FFFFFF"/>
                    </a:solidFill>
                  </a:tcPr>
                </a:tc>
                <a:tc>
                  <a:txBody>
                    <a:bodyPr/>
                    <a:lstStyle/>
                    <a:p>
                      <a:pPr algn="ctr"/>
                      <a:r>
                        <a:rPr sz="1200" b="0">
                          <a:solidFill>
                            <a:srgbClr val="1A2228"/>
                          </a:solidFill>
                          <a:latin typeface="Calibri"/>
                        </a:rPr>
                        <a:t>a rate measured on a biased subset of steps</a:t>
                      </a:r>
                    </a:p>
                  </a:txBody>
                  <a:tcPr anchor="ctr" marL="73152" marR="73152" marT="0" marB="0">
                    <a:solidFill>
                      <a:srgbClr val="FFFFFF"/>
                    </a:solidFill>
                  </a:tcPr>
                </a:tc>
              </a:tr>
              <a:tr h="320040">
                <a:tc>
                  <a:txBody>
                    <a:bodyPr/>
                    <a:lstStyle/>
                    <a:p>
                      <a:pPr algn="l"/>
                      <a:r>
                        <a:rPr sz="1200" b="0">
                          <a:solidFill>
                            <a:srgbClr val="1A2228"/>
                          </a:solidFill>
                          <a:latin typeface="Calibri"/>
                        </a:rPr>
                        <a:t>feasibility check at config time</a:t>
                      </a:r>
                    </a:p>
                  </a:txBody>
                  <a:tcPr anchor="ctr" marL="73152" marR="73152" marT="0" marB="0">
                    <a:solidFill>
                      <a:srgbClr val="FAFAF8"/>
                    </a:solidFill>
                  </a:tcPr>
                </a:tc>
                <a:tc>
                  <a:txBody>
                    <a:bodyPr/>
                    <a:lstStyle/>
                    <a:p>
                      <a:pPr algn="ctr"/>
                      <a:r>
                        <a:rPr sz="1200" b="0">
                          <a:solidFill>
                            <a:srgbClr val="1A2228"/>
                          </a:solidFill>
                          <a:latin typeface="Calibri"/>
                        </a:rPr>
                        <a:t>a run whose budget sits below its own Kotte floor</a:t>
                      </a:r>
                    </a:p>
                  </a:txBody>
                  <a:tcPr anchor="ctr" marL="73152" marR="73152" marT="0" marB="0">
                    <a:solidFill>
                      <a:srgbClr val="FAFAF8"/>
                    </a:solidFill>
                  </a:tcPr>
                </a:tc>
              </a:tr>
              <a:tr h="320040">
                <a:tc>
                  <a:txBody>
                    <a:bodyPr/>
                    <a:lstStyle/>
                    <a:p>
                      <a:pPr algn="l"/>
                      <a:r>
                        <a:rPr sz="1200" b="0">
                          <a:solidFill>
                            <a:srgbClr val="1A2228"/>
                          </a:solidFill>
                          <a:latin typeface="Calibri"/>
                        </a:rPr>
                        <a:t>select_and_fit cannot take test indices</a:t>
                      </a:r>
                    </a:p>
                  </a:txBody>
                  <a:tcPr anchor="ctr" marL="73152" marR="73152" marT="0" marB="0">
                    <a:solidFill>
                      <a:srgbClr val="FFFFFF"/>
                    </a:solidFill>
                  </a:tcPr>
                </a:tc>
                <a:tc>
                  <a:txBody>
                    <a:bodyPr/>
                    <a:lstStyle/>
                    <a:p>
                      <a:pPr algn="ctr"/>
                      <a:r>
                        <a:rPr sz="1200" b="0">
                          <a:solidFill>
                            <a:srgbClr val="1A2228"/>
                          </a:solidFill>
                          <a:latin typeface="Calibri"/>
                        </a:rPr>
                        <a:t>the winner's curse becoming the headline</a:t>
                      </a:r>
                    </a:p>
                  </a:txBody>
                  <a:tcPr anchor="ctr" marL="73152" marR="73152" marT="0" marB="0">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Publication status and future work</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Checklist: publication status · future work identifies genuine next steps</a:t>
            </a:r>
          </a:p>
        </p:txBody>
      </p:sp>
      <p:sp>
        <p:nvSpPr>
          <p:cNvPr id="4" name="TextBox 3"/>
          <p:cNvSpPr txBox="1"/>
          <p:nvPr/>
        </p:nvSpPr>
        <p:spPr>
          <a:xfrm>
            <a:off x="640080" y="1828800"/>
            <a:ext cx="4206240" cy="384048"/>
          </a:xfrm>
          <a:prstGeom prst="rect">
            <a:avLst/>
          </a:prstGeom>
          <a:solidFill>
            <a:srgbClr val="B85042"/>
          </a:solidFill>
          <a:ln>
            <a:noFill/>
          </a:ln>
        </p:spPr>
        <p:txBody>
          <a:bodyPr wrap="square" tIns="0" bIns="0">
            <a:spAutoFit/>
          </a:bodyPr>
          <a:lstStyle/>
          <a:p>
            <a:pPr algn="ctr"/>
            <a:r>
              <a:rPr sz="1200" b="1">
                <a:solidFill>
                  <a:srgbClr val="FFFFFF"/>
                </a:solidFill>
                <a:latin typeface="Calibri"/>
              </a:rPr>
              <a:t>PAPER WRITTEN — NOT YET SUBMITTED</a:t>
            </a:r>
          </a:p>
        </p:txBody>
      </p:sp>
      <p:sp>
        <p:nvSpPr>
          <p:cNvPr id="5" name="TextBox 4"/>
          <p:cNvSpPr txBox="1"/>
          <p:nvPr/>
        </p:nvSpPr>
        <p:spPr>
          <a:xfrm>
            <a:off x="640080" y="2377440"/>
            <a:ext cx="10881360" cy="822960"/>
          </a:xfrm>
          <a:prstGeom prst="rect">
            <a:avLst/>
          </a:prstGeom>
          <a:noFill/>
        </p:spPr>
        <p:txBody>
          <a:bodyPr wrap="square" lIns="0" rIns="0" tIns="0" bIns="0">
            <a:spAutoFit/>
          </a:bodyPr>
          <a:lstStyle/>
          <a:p>
            <a:pPr algn="l">
              <a:spcAft>
                <a:spcPts val="600"/>
              </a:spcAft>
            </a:pPr>
            <a:r>
              <a:rPr sz="1400" b="0" i="0">
                <a:solidFill>
                  <a:srgbClr val="1A2228"/>
                </a:solidFill>
                <a:latin typeface="Calibri"/>
              </a:rPr>
              <a:t>6 pages, IEEE conference format, compiled and checked. Every numeric literal in it is held against the thesis by a script. Outstanding before submission: guide's review, venue selection, and the venue's LLM-usage disclosure policy.</a:t>
            </a:r>
          </a:p>
        </p:txBody>
      </p:sp>
      <p:sp>
        <p:nvSpPr>
          <p:cNvPr id="6" name="TextBox 5"/>
          <p:cNvSpPr txBox="1"/>
          <p:nvPr/>
        </p:nvSpPr>
        <p:spPr>
          <a:xfrm>
            <a:off x="640080" y="3291840"/>
            <a:ext cx="10881360" cy="365760"/>
          </a:xfrm>
          <a:prstGeom prst="rect">
            <a:avLst/>
          </a:prstGeom>
          <a:noFill/>
        </p:spPr>
        <p:txBody>
          <a:bodyPr wrap="square" lIns="0" rIns="0" tIns="0" bIns="0">
            <a:spAutoFit/>
          </a:bodyPr>
          <a:lstStyle/>
          <a:p>
            <a:pPr algn="l">
              <a:spcAft>
                <a:spcPts val="600"/>
              </a:spcAft>
            </a:pPr>
            <a:r>
              <a:rPr sz="1700" b="1" i="0">
                <a:solidFill>
                  <a:srgbClr val="2B3A42"/>
                </a:solidFill>
                <a:latin typeface="Cambria"/>
              </a:rPr>
              <a:t>Future work — four genuine next steps</a:t>
            </a:r>
          </a:p>
        </p:txBody>
      </p:sp>
      <p:graphicFrame>
        <p:nvGraphicFramePr>
          <p:cNvPr id="7" name="Table 6"/>
          <p:cNvGraphicFramePr>
            <a:graphicFrameLocks noGrp="1"/>
          </p:cNvGraphicFramePr>
          <p:nvPr/>
        </p:nvGraphicFramePr>
        <p:xfrm>
          <a:off x="640080" y="3749039"/>
          <a:ext cx="10881359" cy="2834640"/>
        </p:xfrm>
        <a:graphic>
          <a:graphicData uri="http://schemas.openxmlformats.org/drawingml/2006/table">
            <a:tbl>
              <a:tblPr firstRow="1" bandRow="1">
                <a:tableStyleId>{5C22544A-7EE6-4342-B048-85BDC9FD1C3A}</a:tableStyleId>
              </a:tblPr>
              <a:tblGrid>
                <a:gridCol w="3121701"/>
                <a:gridCol w="6243403"/>
                <a:gridCol w="1516255"/>
              </a:tblGrid>
              <a:tr h="566928">
                <a:tc>
                  <a:txBody>
                    <a:bodyPr/>
                    <a:lstStyle/>
                    <a:p>
                      <a:pPr algn="l"/>
                      <a:r>
                        <a:rPr sz="1200" b="1">
                          <a:solidFill>
                            <a:srgbClr val="FFFFFF"/>
                          </a:solidFill>
                          <a:latin typeface="Calibri"/>
                        </a:rPr>
                        <a:t>Direction</a:t>
                      </a:r>
                    </a:p>
                  </a:txBody>
                  <a:tcPr anchor="ctr" marL="73152" marR="73152" marT="0" marB="0">
                    <a:solidFill>
                      <a:srgbClr val="2B3A42"/>
                    </a:solidFill>
                  </a:tcPr>
                </a:tc>
                <a:tc>
                  <a:txBody>
                    <a:bodyPr/>
                    <a:lstStyle/>
                    <a:p>
                      <a:pPr algn="ctr"/>
                      <a:r>
                        <a:rPr sz="1200" b="1">
                          <a:solidFill>
                            <a:srgbClr val="FFFFFF"/>
                          </a:solidFill>
                          <a:latin typeface="Calibri"/>
                        </a:rPr>
                        <a:t>Why it is the next step</a:t>
                      </a:r>
                    </a:p>
                  </a:txBody>
                  <a:tcPr anchor="ctr" marL="73152" marR="73152" marT="0" marB="0">
                    <a:solidFill>
                      <a:srgbClr val="2B3A42"/>
                    </a:solidFill>
                  </a:tcPr>
                </a:tc>
                <a:tc>
                  <a:txBody>
                    <a:bodyPr/>
                    <a:lstStyle/>
                    <a:p>
                      <a:pPr algn="ctr"/>
                      <a:r>
                        <a:rPr sz="1200" b="1">
                          <a:solidFill>
                            <a:srgbClr val="FFFFFF"/>
                          </a:solidFill>
                          <a:latin typeface="Calibri"/>
                        </a:rPr>
                        <a:t>Cost</a:t>
                      </a:r>
                    </a:p>
                  </a:txBody>
                  <a:tcPr anchor="ctr" marL="73152" marR="73152" marT="0" marB="0">
                    <a:solidFill>
                      <a:srgbClr val="2B3A42"/>
                    </a:solidFill>
                  </a:tcPr>
                </a:tc>
              </a:tr>
              <a:tr h="566928">
                <a:tc>
                  <a:txBody>
                    <a:bodyPr/>
                    <a:lstStyle/>
                    <a:p>
                      <a:pPr algn="l"/>
                      <a:r>
                        <a:rPr sz="1150" b="0">
                          <a:solidFill>
                            <a:srgbClr val="1A2228"/>
                          </a:solidFill>
                          <a:latin typeface="Calibri"/>
                        </a:rPr>
                        <a:t>ARES-style conditioning under a budget</a:t>
                      </a:r>
                    </a:p>
                  </a:txBody>
                  <a:tcPr anchor="ctr" marL="73152" marR="73152" marT="0" marB="0">
                    <a:solidFill>
                      <a:srgbClr val="FFFFFF"/>
                    </a:solidFill>
                  </a:tcPr>
                </a:tc>
                <a:tc>
                  <a:txBody>
                    <a:bodyPr/>
                    <a:lstStyle/>
                    <a:p>
                      <a:pPr algn="ctr"/>
                      <a:r>
                        <a:rPr sz="1150" b="0">
                          <a:solidFill>
                            <a:srgbClr val="1A2228"/>
                          </a:solidFill>
                          <a:latin typeface="Calibri"/>
                        </a:rPr>
                        <a:t>Scoring against VERIFIED premises reaches 90.3% F1 on propagated errors — but assumes a verified prefix, which a budgeted gate cannot supply. Which fraction to verify is open.</a:t>
                      </a:r>
                    </a:p>
                  </a:txBody>
                  <a:tcPr anchor="ctr" marL="73152" marR="73152" marT="0" marB="0">
                    <a:solidFill>
                      <a:srgbClr val="FFFFFF"/>
                    </a:solidFill>
                  </a:tcPr>
                </a:tc>
                <a:tc>
                  <a:txBody>
                    <a:bodyPr/>
                    <a:lstStyle/>
                    <a:p>
                      <a:pPr algn="ctr"/>
                      <a:r>
                        <a:rPr sz="1150" b="0">
                          <a:solidFill>
                            <a:srgbClr val="1A2228"/>
                          </a:solidFill>
                          <a:latin typeface="Calibri"/>
                        </a:rPr>
                        <a:t>a paper</a:t>
                      </a:r>
                    </a:p>
                  </a:txBody>
                  <a:tcPr anchor="ctr" marL="73152" marR="73152" marT="0" marB="0">
                    <a:solidFill>
                      <a:srgbClr val="FFFFFF"/>
                    </a:solidFill>
                  </a:tcPr>
                </a:tc>
              </a:tr>
              <a:tr h="566928">
                <a:tc>
                  <a:txBody>
                    <a:bodyPr/>
                    <a:lstStyle/>
                    <a:p>
                      <a:pPr algn="l"/>
                      <a:r>
                        <a:rPr sz="1150" b="0">
                          <a:solidFill>
                            <a:srgbClr val="1A2228"/>
                          </a:solidFill>
                          <a:latin typeface="Calibri"/>
                        </a:rPr>
                        <a:t>More first-bad-step labels</a:t>
                      </a:r>
                    </a:p>
                  </a:txBody>
                  <a:tcPr anchor="ctr" marL="73152" marR="73152" marT="0" marB="0">
                    <a:solidFill>
                      <a:srgbClr val="FAFAF8"/>
                    </a:solidFill>
                  </a:tcPr>
                </a:tc>
                <a:tc>
                  <a:txBody>
                    <a:bodyPr/>
                    <a:lstStyle/>
                    <a:p>
                      <a:pPr algn="ctr"/>
                      <a:r>
                        <a:rPr sz="1150" b="0">
                          <a:solidFill>
                            <a:srgbClr val="1A2228"/>
                          </a:solidFill>
                          <a:latin typeface="Calibri"/>
                        </a:rPr>
                        <a:t>Only 108 exist in the whole corpus, 40 in test. This is the binding constraint on the one constructive result in ch. 8.</a:t>
                      </a:r>
                    </a:p>
                  </a:txBody>
                  <a:tcPr anchor="ctr" marL="73152" marR="73152" marT="0" marB="0">
                    <a:solidFill>
                      <a:srgbClr val="FAFAF8"/>
                    </a:solidFill>
                  </a:tcPr>
                </a:tc>
                <a:tc>
                  <a:txBody>
                    <a:bodyPr/>
                    <a:lstStyle/>
                    <a:p>
                      <a:pPr algn="ctr"/>
                      <a:r>
                        <a:rPr sz="1150" b="0">
                          <a:solidFill>
                            <a:srgbClr val="1A2228"/>
                          </a:solidFill>
                          <a:latin typeface="Calibri"/>
                        </a:rPr>
                        <a:t>new corpus</a:t>
                      </a:r>
                    </a:p>
                  </a:txBody>
                  <a:tcPr anchor="ctr" marL="73152" marR="73152" marT="0" marB="0">
                    <a:solidFill>
                      <a:srgbClr val="FAFAF8"/>
                    </a:solidFill>
                  </a:tcPr>
                </a:tc>
              </a:tr>
              <a:tr h="566928">
                <a:tc>
                  <a:txBody>
                    <a:bodyPr/>
                    <a:lstStyle/>
                    <a:p>
                      <a:pPr algn="l"/>
                      <a:r>
                        <a:rPr sz="1150" b="0">
                          <a:solidFill>
                            <a:srgbClr val="1A2228"/>
                          </a:solidFill>
                          <a:latin typeface="Calibri"/>
                        </a:rPr>
                        <a:t>A fourth generator outside 7–8B</a:t>
                      </a:r>
                    </a:p>
                  </a:txBody>
                  <a:tcPr anchor="ctr" marL="73152" marR="73152" marT="0" marB="0">
                    <a:solidFill>
                      <a:srgbClr val="FFFFFF"/>
                    </a:solidFill>
                  </a:tcPr>
                </a:tc>
                <a:tc>
                  <a:txBody>
                    <a:bodyPr/>
                    <a:lstStyle/>
                    <a:p>
                      <a:pPr algn="ctr"/>
                      <a:r>
                        <a:rPr sz="1150" b="0">
                          <a:solidFill>
                            <a:srgbClr val="1A2228"/>
                          </a:solidFill>
                          <a:latin typeface="Calibri"/>
                        </a:rPr>
                        <a:t>The monotone relationship is measured across a narrow band. Whether it continues to a 70B model is untested.</a:t>
                      </a:r>
                    </a:p>
                  </a:txBody>
                  <a:tcPr anchor="ctr" marL="73152" marR="73152" marT="0" marB="0">
                    <a:solidFill>
                      <a:srgbClr val="FFFFFF"/>
                    </a:solidFill>
                  </a:tcPr>
                </a:tc>
                <a:tc>
                  <a:txBody>
                    <a:bodyPr/>
                    <a:lstStyle/>
                    <a:p>
                      <a:pPr algn="ctr"/>
                      <a:r>
                        <a:rPr sz="1150" b="0">
                          <a:solidFill>
                            <a:srgbClr val="1A2228"/>
                          </a:solidFill>
                          <a:latin typeface="Calibri"/>
                        </a:rPr>
                        <a:t>1 GPU-day</a:t>
                      </a:r>
                    </a:p>
                  </a:txBody>
                  <a:tcPr anchor="ctr" marL="73152" marR="73152" marT="0" marB="0">
                    <a:solidFill>
                      <a:srgbClr val="FFFFFF"/>
                    </a:solidFill>
                  </a:tcPr>
                </a:tc>
              </a:tr>
              <a:tr h="566928">
                <a:tc>
                  <a:txBody>
                    <a:bodyPr/>
                    <a:lstStyle/>
                    <a:p>
                      <a:pPr algn="l"/>
                      <a:r>
                        <a:rPr sz="1150" b="0">
                          <a:solidFill>
                            <a:srgbClr val="1A2228"/>
                          </a:solidFill>
                          <a:latin typeface="Calibri"/>
                        </a:rPr>
                        <a:t>Risk control under gate-induced dependence</a:t>
                      </a:r>
                    </a:p>
                  </a:txBody>
                  <a:tcPr anchor="ctr" marL="73152" marR="73152" marT="0" marB="0">
                    <a:solidFill>
                      <a:srgbClr val="FAFAF8"/>
                    </a:solidFill>
                  </a:tcPr>
                </a:tc>
                <a:tc>
                  <a:txBody>
                    <a:bodyPr/>
                    <a:lstStyle/>
                    <a:p>
                      <a:pPr algn="ctr"/>
                      <a:r>
                        <a:rPr sz="1150" b="0">
                          <a:solidFill>
                            <a:srgbClr val="1A2228"/>
                          </a:solidFill>
                          <a:latin typeface="Calibri"/>
                        </a:rPr>
                        <a:t>The theoretical problem is open. Barber et al. relax exchangeability for EXOGENOUS drift; the violation here is endogenous — the gate's own decisions move the distribution.</a:t>
                      </a:r>
                    </a:p>
                  </a:txBody>
                  <a:tcPr anchor="ctr" marL="73152" marR="73152" marT="0" marB="0">
                    <a:solidFill>
                      <a:srgbClr val="FAFAF8"/>
                    </a:solidFill>
                  </a:tcPr>
                </a:tc>
                <a:tc>
                  <a:txBody>
                    <a:bodyPr/>
                    <a:lstStyle/>
                    <a:p>
                      <a:pPr algn="ctr"/>
                      <a:r>
                        <a:rPr sz="1150" b="0">
                          <a:solidFill>
                            <a:srgbClr val="1A2228"/>
                          </a:solidFill>
                          <a:latin typeface="Calibri"/>
                        </a:rPr>
                        <a:t>open</a:t>
                      </a:r>
                    </a:p>
                  </a:txBody>
                  <a:tcPr anchor="ctr" marL="73152" marR="73152" marT="0" marB="0">
                    <a:solidFill>
                      <a:srgbClr val="FAFA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640080" y="411480"/>
            <a:ext cx="10972800" cy="495807"/>
          </a:xfrm>
          <a:prstGeom prst="rect">
            <a:avLst/>
          </a:prstGeom>
          <a:noFill/>
        </p:spPr>
        <p:txBody>
          <a:bodyPr wrap="square" lIns="0" rIns="0" tIns="0" bIns="0">
            <a:spAutoFit/>
          </a:bodyPr>
          <a:lstStyle/>
          <a:p>
            <a:pPr algn="l">
              <a:spcAft>
                <a:spcPts val="0"/>
              </a:spcAft>
            </a:pPr>
            <a:r>
              <a:rPr sz="3200" b="1" i="0">
                <a:solidFill>
                  <a:srgbClr val="2B3A42"/>
                </a:solidFill>
                <a:latin typeface="Cambria"/>
              </a:rPr>
              <a:t>Final Review checklist — status</a:t>
            </a:r>
          </a:p>
        </p:txBody>
      </p:sp>
      <p:sp>
        <p:nvSpPr>
          <p:cNvPr id="3" name="TextBox 2"/>
          <p:cNvSpPr txBox="1"/>
          <p:nvPr/>
        </p:nvSpPr>
        <p:spPr>
          <a:xfrm>
            <a:off x="640080" y="998728"/>
            <a:ext cx="10972800" cy="502920"/>
          </a:xfrm>
          <a:prstGeom prst="rect">
            <a:avLst/>
          </a:prstGeom>
          <a:noFill/>
        </p:spPr>
        <p:txBody>
          <a:bodyPr wrap="square" lIns="0" rIns="0" tIns="0" bIns="0">
            <a:spAutoFit/>
          </a:bodyPr>
          <a:lstStyle/>
          <a:p>
            <a:pPr algn="l">
              <a:spcAft>
                <a:spcPts val="600"/>
              </a:spcAft>
            </a:pPr>
            <a:r>
              <a:rPr sz="1400" b="0" i="1">
                <a:solidFill>
                  <a:srgbClr val="6E7B82"/>
                </a:solidFill>
                <a:latin typeface="Calibri"/>
              </a:rPr>
              <a:t>Stated plainly, including what is not done</a:t>
            </a:r>
          </a:p>
        </p:txBody>
      </p:sp>
      <p:sp>
        <p:nvSpPr>
          <p:cNvPr id="4" name="TextBox 3"/>
          <p:cNvSpPr txBox="1"/>
          <p:nvPr/>
        </p:nvSpPr>
        <p:spPr>
          <a:xfrm>
            <a:off x="640080" y="1783080"/>
            <a:ext cx="2377440" cy="365760"/>
          </a:xfrm>
          <a:prstGeom prst="rect">
            <a:avLst/>
          </a:prstGeom>
          <a:solidFill>
            <a:srgbClr val="3E6E6C"/>
          </a:solidFill>
          <a:ln>
            <a:noFill/>
          </a:ln>
        </p:spPr>
        <p:txBody>
          <a:bodyPr wrap="square" tIns="0" bIns="0">
            <a:spAutoFit/>
          </a:bodyPr>
          <a:lstStyle/>
          <a:p>
            <a:pPr algn="ctr"/>
            <a:r>
              <a:rPr sz="1200" b="1">
                <a:solidFill>
                  <a:srgbClr val="FFFFFF"/>
                </a:solidFill>
                <a:latin typeface="Calibri"/>
              </a:rPr>
              <a:t>COMPLETE  (10)</a:t>
            </a:r>
          </a:p>
        </p:txBody>
      </p:sp>
      <p:sp>
        <p:nvSpPr>
          <p:cNvPr id="5" name="TextBox 4"/>
          <p:cNvSpPr txBox="1"/>
          <p:nvPr/>
        </p:nvSpPr>
        <p:spPr>
          <a:xfrm>
            <a:off x="640080" y="2286000"/>
            <a:ext cx="6949440" cy="3566160"/>
          </a:xfrm>
          <a:prstGeom prst="rect">
            <a:avLst/>
          </a:prstGeom>
          <a:noFill/>
        </p:spPr>
        <p:txBody>
          <a:bodyPr wrap="square" lIns="0" rIns="0" tIns="0" bIns="0">
            <a:spAutoFit/>
          </a:bodyPr>
          <a:lstStyle/>
          <a:p>
            <a:pPr>
              <a:spcAft>
                <a:spcPts val="700"/>
              </a:spcAft>
            </a:pPr>
            <a:r>
              <a:rPr sz="1250">
                <a:solidFill>
                  <a:srgbClr val="1A2228"/>
                </a:solidFill>
                <a:latin typeface="Calibri"/>
              </a:rPr>
              <a:t>·  Full system implemented and demonstrated end to end</a:t>
            </a:r>
          </a:p>
          <a:p>
            <a:pPr>
              <a:spcAft>
                <a:spcPts val="700"/>
              </a:spcAft>
            </a:pPr>
            <a:r>
              <a:rPr sz="1250">
                <a:solidFill>
                  <a:srgbClr val="1A2228"/>
                </a:solidFill>
                <a:latin typeface="Calibri"/>
              </a:rPr>
              <a:t>·  Final results with statistical rigor — 64 seeds, Wilson intervals, clustered bootstrap</a:t>
            </a:r>
          </a:p>
          <a:p>
            <a:pPr>
              <a:spcAft>
                <a:spcPts val="700"/>
              </a:spcAft>
            </a:pPr>
            <a:r>
              <a:rPr sz="1250">
                <a:solidFill>
                  <a:srgbClr val="1A2228"/>
                </a:solidFill>
                <a:latin typeface="Calibri"/>
              </a:rPr>
              <a:t>·  Comparison tables against multiple baselines — 4 verifier classes, 6 allocation policies, 8 gate conditions</a:t>
            </a:r>
          </a:p>
          <a:p>
            <a:pPr>
              <a:spcAft>
                <a:spcPts val="700"/>
              </a:spcAft>
            </a:pPr>
            <a:r>
              <a:rPr sz="1250">
                <a:solidFill>
                  <a:srgbClr val="1A2228"/>
                </a:solidFill>
                <a:latin typeface="Calibri"/>
              </a:rPr>
              <a:t>·  Ablation studies — FA = 0, oracle score, three probe levers, three equivalence relations</a:t>
            </a:r>
          </a:p>
          <a:p>
            <a:pPr>
              <a:spcAft>
                <a:spcPts val="700"/>
              </a:spcAft>
            </a:pPr>
            <a:r>
              <a:rPr sz="1250">
                <a:solidFill>
                  <a:srgbClr val="1A2228"/>
                </a:solidFill>
                <a:latin typeface="Calibri"/>
              </a:rPr>
              <a:t>·  Limitations honestly discussed</a:t>
            </a:r>
          </a:p>
          <a:p>
            <a:pPr>
              <a:spcAft>
                <a:spcPts val="700"/>
              </a:spcAft>
            </a:pPr>
            <a:r>
              <a:rPr sz="1250">
                <a:solidFill>
                  <a:srgbClr val="1A2228"/>
                </a:solidFill>
                <a:latin typeface="Calibri"/>
              </a:rPr>
              <a:t>·  Contribution restated with magnitudes</a:t>
            </a:r>
          </a:p>
          <a:p>
            <a:pPr>
              <a:spcAft>
                <a:spcPts val="700"/>
              </a:spcAft>
            </a:pPr>
            <a:r>
              <a:rPr sz="1250">
                <a:solidFill>
                  <a:srgbClr val="1A2228"/>
                </a:solidFill>
                <a:latin typeface="Calibri"/>
              </a:rPr>
              <a:t>·  Complete thesis, 10 chapters, institute format</a:t>
            </a:r>
          </a:p>
          <a:p>
            <a:pPr>
              <a:spcAft>
                <a:spcPts val="700"/>
              </a:spcAft>
            </a:pPr>
            <a:r>
              <a:rPr sz="1250">
                <a:solidFill>
                  <a:srgbClr val="1A2228"/>
                </a:solidFill>
                <a:latin typeface="Calibri"/>
              </a:rPr>
              <a:t>·  Code repository documented and reproducible — 360 tests</a:t>
            </a:r>
          </a:p>
          <a:p>
            <a:pPr>
              <a:spcAft>
                <a:spcPts val="700"/>
              </a:spcAft>
            </a:pPr>
            <a:r>
              <a:rPr sz="1250">
                <a:solidFill>
                  <a:srgbClr val="1A2228"/>
                </a:solidFill>
                <a:latin typeface="Calibri"/>
              </a:rPr>
              <a:t>·  Future work identifies genuine next steps</a:t>
            </a:r>
          </a:p>
          <a:p>
            <a:pPr>
              <a:spcAft>
                <a:spcPts val="700"/>
              </a:spcAft>
            </a:pPr>
            <a:r>
              <a:rPr sz="1250">
                <a:solidFill>
                  <a:srgbClr val="1A2228"/>
                </a:solidFill>
                <a:latin typeface="Calibri"/>
              </a:rPr>
              <a:t>·  Viva readiness — every design choice has a recorded reason</a:t>
            </a:r>
          </a:p>
        </p:txBody>
      </p:sp>
      <p:sp>
        <p:nvSpPr>
          <p:cNvPr id="6" name="TextBox 5"/>
          <p:cNvSpPr txBox="1"/>
          <p:nvPr/>
        </p:nvSpPr>
        <p:spPr>
          <a:xfrm>
            <a:off x="7955279" y="1783080"/>
            <a:ext cx="2743200" cy="365760"/>
          </a:xfrm>
          <a:prstGeom prst="rect">
            <a:avLst/>
          </a:prstGeom>
          <a:solidFill>
            <a:srgbClr val="B85042"/>
          </a:solidFill>
          <a:ln>
            <a:noFill/>
          </a:ln>
        </p:spPr>
        <p:txBody>
          <a:bodyPr wrap="square" tIns="0" bIns="0">
            <a:spAutoFit/>
          </a:bodyPr>
          <a:lstStyle/>
          <a:p>
            <a:pPr algn="ctr"/>
            <a:r>
              <a:rPr sz="1200" b="1">
                <a:solidFill>
                  <a:srgbClr val="FFFFFF"/>
                </a:solidFill>
                <a:latin typeface="Calibri"/>
              </a:rPr>
              <a:t>OUTSTANDING  (3)</a:t>
            </a:r>
          </a:p>
        </p:txBody>
      </p:sp>
      <p:sp>
        <p:nvSpPr>
          <p:cNvPr id="7" name="TextBox 6"/>
          <p:cNvSpPr txBox="1"/>
          <p:nvPr/>
        </p:nvSpPr>
        <p:spPr>
          <a:xfrm>
            <a:off x="7955279" y="2286000"/>
            <a:ext cx="3566160" cy="1828800"/>
          </a:xfrm>
          <a:prstGeom prst="rect">
            <a:avLst/>
          </a:prstGeom>
          <a:noFill/>
        </p:spPr>
        <p:txBody>
          <a:bodyPr wrap="square" lIns="0" rIns="0" tIns="0" bIns="0">
            <a:spAutoFit/>
          </a:bodyPr>
          <a:lstStyle/>
          <a:p>
            <a:pPr>
              <a:spcAft>
                <a:spcPts val="900"/>
              </a:spcAft>
            </a:pPr>
            <a:r>
              <a:rPr sz="1250">
                <a:solidFill>
                  <a:srgbClr val="1A2228"/>
                </a:solidFill>
                <a:latin typeface="Calibri"/>
              </a:rPr>
              <a:t>·  Plagiarism report — not yet generated</a:t>
            </a:r>
          </a:p>
          <a:p>
            <a:pPr>
              <a:spcAft>
                <a:spcPts val="900"/>
              </a:spcAft>
            </a:pPr>
            <a:r>
              <a:rPr sz="1250">
                <a:solidFill>
                  <a:srgbClr val="1A2228"/>
                </a:solidFill>
                <a:latin typeface="Calibri"/>
              </a:rPr>
              <a:t>·  Publication status — paper written, not yet submitted</a:t>
            </a:r>
          </a:p>
          <a:p>
            <a:pPr>
              <a:spcAft>
                <a:spcPts val="900"/>
              </a:spcAft>
            </a:pPr>
            <a:r>
              <a:rPr sz="1250">
                <a:solidFill>
                  <a:srgbClr val="1A2228"/>
                </a:solidFill>
                <a:latin typeface="Calibri"/>
              </a:rPr>
              <a:t>·  Panel feedback tracker from Reviews 0–2 — to be compiled</a:t>
            </a:r>
          </a:p>
        </p:txBody>
      </p:sp>
      <p:sp>
        <p:nvSpPr>
          <p:cNvPr id="8" name="TextBox 7"/>
          <p:cNvSpPr txBox="1"/>
          <p:nvPr/>
        </p:nvSpPr>
        <p:spPr>
          <a:xfrm>
            <a:off x="7955279" y="4297680"/>
            <a:ext cx="3566160" cy="1280160"/>
          </a:xfrm>
          <a:prstGeom prst="rect">
            <a:avLst/>
          </a:prstGeom>
          <a:noFill/>
        </p:spPr>
        <p:txBody>
          <a:bodyPr wrap="square" lIns="0" rIns="0" tIns="0" bIns="0">
            <a:spAutoFit/>
          </a:bodyPr>
          <a:lstStyle/>
          <a:p>
            <a:pPr algn="l">
              <a:spcAft>
                <a:spcPts val="600"/>
              </a:spcAft>
            </a:pPr>
            <a:r>
              <a:rPr sz="1250" b="0" i="1">
                <a:solidFill>
                  <a:srgbClr val="6E7B82"/>
                </a:solidFill>
                <a:latin typeface="Calibri"/>
              </a:rPr>
              <a:t>These three are administrative rather than technical, and none blocks the work itself. I would rather name them than have the panel find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B3A42"/>
        </a:solidFill>
        <a:effectLst/>
      </p:bgPr>
    </p:bg>
    <p:spTree>
      <p:nvGrpSpPr>
        <p:cNvPr id="1" name=""/>
        <p:cNvGrpSpPr/>
        <p:nvPr/>
      </p:nvGrpSpPr>
      <p:grpSpPr/>
      <p:sp>
        <p:nvSpPr>
          <p:cNvPr id="2" name="TextBox 1"/>
          <p:cNvSpPr txBox="1"/>
          <p:nvPr/>
        </p:nvSpPr>
        <p:spPr>
          <a:xfrm>
            <a:off x="822960" y="1920240"/>
            <a:ext cx="10515600" cy="731520"/>
          </a:xfrm>
          <a:prstGeom prst="rect">
            <a:avLst/>
          </a:prstGeom>
          <a:noFill/>
        </p:spPr>
        <p:txBody>
          <a:bodyPr wrap="square" lIns="0" rIns="0" tIns="0" bIns="0">
            <a:spAutoFit/>
          </a:bodyPr>
          <a:lstStyle/>
          <a:p>
            <a:pPr algn="l">
              <a:spcAft>
                <a:spcPts val="600"/>
              </a:spcAft>
            </a:pPr>
            <a:r>
              <a:rPr sz="3400" b="1" i="0">
                <a:solidFill>
                  <a:srgbClr val="FFFFFF"/>
                </a:solidFill>
                <a:latin typeface="Cambria"/>
              </a:rPr>
              <a:t>The project is more useful for having failed.</a:t>
            </a:r>
          </a:p>
        </p:txBody>
      </p:sp>
      <p:sp>
        <p:nvSpPr>
          <p:cNvPr id="3" name="TextBox 2"/>
          <p:cNvSpPr txBox="1"/>
          <p:nvPr/>
        </p:nvSpPr>
        <p:spPr>
          <a:xfrm>
            <a:off x="822960" y="2880360"/>
            <a:ext cx="10515600" cy="1005840"/>
          </a:xfrm>
          <a:prstGeom prst="rect">
            <a:avLst/>
          </a:prstGeom>
          <a:noFill/>
        </p:spPr>
        <p:txBody>
          <a:bodyPr wrap="square" lIns="0" rIns="0" tIns="0" bIns="0">
            <a:spAutoFit/>
          </a:bodyPr>
          <a:lstStyle/>
          <a:p>
            <a:pPr algn="l">
              <a:spcAft>
                <a:spcPts val="600"/>
              </a:spcAft>
            </a:pPr>
            <a:r>
              <a:rPr sz="1700" b="0" i="0">
                <a:solidFill>
                  <a:srgbClr val="D4DEE2"/>
                </a:solidFill>
                <a:latin typeface="Calibri"/>
              </a:rPr>
              <a:t>A working gate on GSM8K would have been one more entry in a crowded area. A measurement of WHY the obvious design cannot work — with the failure points separated, attributed and quantified — is a result that transfers.</a:t>
            </a:r>
          </a:p>
        </p:txBody>
      </p:sp>
      <p:sp>
        <p:nvSpPr>
          <p:cNvPr id="4" name="TextBox 3"/>
          <p:cNvSpPr txBox="1"/>
          <p:nvPr/>
        </p:nvSpPr>
        <p:spPr>
          <a:xfrm>
            <a:off x="822960" y="4114800"/>
            <a:ext cx="10515600" cy="1188720"/>
          </a:xfrm>
          <a:prstGeom prst="rect">
            <a:avLst/>
          </a:prstGeom>
          <a:noFill/>
        </p:spPr>
        <p:txBody>
          <a:bodyPr wrap="square" lIns="0" rIns="0" tIns="0" bIns="0">
            <a:spAutoFit/>
          </a:bodyPr>
          <a:lstStyle/>
          <a:p>
            <a:pPr algn="l">
              <a:spcAft>
                <a:spcPts val="600"/>
              </a:spcAft>
            </a:pPr>
            <a:r>
              <a:rPr sz="1500" b="0" i="1">
                <a:solidFill>
                  <a:srgbClr val="C8D2D6"/>
                </a:solidFill>
                <a:latin typeface="Calibri"/>
              </a:rPr>
              <a:t>Selective verification of LLM reasoning is bottlenecked at the SIGNAL and at the BUDGET. The verifier's net-negative result is downstream of the score rather than a third, independent defect, and the calibration cannot certify the quantity of interest while the score does not rank it.</a:t>
            </a:r>
          </a:p>
        </p:txBody>
      </p:sp>
      <p:sp>
        <p:nvSpPr>
          <p:cNvPr id="5" name="TextBox 4"/>
          <p:cNvSpPr txBox="1"/>
          <p:nvPr/>
        </p:nvSpPr>
        <p:spPr>
          <a:xfrm>
            <a:off x="822960" y="5577840"/>
            <a:ext cx="4572000" cy="457200"/>
          </a:xfrm>
          <a:prstGeom prst="rect">
            <a:avLst/>
          </a:prstGeom>
          <a:noFill/>
        </p:spPr>
        <p:txBody>
          <a:bodyPr wrap="square" lIns="0" rIns="0" tIns="0" bIns="0">
            <a:spAutoFit/>
          </a:bodyPr>
          <a:lstStyle/>
          <a:p>
            <a:pPr algn="l">
              <a:spcAft>
                <a:spcPts val="600"/>
              </a:spcAft>
            </a:pPr>
            <a:r>
              <a:rPr sz="2000" b="1" i="0">
                <a:solidFill>
                  <a:srgbClr val="FFFFFF"/>
                </a:solidFill>
                <a:latin typeface="Cambr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